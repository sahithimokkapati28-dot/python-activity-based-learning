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5" r:id="rId8"/>
    <p:sldId id="266" r:id="rId9"/>
    <p:sldId id="268" r:id="rId10"/>
    <p:sldId id="269" r:id="rId11"/>
    <p:sldId id="271" r:id="rId12"/>
    <p:sldId id="272" r:id="rId13"/>
    <p:sldId id="273" r:id="rId14"/>
    <p:sldId id="274" r:id="rId15"/>
    <p:sldId id="275"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3" r:id="rId62"/>
    <p:sldId id="322" r:id="rId63"/>
    <p:sldId id="324" r:id="rId64"/>
    <p:sldId id="325" r:id="rId65"/>
    <p:sldId id="326" r:id="rId66"/>
    <p:sldId id="327" r:id="rId67"/>
    <p:sldId id="328" r:id="rId68"/>
    <p:sldId id="331" r:id="rId69"/>
    <p:sldId id="330" r:id="rId70"/>
    <p:sldId id="329" r:id="rId71"/>
    <p:sldId id="332" r:id="rId72"/>
    <p:sldId id="333" r:id="rId73"/>
    <p:sldId id="334" r:id="rId74"/>
    <p:sldId id="335" r:id="rId75"/>
    <p:sldId id="336" r:id="rId76"/>
    <p:sldId id="337" r:id="rId77"/>
    <p:sldId id="339" r:id="rId78"/>
    <p:sldId id="338"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2" d="100"/>
          <a:sy n="82" d="100"/>
        </p:scale>
        <p:origin x="8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41D3-C164-8069-18C5-F24747E58E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62E6B0-11E5-3E7A-FC51-D3651D9D95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25647A-2727-423F-FB0F-6536BF00B56B}"/>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5" name="Footer Placeholder 4">
            <a:extLst>
              <a:ext uri="{FF2B5EF4-FFF2-40B4-BE49-F238E27FC236}">
                <a16:creationId xmlns:a16="http://schemas.microsoft.com/office/drawing/2014/main" id="{E22614EB-589C-4B6E-8518-FFFEB70CFE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4BD5D6-616C-C69E-8506-AD25EE05E537}"/>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502828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F4B4F-0722-5FB5-CBD2-EC08B4B290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E86E0-DAAE-59E3-CBED-0540A0D30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24197-26B2-4AE1-40A0-197EF26CA2E9}"/>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5" name="Footer Placeholder 4">
            <a:extLst>
              <a:ext uri="{FF2B5EF4-FFF2-40B4-BE49-F238E27FC236}">
                <a16:creationId xmlns:a16="http://schemas.microsoft.com/office/drawing/2014/main" id="{0ABC4445-CF8A-6520-0CCD-0266B3E33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EE3251-0F36-6DD7-CA42-CDEAA3CFA6CC}"/>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2469003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4171-E945-7DEE-7632-6889504B91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215008-E95D-51E4-92CE-435DC7E462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7C005-CA67-B5F2-CB8A-356F262B617E}"/>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5" name="Footer Placeholder 4">
            <a:extLst>
              <a:ext uri="{FF2B5EF4-FFF2-40B4-BE49-F238E27FC236}">
                <a16:creationId xmlns:a16="http://schemas.microsoft.com/office/drawing/2014/main" id="{9B86D106-BBE6-6296-3A28-0546EEBF60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6D5735-F19E-D048-C6AB-86105A211C37}"/>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388466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DBD83-2867-55D2-A953-80FD882C4C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3D53C1-DFE7-E859-862D-238D2F078B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4A78A6-3DA2-0176-9DBF-601961205A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FAF6FF-75BC-1E15-8AE4-2B0BAE3A6E3E}"/>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6" name="Footer Placeholder 5">
            <a:extLst>
              <a:ext uri="{FF2B5EF4-FFF2-40B4-BE49-F238E27FC236}">
                <a16:creationId xmlns:a16="http://schemas.microsoft.com/office/drawing/2014/main" id="{B9F170E5-7876-9BEE-8155-8F0CE06A88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4BB15A-0317-55F1-B31C-DC213CA4734E}"/>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1036405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6161-F2B6-4321-6AF7-AF2EF45C95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151B82-0A39-65BC-B911-2DB4E90598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B2B8EA-EF53-937F-8FC3-D84A358F9D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0B04FC-2F28-6E75-FA9F-EF369A6734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28B1A1-09C2-047F-1D42-58D50B831B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A8CEAC-BDEC-F158-BB42-844950EAE6DA}"/>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8" name="Footer Placeholder 7">
            <a:extLst>
              <a:ext uri="{FF2B5EF4-FFF2-40B4-BE49-F238E27FC236}">
                <a16:creationId xmlns:a16="http://schemas.microsoft.com/office/drawing/2014/main" id="{2924E3D2-29DD-39C5-7C9F-8874F7E0E0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629CAD-2025-0482-9A63-87BF5F2265A9}"/>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2144895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246B-A8DF-17A5-A83D-87B5562F24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DF7B24C-F18B-FFE4-F4CE-3105F9F21AC1}"/>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4" name="Footer Placeholder 3">
            <a:extLst>
              <a:ext uri="{FF2B5EF4-FFF2-40B4-BE49-F238E27FC236}">
                <a16:creationId xmlns:a16="http://schemas.microsoft.com/office/drawing/2014/main" id="{A2EDC545-58AD-8D54-52E8-36AB5E252E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8EEAED-316D-570C-47BC-942BB59004A1}"/>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3321486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E1782-17DB-92C9-957D-F8D2394E0B22}"/>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3" name="Footer Placeholder 2">
            <a:extLst>
              <a:ext uri="{FF2B5EF4-FFF2-40B4-BE49-F238E27FC236}">
                <a16:creationId xmlns:a16="http://schemas.microsoft.com/office/drawing/2014/main" id="{06FC0282-ED35-0CED-A7FC-344A4F376C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4CAF90-387E-FED7-301F-DCFBF623F4FF}"/>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3025777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E44E-E79A-1CC6-05EF-ABA0A10E8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D5526B-BD7B-FD7F-7FD5-4685FECB61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28005D-59C9-FA84-9191-911BF8B19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4C9177-1ADD-B75C-40D6-27798A4B05D7}"/>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6" name="Footer Placeholder 5">
            <a:extLst>
              <a:ext uri="{FF2B5EF4-FFF2-40B4-BE49-F238E27FC236}">
                <a16:creationId xmlns:a16="http://schemas.microsoft.com/office/drawing/2014/main" id="{72B8C83C-15D4-D809-1F8C-8C1D8EB4FB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7881C0-6E98-AC4A-6C16-BDCC564DAA53}"/>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296884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11AC-A783-7382-6651-8FE33A9F1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4883CC-5CC5-9DD3-479B-1AD3748A7F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DD3E15-1B55-6A16-00A7-74412F8FA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4E0FA7-C462-8ACD-63B4-2FFD088E8530}"/>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6" name="Footer Placeholder 5">
            <a:extLst>
              <a:ext uri="{FF2B5EF4-FFF2-40B4-BE49-F238E27FC236}">
                <a16:creationId xmlns:a16="http://schemas.microsoft.com/office/drawing/2014/main" id="{9B478E79-9C77-7733-851E-BDB6146F6E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F23CC8-8FB2-BBDB-39A1-041CEA987FA8}"/>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789382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F73E0-3458-8573-54FB-2A1270220C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CD0C24-6B03-D299-E1FE-165EF3C25D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7456F4-3164-058D-D443-2827A6F02516}"/>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5" name="Footer Placeholder 4">
            <a:extLst>
              <a:ext uri="{FF2B5EF4-FFF2-40B4-BE49-F238E27FC236}">
                <a16:creationId xmlns:a16="http://schemas.microsoft.com/office/drawing/2014/main" id="{C99FA7EC-0661-DBB5-80E5-802E37FC05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9AC5B4-3C45-1728-13F2-B87C7D9B9677}"/>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1814525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AD2D14-B906-E43E-74E7-E0DD0E838A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C9DEC8-71B1-2487-1889-8FB195635A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42270-14BE-4793-1A72-AA3EA29BAF9F}"/>
              </a:ext>
            </a:extLst>
          </p:cNvPr>
          <p:cNvSpPr>
            <a:spLocks noGrp="1"/>
          </p:cNvSpPr>
          <p:nvPr>
            <p:ph type="dt" sz="half" idx="10"/>
          </p:nvPr>
        </p:nvSpPr>
        <p:spPr/>
        <p:txBody>
          <a:bodyPr/>
          <a:lstStyle/>
          <a:p>
            <a:fld id="{F30F0308-0382-4D54-9B97-1909D835A8E1}" type="datetimeFigureOut">
              <a:rPr lang="en-IN" smtClean="0"/>
              <a:t>25-10-2026</a:t>
            </a:fld>
            <a:endParaRPr lang="en-IN"/>
          </a:p>
        </p:txBody>
      </p:sp>
      <p:sp>
        <p:nvSpPr>
          <p:cNvPr id="5" name="Footer Placeholder 4">
            <a:extLst>
              <a:ext uri="{FF2B5EF4-FFF2-40B4-BE49-F238E27FC236}">
                <a16:creationId xmlns:a16="http://schemas.microsoft.com/office/drawing/2014/main" id="{E614084F-A0A9-75FE-A84A-04E7FF52CF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2ACAFE-7BFA-276B-8B13-D99681768370}"/>
              </a:ext>
            </a:extLst>
          </p:cNvPr>
          <p:cNvSpPr>
            <a:spLocks noGrp="1"/>
          </p:cNvSpPr>
          <p:nvPr>
            <p:ph type="sldNum" sz="quarter" idx="12"/>
          </p:nvPr>
        </p:nvSpPr>
        <p:spPr/>
        <p:txBody>
          <a:bodyPr/>
          <a:lstStyle/>
          <a:p>
            <a:fld id="{5E60ED2B-7F1F-4615-AC49-06089B29D227}" type="slidenum">
              <a:rPr lang="en-IN" smtClean="0"/>
              <a:t>‹#›</a:t>
            </a:fld>
            <a:endParaRPr lang="en-IN"/>
          </a:p>
        </p:txBody>
      </p:sp>
    </p:spTree>
    <p:extLst>
      <p:ext uri="{BB962C8B-B14F-4D97-AF65-F5344CB8AC3E}">
        <p14:creationId xmlns:p14="http://schemas.microsoft.com/office/powerpoint/2010/main" val="46181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448555-3BC5-D51D-2ACB-4FC544BEB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EBB1B0-E0EA-9002-8BEF-97FF32056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D7C0A3-67BA-9FDD-D83B-986AAB708D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0F0308-0382-4D54-9B97-1909D835A8E1}" type="datetimeFigureOut">
              <a:rPr lang="en-IN" smtClean="0"/>
              <a:t>25-10-2026</a:t>
            </a:fld>
            <a:endParaRPr lang="en-IN"/>
          </a:p>
        </p:txBody>
      </p:sp>
      <p:sp>
        <p:nvSpPr>
          <p:cNvPr id="5" name="Footer Placeholder 4">
            <a:extLst>
              <a:ext uri="{FF2B5EF4-FFF2-40B4-BE49-F238E27FC236}">
                <a16:creationId xmlns:a16="http://schemas.microsoft.com/office/drawing/2014/main" id="{3099E009-1100-C2BA-8630-2099F9C73B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CEE97F-D793-2F49-40EA-178FB196C7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60ED2B-7F1F-4615-AC49-06089B29D227}" type="slidenum">
              <a:rPr lang="en-IN" smtClean="0"/>
              <a:t>‹#›</a:t>
            </a:fld>
            <a:endParaRPr lang="en-IN"/>
          </a:p>
        </p:txBody>
      </p:sp>
    </p:spTree>
    <p:extLst>
      <p:ext uri="{BB962C8B-B14F-4D97-AF65-F5344CB8AC3E}">
        <p14:creationId xmlns:p14="http://schemas.microsoft.com/office/powerpoint/2010/main" val="3601689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B30D4-62DA-8340-D609-72549F4C1B35}"/>
              </a:ext>
            </a:extLst>
          </p:cNvPr>
          <p:cNvSpPr>
            <a:spLocks noGrp="1"/>
          </p:cNvSpPr>
          <p:nvPr>
            <p:ph type="ctrTitle"/>
          </p:nvPr>
        </p:nvSpPr>
        <p:spPr/>
        <p:txBody>
          <a:bodyPr/>
          <a:lstStyle/>
          <a:p>
            <a:r>
              <a:rPr lang="en-US" dirty="0"/>
              <a:t>PYTHON ACTIVITY 1</a:t>
            </a:r>
            <a:br>
              <a:rPr lang="en-US" dirty="0"/>
            </a:br>
            <a:r>
              <a:rPr lang="en-US" dirty="0"/>
              <a:t>CASE STUDIES 81-90</a:t>
            </a:r>
            <a:endParaRPr lang="en-IN" dirty="0"/>
          </a:p>
        </p:txBody>
      </p:sp>
      <p:sp>
        <p:nvSpPr>
          <p:cNvPr id="3" name="Subtitle 2">
            <a:extLst>
              <a:ext uri="{FF2B5EF4-FFF2-40B4-BE49-F238E27FC236}">
                <a16:creationId xmlns:a16="http://schemas.microsoft.com/office/drawing/2014/main" id="{52B4C986-BEC4-AD28-805B-71C4E3B6149F}"/>
              </a:ext>
            </a:extLst>
          </p:cNvPr>
          <p:cNvSpPr>
            <a:spLocks noGrp="1"/>
          </p:cNvSpPr>
          <p:nvPr>
            <p:ph type="subTitle" idx="1"/>
          </p:nvPr>
        </p:nvSpPr>
        <p:spPr/>
        <p:txBody>
          <a:bodyPr>
            <a:normAutofit fontScale="25000" lnSpcReduction="20000"/>
          </a:bodyPr>
          <a:lstStyle/>
          <a:p>
            <a:r>
              <a:rPr lang="en-US" dirty="0"/>
              <a:t>81.Campus Event Selecting and Entry Validation</a:t>
            </a:r>
          </a:p>
          <a:p>
            <a:r>
              <a:rPr lang="en-US" dirty="0"/>
              <a:t>82.Multi-Criteria Internship Candidate Ranking</a:t>
            </a:r>
          </a:p>
          <a:p>
            <a:r>
              <a:rPr lang="en-US" dirty="0"/>
              <a:t>83.Food Supply Chain Stock Reconciliation</a:t>
            </a:r>
          </a:p>
          <a:p>
            <a:r>
              <a:rPr lang="en-US" dirty="0"/>
              <a:t>84.Environmental Monitoring Data Analyzer</a:t>
            </a:r>
          </a:p>
          <a:p>
            <a:r>
              <a:rPr lang="en-US" dirty="0"/>
              <a:t>85.Smart Classroom Timetable Allocation</a:t>
            </a:r>
          </a:p>
          <a:p>
            <a:r>
              <a:rPr lang="en-US" dirty="0"/>
              <a:t>86. Multi-Stage ATM Transaction Audit</a:t>
            </a:r>
          </a:p>
          <a:p>
            <a:r>
              <a:rPr lang="en-US" dirty="0"/>
              <a:t>87.Examination Question Difficulty and Performance analysis</a:t>
            </a:r>
          </a:p>
          <a:p>
            <a:r>
              <a:rPr lang="en-US" dirty="0"/>
              <a:t>88.multi-Branch Retail Inventory Transfer</a:t>
            </a:r>
          </a:p>
          <a:p>
            <a:r>
              <a:rPr lang="en-US" dirty="0"/>
              <a:t>89.University  Hostel Room Allocation</a:t>
            </a:r>
          </a:p>
          <a:p>
            <a:r>
              <a:rPr lang="en-US" dirty="0"/>
              <a:t>90.Integrated Campus Energy and Water Audit</a:t>
            </a:r>
          </a:p>
          <a:p>
            <a:endParaRPr lang="en-IN" dirty="0"/>
          </a:p>
        </p:txBody>
      </p:sp>
    </p:spTree>
    <p:extLst>
      <p:ext uri="{BB962C8B-B14F-4D97-AF65-F5344CB8AC3E}">
        <p14:creationId xmlns:p14="http://schemas.microsoft.com/office/powerpoint/2010/main" val="25917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D49F9-489D-0C53-C448-24514E69A345}"/>
              </a:ext>
            </a:extLst>
          </p:cNvPr>
          <p:cNvSpPr>
            <a:spLocks noGrp="1"/>
          </p:cNvSpPr>
          <p:nvPr>
            <p:ph type="title"/>
          </p:nvPr>
        </p:nvSpPr>
        <p:spPr/>
        <p:txBody>
          <a:bodyPr/>
          <a:lstStyle/>
          <a:p>
            <a:r>
              <a:rPr lang="en-US" dirty="0"/>
              <a:t>Caes-81:Campus Event Seating and Entry Validation</a:t>
            </a:r>
            <a:endParaRPr lang="en-IN" dirty="0"/>
          </a:p>
        </p:txBody>
      </p:sp>
      <p:sp>
        <p:nvSpPr>
          <p:cNvPr id="3" name="Content Placeholder 2">
            <a:extLst>
              <a:ext uri="{FF2B5EF4-FFF2-40B4-BE49-F238E27FC236}">
                <a16:creationId xmlns:a16="http://schemas.microsoft.com/office/drawing/2014/main" id="{00DD0CBD-603B-BEE2-0924-4E5419FC4169}"/>
              </a:ext>
            </a:extLst>
          </p:cNvPr>
          <p:cNvSpPr>
            <a:spLocks noGrp="1"/>
          </p:cNvSpPr>
          <p:nvPr>
            <p:ph idx="1"/>
          </p:nvPr>
        </p:nvSpPr>
        <p:spPr/>
        <p:txBody>
          <a:bodyPr/>
          <a:lstStyle/>
          <a:p>
            <a:r>
              <a:rPr lang="en-US" dirty="0"/>
              <a:t>* Problem Statement</a:t>
            </a:r>
          </a:p>
          <a:p>
            <a:r>
              <a:rPr lang="en-US" dirty="0"/>
              <a:t>    Campus events require an efficient system to assign seats, validate tickets, detect duplicate entries, and calculate available seating capacity.</a:t>
            </a:r>
          </a:p>
          <a:p>
            <a:r>
              <a:rPr lang="en-US" dirty="0"/>
              <a:t>The objective of this case study is to develop a Python program that uses nested lists to generate seating assignments, validates ticket IDs against registered IDs, identifies invalid and duplicate entries, and displays the remaining seating capacity.</a:t>
            </a:r>
          </a:p>
          <a:p>
            <a:endParaRPr lang="en-IN" dirty="0"/>
          </a:p>
        </p:txBody>
      </p:sp>
    </p:spTree>
    <p:extLst>
      <p:ext uri="{BB962C8B-B14F-4D97-AF65-F5344CB8AC3E}">
        <p14:creationId xmlns:p14="http://schemas.microsoft.com/office/powerpoint/2010/main" val="1488688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61B3A-9A5A-DD5E-5F84-49D41FFFB0DA}"/>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6CAB7873-A39C-7171-D07C-58D54AA5148D}"/>
              </a:ext>
            </a:extLst>
          </p:cNvPr>
          <p:cNvSpPr>
            <a:spLocks noGrp="1"/>
          </p:cNvSpPr>
          <p:nvPr>
            <p:ph idx="1"/>
          </p:nvPr>
        </p:nvSpPr>
        <p:spPr/>
        <p:txBody>
          <a:bodyPr/>
          <a:lstStyle/>
          <a:p>
            <a:endParaRPr lang="en-US" dirty="0"/>
          </a:p>
          <a:p>
            <a:r>
              <a:rPr lang="en-US" dirty="0"/>
              <a:t>   Generate seating assignments using nested lists.</a:t>
            </a:r>
          </a:p>
          <a:p>
            <a:r>
              <a:rPr lang="en-US" dirty="0"/>
              <a:t>   Validate ticket IDs against registration identifiers.</a:t>
            </a:r>
          </a:p>
          <a:p>
            <a:r>
              <a:rPr lang="en-US" dirty="0"/>
              <a:t>   Detect duplicate ticket entries.</a:t>
            </a:r>
          </a:p>
          <a:p>
            <a:r>
              <a:rPr lang="en-US" dirty="0"/>
              <a:t>   Identify invalid or unregistered tickets.</a:t>
            </a:r>
          </a:p>
          <a:p>
            <a:r>
              <a:rPr lang="en-US" dirty="0"/>
              <a:t>   Calculate total seating capacity.</a:t>
            </a:r>
          </a:p>
          <a:p>
            <a:r>
              <a:rPr lang="en-US" dirty="0"/>
              <a:t>   Display assigned seats and available seats.</a:t>
            </a:r>
          </a:p>
          <a:p>
            <a:r>
              <a:rPr lang="en-US" dirty="0"/>
              <a:t>   Apply Python concepts to solve a real-world problem</a:t>
            </a:r>
          </a:p>
          <a:p>
            <a:endParaRPr lang="en-IN" dirty="0"/>
          </a:p>
        </p:txBody>
      </p:sp>
    </p:spTree>
    <p:extLst>
      <p:ext uri="{BB962C8B-B14F-4D97-AF65-F5344CB8AC3E}">
        <p14:creationId xmlns:p14="http://schemas.microsoft.com/office/powerpoint/2010/main" val="738976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416D-7098-6FD1-78BE-7F59C47BBD24}"/>
              </a:ext>
            </a:extLst>
          </p:cNvPr>
          <p:cNvSpPr>
            <a:spLocks noGrp="1"/>
          </p:cNvSpPr>
          <p:nvPr>
            <p:ph type="title"/>
          </p:nvPr>
        </p:nvSpPr>
        <p:spPr/>
        <p:txBody>
          <a:bodyPr/>
          <a:lstStyle/>
          <a:p>
            <a:r>
              <a:rPr lang="en-US" dirty="0"/>
              <a:t>Assumptions</a:t>
            </a:r>
            <a:endParaRPr lang="en-IN" dirty="0"/>
          </a:p>
        </p:txBody>
      </p:sp>
      <p:sp>
        <p:nvSpPr>
          <p:cNvPr id="3" name="Content Placeholder 2">
            <a:extLst>
              <a:ext uri="{FF2B5EF4-FFF2-40B4-BE49-F238E27FC236}">
                <a16:creationId xmlns:a16="http://schemas.microsoft.com/office/drawing/2014/main" id="{EFEFC746-E32D-29E4-B19C-481A42840AE7}"/>
              </a:ext>
            </a:extLst>
          </p:cNvPr>
          <p:cNvSpPr>
            <a:spLocks noGrp="1"/>
          </p:cNvSpPr>
          <p:nvPr>
            <p:ph idx="1"/>
          </p:nvPr>
        </p:nvSpPr>
        <p:spPr/>
        <p:txBody>
          <a:bodyPr>
            <a:normAutofit/>
          </a:bodyPr>
          <a:lstStyle/>
          <a:p>
            <a:r>
              <a:rPr lang="en-US" dirty="0"/>
              <a:t>Each inner list represents a row of seats.</a:t>
            </a:r>
          </a:p>
          <a:p>
            <a:r>
              <a:rPr lang="en-US" dirty="0"/>
              <a:t>  Each seat has a unique seat label.</a:t>
            </a:r>
          </a:p>
          <a:p>
            <a:r>
              <a:rPr lang="en-US" dirty="0"/>
              <a:t>  Each registered attendee has a unique registration ID.</a:t>
            </a:r>
          </a:p>
          <a:p>
            <a:r>
              <a:rPr lang="en-US" dirty="0"/>
              <a:t>  A ticket is valid if its ID exists in the registered-ID list.</a:t>
            </a:r>
          </a:p>
          <a:p>
            <a:r>
              <a:rPr lang="en-US" dirty="0"/>
              <a:t>  Repeated scans of a valid ticket are treated as duplicate entries.</a:t>
            </a:r>
          </a:p>
          <a:p>
            <a:r>
              <a:rPr lang="en-US" dirty="0"/>
              <a:t>  Attendees are assigned seats in the order of the registration list.</a:t>
            </a:r>
          </a:p>
          <a:p>
            <a:r>
              <a:rPr lang="en-US" dirty="0"/>
              <a:t> Available seats are calculated by subtracting assigned seats from total seating capacity.</a:t>
            </a:r>
          </a:p>
          <a:p>
            <a:endParaRPr lang="en-IN" dirty="0"/>
          </a:p>
        </p:txBody>
      </p:sp>
    </p:spTree>
    <p:extLst>
      <p:ext uri="{BB962C8B-B14F-4D97-AF65-F5344CB8AC3E}">
        <p14:creationId xmlns:p14="http://schemas.microsoft.com/office/powerpoint/2010/main" val="4063767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5D5E-6BFF-890C-E6FE-DB76C564A485}"/>
              </a:ext>
            </a:extLst>
          </p:cNvPr>
          <p:cNvSpPr>
            <a:spLocks noGrp="1"/>
          </p:cNvSpPr>
          <p:nvPr>
            <p:ph type="title"/>
          </p:nvPr>
        </p:nvSpPr>
        <p:spPr/>
        <p:txBody>
          <a:bodyPr/>
          <a:lstStyle/>
          <a:p>
            <a:r>
              <a:rPr lang="en-US" dirty="0"/>
              <a:t>Algorithms</a:t>
            </a:r>
            <a:endParaRPr lang="en-IN" dirty="0"/>
          </a:p>
        </p:txBody>
      </p:sp>
      <p:sp>
        <p:nvSpPr>
          <p:cNvPr id="3" name="Content Placeholder 2">
            <a:extLst>
              <a:ext uri="{FF2B5EF4-FFF2-40B4-BE49-F238E27FC236}">
                <a16:creationId xmlns:a16="http://schemas.microsoft.com/office/drawing/2014/main" id="{AAEEAC5B-76ED-8FAD-5F5E-CF7423C67CFC}"/>
              </a:ext>
            </a:extLst>
          </p:cNvPr>
          <p:cNvSpPr>
            <a:spLocks noGrp="1"/>
          </p:cNvSpPr>
          <p:nvPr>
            <p:ph idx="1"/>
          </p:nvPr>
        </p:nvSpPr>
        <p:spPr/>
        <p:txBody>
          <a:bodyPr>
            <a:normAutofit fontScale="70000" lnSpcReduction="20000"/>
          </a:bodyPr>
          <a:lstStyle/>
          <a:p>
            <a:r>
              <a:rPr lang="en-US" dirty="0"/>
              <a:t>Start the program.</a:t>
            </a:r>
          </a:p>
          <a:p>
            <a:r>
              <a:rPr lang="en-US" dirty="0"/>
              <a:t> Create nested seating lists, registered IDs, and ticket IDs.</a:t>
            </a:r>
          </a:p>
          <a:p>
            <a:r>
              <a:rPr lang="en-US" dirty="0"/>
              <a:t> Calculate the total number of seats.</a:t>
            </a:r>
          </a:p>
          <a:p>
            <a:r>
              <a:rPr lang="en-US" dirty="0"/>
              <a:t> Traverse the nested seating lists and assign seats to attendees.</a:t>
            </a:r>
          </a:p>
          <a:p>
            <a:r>
              <a:rPr lang="en-US" dirty="0"/>
              <a:t> Read each ticket ID.</a:t>
            </a:r>
          </a:p>
          <a:p>
            <a:r>
              <a:rPr lang="en-US" dirty="0"/>
              <a:t> Check whether the ticket ID exists in the registered-ID list.</a:t>
            </a:r>
          </a:p>
          <a:p>
            <a:r>
              <a:rPr lang="en-US" dirty="0"/>
              <a:t> If the ID is not registered, mark the ticket as invalid.</a:t>
            </a:r>
          </a:p>
          <a:p>
            <a:r>
              <a:rPr lang="en-US" dirty="0"/>
              <a:t> If the ticket has already been scanned, report a duplicate entry.</a:t>
            </a:r>
          </a:p>
          <a:p>
            <a:r>
              <a:rPr lang="en-US" dirty="0"/>
              <a:t> Otherwise, record the entry as valid.</a:t>
            </a:r>
          </a:p>
          <a:p>
            <a:r>
              <a:rPr lang="en-US" dirty="0"/>
              <a:t> Calculate the available seating capacity.</a:t>
            </a:r>
          </a:p>
          <a:p>
            <a:r>
              <a:rPr lang="en-US" dirty="0"/>
              <a:t> Display seating assignments, valid entries, invalid tickets, duplicate entries, and available seats.</a:t>
            </a:r>
          </a:p>
          <a:p>
            <a:r>
              <a:rPr lang="en-US" dirty="0"/>
              <a:t> Stop the program.</a:t>
            </a:r>
          </a:p>
          <a:p>
            <a:endParaRPr lang="en-IN" dirty="0"/>
          </a:p>
        </p:txBody>
      </p:sp>
    </p:spTree>
    <p:extLst>
      <p:ext uri="{BB962C8B-B14F-4D97-AF65-F5344CB8AC3E}">
        <p14:creationId xmlns:p14="http://schemas.microsoft.com/office/powerpoint/2010/main" val="4095577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23B99-70EB-78F8-97F6-4B4A8FEA1EE7}"/>
              </a:ext>
            </a:extLst>
          </p:cNvPr>
          <p:cNvSpPr>
            <a:spLocks noGrp="1"/>
          </p:cNvSpPr>
          <p:nvPr>
            <p:ph type="title"/>
          </p:nvPr>
        </p:nvSpPr>
        <p:spPr/>
        <p:txBody>
          <a:bodyPr/>
          <a:lstStyle/>
          <a:p>
            <a:r>
              <a:rPr lang="en-US" dirty="0"/>
              <a:t>Flow Chart</a:t>
            </a:r>
            <a:endParaRPr lang="en-IN" dirty="0"/>
          </a:p>
        </p:txBody>
      </p:sp>
      <p:sp>
        <p:nvSpPr>
          <p:cNvPr id="3" name="Content Placeholder 2">
            <a:extLst>
              <a:ext uri="{FF2B5EF4-FFF2-40B4-BE49-F238E27FC236}">
                <a16:creationId xmlns:a16="http://schemas.microsoft.com/office/drawing/2014/main" id="{807F7A5B-4B5B-495C-C865-85EBE661CE4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85E2A2B1-9687-2118-9573-7D66BA77C0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3077" y="1819213"/>
            <a:ext cx="3341077" cy="5011616"/>
          </a:xfrm>
          <a:prstGeom prst="rect">
            <a:avLst/>
          </a:prstGeom>
        </p:spPr>
      </p:pic>
    </p:spTree>
    <p:extLst>
      <p:ext uri="{BB962C8B-B14F-4D97-AF65-F5344CB8AC3E}">
        <p14:creationId xmlns:p14="http://schemas.microsoft.com/office/powerpoint/2010/main" val="1008941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112FA-FE13-C62B-BEEB-472123CE64E3}"/>
              </a:ext>
            </a:extLst>
          </p:cNvPr>
          <p:cNvSpPr>
            <a:spLocks noGrp="1"/>
          </p:cNvSpPr>
          <p:nvPr>
            <p:ph type="title"/>
          </p:nvPr>
        </p:nvSpPr>
        <p:spPr/>
        <p:txBody>
          <a:bodyPr/>
          <a:lstStyle/>
          <a:p>
            <a:r>
              <a:rPr lang="en-US" dirty="0"/>
              <a:t>Python Source Code</a:t>
            </a:r>
            <a:endParaRPr lang="en-IN" dirty="0"/>
          </a:p>
        </p:txBody>
      </p:sp>
      <p:sp>
        <p:nvSpPr>
          <p:cNvPr id="3" name="Content Placeholder 2">
            <a:extLst>
              <a:ext uri="{FF2B5EF4-FFF2-40B4-BE49-F238E27FC236}">
                <a16:creationId xmlns:a16="http://schemas.microsoft.com/office/drawing/2014/main" id="{46410935-425C-5CBA-31D9-970BC4FCF6B3}"/>
              </a:ext>
            </a:extLst>
          </p:cNvPr>
          <p:cNvSpPr>
            <a:spLocks noGrp="1"/>
          </p:cNvSpPr>
          <p:nvPr>
            <p:ph idx="1"/>
          </p:nvPr>
        </p:nvSpPr>
        <p:spPr/>
        <p:txBody>
          <a:bodyPr>
            <a:normAutofit fontScale="25000" lnSpcReduction="20000"/>
          </a:bodyPr>
          <a:lstStyle/>
          <a:p>
            <a:r>
              <a:rPr lang="en-IN" dirty="0"/>
              <a:t>def </a:t>
            </a:r>
            <a:r>
              <a:rPr lang="en-IN" dirty="0" err="1"/>
              <a:t>assign_seats</a:t>
            </a:r>
            <a:r>
              <a:rPr lang="en-IN" dirty="0"/>
              <a:t>(</a:t>
            </a:r>
            <a:r>
              <a:rPr lang="en-IN" dirty="0" err="1"/>
              <a:t>seating_rows</a:t>
            </a:r>
            <a:r>
              <a:rPr lang="en-IN" dirty="0"/>
              <a:t>, attendees):</a:t>
            </a:r>
          </a:p>
          <a:p>
            <a:r>
              <a:rPr lang="en-IN" dirty="0"/>
              <a:t>    assignments = {}</a:t>
            </a:r>
          </a:p>
          <a:p>
            <a:r>
              <a:rPr lang="en-IN" dirty="0"/>
              <a:t>    index = 0</a:t>
            </a:r>
          </a:p>
          <a:p>
            <a:endParaRPr lang="en-IN" dirty="0"/>
          </a:p>
          <a:p>
            <a:r>
              <a:rPr lang="en-IN" dirty="0"/>
              <a:t>    for </a:t>
            </a:r>
            <a:r>
              <a:rPr lang="en-IN" dirty="0" err="1"/>
              <a:t>row_number</a:t>
            </a:r>
            <a:r>
              <a:rPr lang="en-IN" dirty="0"/>
              <a:t>, row in enumerate(</a:t>
            </a:r>
          </a:p>
          <a:p>
            <a:r>
              <a:rPr lang="en-IN" dirty="0"/>
              <a:t>        </a:t>
            </a:r>
            <a:r>
              <a:rPr lang="en-IN" dirty="0" err="1"/>
              <a:t>seating_rows</a:t>
            </a:r>
            <a:r>
              <a:rPr lang="en-IN" dirty="0"/>
              <a:t>, start=1</a:t>
            </a:r>
          </a:p>
          <a:p>
            <a:r>
              <a:rPr lang="en-IN" dirty="0"/>
              <a:t>    ):</a:t>
            </a:r>
          </a:p>
          <a:p>
            <a:r>
              <a:rPr lang="en-IN" dirty="0"/>
              <a:t>        for seat in row:</a:t>
            </a:r>
          </a:p>
          <a:p>
            <a:r>
              <a:rPr lang="en-IN" dirty="0"/>
              <a:t>            if index &lt; </a:t>
            </a:r>
            <a:r>
              <a:rPr lang="en-IN" dirty="0" err="1"/>
              <a:t>len</a:t>
            </a:r>
            <a:r>
              <a:rPr lang="en-IN" dirty="0"/>
              <a:t>(attendees):</a:t>
            </a:r>
          </a:p>
          <a:p>
            <a:r>
              <a:rPr lang="en-IN" dirty="0"/>
              <a:t>                assignments[attendees[index]] = (</a:t>
            </a:r>
          </a:p>
          <a:p>
            <a:r>
              <a:rPr lang="en-IN" dirty="0"/>
              <a:t>                    </a:t>
            </a:r>
            <a:r>
              <a:rPr lang="en-IN" dirty="0" err="1"/>
              <a:t>f"Row</a:t>
            </a:r>
            <a:r>
              <a:rPr lang="en-IN" dirty="0"/>
              <a:t> {</a:t>
            </a:r>
            <a:r>
              <a:rPr lang="en-IN" dirty="0" err="1"/>
              <a:t>row_number</a:t>
            </a:r>
            <a:r>
              <a:rPr lang="en-IN" dirty="0"/>
              <a:t>}, Seat {seat}"</a:t>
            </a:r>
          </a:p>
          <a:p>
            <a:r>
              <a:rPr lang="en-IN" dirty="0"/>
              <a:t>                )</a:t>
            </a:r>
          </a:p>
          <a:p>
            <a:r>
              <a:rPr lang="en-IN" dirty="0"/>
              <a:t>                index += 1</a:t>
            </a:r>
          </a:p>
          <a:p>
            <a:endParaRPr lang="en-IN" dirty="0"/>
          </a:p>
          <a:p>
            <a:r>
              <a:rPr lang="en-IN" dirty="0"/>
              <a:t>    return assignments</a:t>
            </a:r>
          </a:p>
          <a:p>
            <a:endParaRPr lang="en-IN" dirty="0"/>
          </a:p>
          <a:p>
            <a:endParaRPr lang="en-IN" dirty="0"/>
          </a:p>
          <a:p>
            <a:r>
              <a:rPr lang="en-IN" dirty="0"/>
              <a:t>def </a:t>
            </a:r>
            <a:r>
              <a:rPr lang="en-IN" dirty="0" err="1"/>
              <a:t>validate_entries</a:t>
            </a:r>
            <a:r>
              <a:rPr lang="en-IN" dirty="0"/>
              <a:t>(</a:t>
            </a:r>
            <a:r>
              <a:rPr lang="en-IN" dirty="0" err="1"/>
              <a:t>registered_ids</a:t>
            </a:r>
            <a:r>
              <a:rPr lang="en-IN" dirty="0"/>
              <a:t>, </a:t>
            </a:r>
            <a:r>
              <a:rPr lang="en-IN" dirty="0" err="1"/>
              <a:t>ticket_ids</a:t>
            </a:r>
            <a:r>
              <a:rPr lang="en-IN" dirty="0"/>
              <a:t>):</a:t>
            </a:r>
          </a:p>
          <a:p>
            <a:r>
              <a:rPr lang="en-IN" dirty="0"/>
              <a:t>    registered = set(</a:t>
            </a:r>
            <a:r>
              <a:rPr lang="en-IN" dirty="0" err="1"/>
              <a:t>registered_ids</a:t>
            </a:r>
            <a:r>
              <a:rPr lang="en-IN" dirty="0"/>
              <a:t>)</a:t>
            </a:r>
          </a:p>
          <a:p>
            <a:r>
              <a:rPr lang="en-IN" dirty="0"/>
              <a:t>    seen = set()</a:t>
            </a:r>
          </a:p>
          <a:p>
            <a:r>
              <a:rPr lang="en-IN" dirty="0"/>
              <a:t>    valid = []</a:t>
            </a:r>
          </a:p>
          <a:p>
            <a:r>
              <a:rPr lang="en-IN" dirty="0"/>
              <a:t>    invalid = []</a:t>
            </a:r>
          </a:p>
          <a:p>
            <a:r>
              <a:rPr lang="en-IN" dirty="0"/>
              <a:t>    duplicates = []</a:t>
            </a:r>
          </a:p>
          <a:p>
            <a:endParaRPr lang="en-IN" dirty="0"/>
          </a:p>
          <a:p>
            <a:r>
              <a:rPr lang="en-IN" dirty="0"/>
              <a:t>    for ticket in </a:t>
            </a:r>
            <a:r>
              <a:rPr lang="en-IN" dirty="0" err="1"/>
              <a:t>ticket_ids</a:t>
            </a:r>
            <a:r>
              <a:rPr lang="en-IN" dirty="0"/>
              <a:t>:</a:t>
            </a:r>
          </a:p>
          <a:p>
            <a:r>
              <a:rPr lang="en-IN" dirty="0"/>
              <a:t>        if ticket not in registered:</a:t>
            </a:r>
          </a:p>
          <a:p>
            <a:r>
              <a:rPr lang="en-IN" dirty="0"/>
              <a:t>            </a:t>
            </a:r>
            <a:r>
              <a:rPr lang="en-IN" dirty="0" err="1"/>
              <a:t>invalid.append</a:t>
            </a:r>
            <a:r>
              <a:rPr lang="en-IN" dirty="0"/>
              <a:t>(ticket)</a:t>
            </a:r>
          </a:p>
          <a:p>
            <a:r>
              <a:rPr lang="en-IN" dirty="0"/>
              <a:t>        </a:t>
            </a:r>
            <a:r>
              <a:rPr lang="en-IN" dirty="0" err="1"/>
              <a:t>elif</a:t>
            </a:r>
            <a:r>
              <a:rPr lang="en-IN" dirty="0"/>
              <a:t> ticket in seen:</a:t>
            </a:r>
          </a:p>
          <a:p>
            <a:r>
              <a:rPr lang="en-IN" dirty="0"/>
              <a:t>            </a:t>
            </a:r>
            <a:r>
              <a:rPr lang="en-IN" dirty="0" err="1"/>
              <a:t>duplicates.append</a:t>
            </a:r>
            <a:r>
              <a:rPr lang="en-IN" dirty="0"/>
              <a:t>(ticket)</a:t>
            </a:r>
          </a:p>
          <a:p>
            <a:r>
              <a:rPr lang="en-IN" dirty="0"/>
              <a:t>        else:</a:t>
            </a:r>
          </a:p>
          <a:p>
            <a:r>
              <a:rPr lang="en-IN" dirty="0"/>
              <a:t>            </a:t>
            </a:r>
            <a:r>
              <a:rPr lang="en-IN" dirty="0" err="1"/>
              <a:t>valid.append</a:t>
            </a:r>
            <a:r>
              <a:rPr lang="en-IN" dirty="0"/>
              <a:t>(ticket)</a:t>
            </a:r>
          </a:p>
          <a:p>
            <a:r>
              <a:rPr lang="en-IN" dirty="0"/>
              <a:t>            </a:t>
            </a:r>
            <a:r>
              <a:rPr lang="en-IN" dirty="0" err="1"/>
              <a:t>seen.add</a:t>
            </a:r>
            <a:r>
              <a:rPr lang="en-IN" dirty="0"/>
              <a:t>(ticket)</a:t>
            </a:r>
          </a:p>
          <a:p>
            <a:endParaRPr lang="en-IN" dirty="0"/>
          </a:p>
          <a:p>
            <a:r>
              <a:rPr lang="en-IN" dirty="0"/>
              <a:t>    return valid, invalid, duplicates</a:t>
            </a:r>
          </a:p>
          <a:p>
            <a:endParaRPr lang="en-IN" dirty="0"/>
          </a:p>
          <a:p>
            <a:endParaRPr lang="en-IN" dirty="0"/>
          </a:p>
          <a:p>
            <a:r>
              <a:rPr lang="en-IN" dirty="0"/>
              <a:t>def main():</a:t>
            </a:r>
          </a:p>
          <a:p>
            <a:r>
              <a:rPr lang="en-IN" dirty="0"/>
              <a:t>    </a:t>
            </a:r>
            <a:r>
              <a:rPr lang="en-IN" dirty="0" err="1"/>
              <a:t>seating_rows</a:t>
            </a:r>
            <a:r>
              <a:rPr lang="en-IN" dirty="0"/>
              <a:t> = [</a:t>
            </a:r>
          </a:p>
          <a:p>
            <a:r>
              <a:rPr lang="en-IN" dirty="0"/>
              <a:t>        ["A1", "A2", "A3", "A4"],</a:t>
            </a:r>
          </a:p>
          <a:p>
            <a:r>
              <a:rPr lang="en-IN" dirty="0"/>
              <a:t>        ["B1", "B2", "B3", "B4"],</a:t>
            </a:r>
          </a:p>
          <a:p>
            <a:r>
              <a:rPr lang="en-IN" dirty="0"/>
              <a:t>        ["C1", "C2", "C3", "C4"]</a:t>
            </a:r>
          </a:p>
          <a:p>
            <a:r>
              <a:rPr lang="en-IN" dirty="0"/>
              <a:t>    ]</a:t>
            </a:r>
          </a:p>
          <a:p>
            <a:endParaRPr lang="en-IN" dirty="0"/>
          </a:p>
          <a:p>
            <a:r>
              <a:rPr lang="en-IN" dirty="0"/>
              <a:t>    </a:t>
            </a:r>
            <a:r>
              <a:rPr lang="en-IN" dirty="0" err="1"/>
              <a:t>registered_ids</a:t>
            </a:r>
            <a:r>
              <a:rPr lang="en-IN" dirty="0"/>
              <a:t> = [</a:t>
            </a:r>
          </a:p>
          <a:p>
            <a:r>
              <a:rPr lang="en-IN" dirty="0"/>
              <a:t>        "REG101", "REG102", "REG103",</a:t>
            </a:r>
          </a:p>
          <a:p>
            <a:r>
              <a:rPr lang="en-IN" dirty="0"/>
              <a:t>        "REG104", "REG105"</a:t>
            </a:r>
          </a:p>
          <a:p>
            <a:r>
              <a:rPr lang="en-IN" dirty="0"/>
              <a:t>    ]</a:t>
            </a:r>
          </a:p>
          <a:p>
            <a:endParaRPr lang="en-IN" dirty="0"/>
          </a:p>
          <a:p>
            <a:r>
              <a:rPr lang="en-IN" dirty="0"/>
              <a:t>    </a:t>
            </a:r>
            <a:r>
              <a:rPr lang="en-IN" dirty="0" err="1"/>
              <a:t>ticket_ids</a:t>
            </a:r>
            <a:r>
              <a:rPr lang="en-IN" dirty="0"/>
              <a:t> = [</a:t>
            </a:r>
          </a:p>
          <a:p>
            <a:r>
              <a:rPr lang="en-IN" dirty="0"/>
              <a:t>        "REG101", "REG102", "REG101",</a:t>
            </a:r>
          </a:p>
          <a:p>
            <a:r>
              <a:rPr lang="en-IN" dirty="0"/>
              <a:t>        "REG999", "REG104"</a:t>
            </a:r>
          </a:p>
          <a:p>
            <a:r>
              <a:rPr lang="en-IN" dirty="0"/>
              <a:t>    ]</a:t>
            </a:r>
          </a:p>
          <a:p>
            <a:endParaRPr lang="en-IN" dirty="0"/>
          </a:p>
          <a:p>
            <a:r>
              <a:rPr lang="en-IN" dirty="0"/>
              <a:t>    assignments = </a:t>
            </a:r>
            <a:r>
              <a:rPr lang="en-IN" dirty="0" err="1"/>
              <a:t>assign_seats</a:t>
            </a:r>
            <a:r>
              <a:rPr lang="en-IN" dirty="0"/>
              <a:t>(</a:t>
            </a:r>
          </a:p>
          <a:p>
            <a:r>
              <a:rPr lang="en-IN" dirty="0"/>
              <a:t>        </a:t>
            </a:r>
            <a:r>
              <a:rPr lang="en-IN" dirty="0" err="1"/>
              <a:t>seating_rows</a:t>
            </a:r>
            <a:r>
              <a:rPr lang="en-IN" dirty="0"/>
              <a:t>, </a:t>
            </a:r>
            <a:r>
              <a:rPr lang="en-IN" dirty="0" err="1"/>
              <a:t>registered_ids</a:t>
            </a:r>
            <a:endParaRPr lang="en-IN" dirty="0"/>
          </a:p>
          <a:p>
            <a:r>
              <a:rPr lang="en-IN" dirty="0"/>
              <a:t>    )</a:t>
            </a:r>
          </a:p>
          <a:p>
            <a:endParaRPr lang="en-IN" dirty="0"/>
          </a:p>
          <a:p>
            <a:r>
              <a:rPr lang="en-IN" dirty="0"/>
              <a:t>    valid, invalid, duplicates = </a:t>
            </a:r>
            <a:r>
              <a:rPr lang="en-IN" dirty="0" err="1"/>
              <a:t>validate_entries</a:t>
            </a:r>
            <a:r>
              <a:rPr lang="en-IN" dirty="0"/>
              <a:t>(</a:t>
            </a:r>
          </a:p>
          <a:p>
            <a:r>
              <a:rPr lang="en-IN" dirty="0"/>
              <a:t>        </a:t>
            </a:r>
            <a:r>
              <a:rPr lang="en-IN" dirty="0" err="1"/>
              <a:t>registered_ids</a:t>
            </a:r>
            <a:r>
              <a:rPr lang="en-IN" dirty="0"/>
              <a:t>, </a:t>
            </a:r>
            <a:r>
              <a:rPr lang="en-IN" dirty="0" err="1"/>
              <a:t>ticket_ids</a:t>
            </a:r>
            <a:endParaRPr lang="en-IN" dirty="0"/>
          </a:p>
          <a:p>
            <a:r>
              <a:rPr lang="en-IN" dirty="0"/>
              <a:t>    )</a:t>
            </a:r>
          </a:p>
          <a:p>
            <a:endParaRPr lang="en-IN" dirty="0"/>
          </a:p>
          <a:p>
            <a:r>
              <a:rPr lang="en-IN" dirty="0"/>
              <a:t>    </a:t>
            </a:r>
            <a:r>
              <a:rPr lang="en-IN" dirty="0" err="1"/>
              <a:t>total_seats</a:t>
            </a:r>
            <a:r>
              <a:rPr lang="en-IN" dirty="0"/>
              <a:t> = sum(</a:t>
            </a:r>
          </a:p>
          <a:p>
            <a:r>
              <a:rPr lang="en-IN" dirty="0"/>
              <a:t>        </a:t>
            </a:r>
            <a:r>
              <a:rPr lang="en-IN" dirty="0" err="1"/>
              <a:t>len</a:t>
            </a:r>
            <a:r>
              <a:rPr lang="en-IN" dirty="0"/>
              <a:t>(row) for row in </a:t>
            </a:r>
            <a:r>
              <a:rPr lang="en-IN" dirty="0" err="1"/>
              <a:t>seating_rows</a:t>
            </a:r>
            <a:endParaRPr lang="en-IN" dirty="0"/>
          </a:p>
          <a:p>
            <a:r>
              <a:rPr lang="en-IN" dirty="0"/>
              <a:t>    )</a:t>
            </a:r>
          </a:p>
          <a:p>
            <a:r>
              <a:rPr lang="en-IN" dirty="0"/>
              <a:t>    </a:t>
            </a:r>
            <a:r>
              <a:rPr lang="en-IN" dirty="0" err="1"/>
              <a:t>assigned_seats</a:t>
            </a:r>
            <a:r>
              <a:rPr lang="en-IN" dirty="0"/>
              <a:t> = </a:t>
            </a:r>
            <a:r>
              <a:rPr lang="en-IN" dirty="0" err="1"/>
              <a:t>len</a:t>
            </a:r>
            <a:r>
              <a:rPr lang="en-IN" dirty="0"/>
              <a:t>(assignments)</a:t>
            </a:r>
          </a:p>
          <a:p>
            <a:endParaRPr lang="en-IN" dirty="0"/>
          </a:p>
          <a:p>
            <a:r>
              <a:rPr lang="en-IN" dirty="0"/>
              <a:t>    print("CAMPUS EVENT SEATING AND ENTRY VALIDATION")</a:t>
            </a:r>
          </a:p>
          <a:p>
            <a:endParaRPr lang="en-IN" dirty="0"/>
          </a:p>
          <a:p>
            <a:r>
              <a:rPr lang="en-IN" dirty="0"/>
              <a:t>    print("\\nSEATING ASSIGNMENTS")</a:t>
            </a:r>
          </a:p>
          <a:p>
            <a:r>
              <a:rPr lang="en-IN" dirty="0"/>
              <a:t>    for attendee, seat in </a:t>
            </a:r>
            <a:r>
              <a:rPr lang="en-IN" dirty="0" err="1"/>
              <a:t>assignments.items</a:t>
            </a:r>
            <a:r>
              <a:rPr lang="en-IN" dirty="0"/>
              <a:t>():</a:t>
            </a:r>
          </a:p>
          <a:p>
            <a:r>
              <a:rPr lang="en-IN" dirty="0"/>
              <a:t>        print(f"{attendee}: {seat}")</a:t>
            </a:r>
          </a:p>
          <a:p>
            <a:endParaRPr lang="en-IN" dirty="0"/>
          </a:p>
          <a:p>
            <a:r>
              <a:rPr lang="en-IN" dirty="0"/>
              <a:t>    print("\\nENTRY VALIDATION")</a:t>
            </a:r>
          </a:p>
          <a:p>
            <a:r>
              <a:rPr lang="en-IN" dirty="0"/>
              <a:t>    print("Valid entries:", valid)</a:t>
            </a:r>
          </a:p>
          <a:p>
            <a:r>
              <a:rPr lang="en-IN" dirty="0"/>
              <a:t>    print("Invalid tickets:", invalid)</a:t>
            </a:r>
          </a:p>
          <a:p>
            <a:r>
              <a:rPr lang="en-IN" dirty="0"/>
              <a:t>    print("Duplicate entries:", duplicates)</a:t>
            </a:r>
          </a:p>
          <a:p>
            <a:endParaRPr lang="en-IN" dirty="0"/>
          </a:p>
          <a:p>
            <a:r>
              <a:rPr lang="en-IN" dirty="0"/>
              <a:t>    print("\\nSEATING CAPACITY")</a:t>
            </a:r>
          </a:p>
          <a:p>
            <a:r>
              <a:rPr lang="en-IN" dirty="0"/>
              <a:t>    print("Total seats:", </a:t>
            </a:r>
            <a:r>
              <a:rPr lang="en-IN" dirty="0" err="1"/>
              <a:t>total_seats</a:t>
            </a:r>
            <a:r>
              <a:rPr lang="en-IN" dirty="0"/>
              <a:t>)</a:t>
            </a:r>
          </a:p>
          <a:p>
            <a:r>
              <a:rPr lang="en-IN" dirty="0"/>
              <a:t>    print("Assigned seats:", </a:t>
            </a:r>
            <a:r>
              <a:rPr lang="en-IN" dirty="0" err="1"/>
              <a:t>assigned_seats</a:t>
            </a:r>
            <a:r>
              <a:rPr lang="en-IN" dirty="0"/>
              <a:t>)</a:t>
            </a:r>
          </a:p>
          <a:p>
            <a:r>
              <a:rPr lang="en-IN" dirty="0"/>
              <a:t>    print("Available seats:",</a:t>
            </a:r>
          </a:p>
          <a:p>
            <a:r>
              <a:rPr lang="en-IN" dirty="0"/>
              <a:t>          </a:t>
            </a:r>
            <a:r>
              <a:rPr lang="en-IN" dirty="0" err="1"/>
              <a:t>total_seats</a:t>
            </a:r>
            <a:r>
              <a:rPr lang="en-IN" dirty="0"/>
              <a:t> - </a:t>
            </a:r>
            <a:r>
              <a:rPr lang="en-IN" dirty="0" err="1"/>
              <a:t>assigned_seats</a:t>
            </a:r>
            <a:r>
              <a:rPr lang="en-IN" dirty="0"/>
              <a:t>)</a:t>
            </a:r>
          </a:p>
          <a:p>
            <a:endParaRPr lang="en-IN" dirty="0"/>
          </a:p>
          <a:p>
            <a:endParaRPr lang="en-IN" dirty="0"/>
          </a:p>
          <a:p>
            <a:r>
              <a:rPr lang="en-IN" dirty="0"/>
              <a:t>if __name__ == "__main__":</a:t>
            </a:r>
          </a:p>
          <a:p>
            <a:r>
              <a:rPr lang="en-IN" dirty="0"/>
              <a:t>    main()</a:t>
            </a:r>
          </a:p>
          <a:p>
            <a:endParaRPr lang="en-IN" dirty="0"/>
          </a:p>
        </p:txBody>
      </p:sp>
    </p:spTree>
    <p:extLst>
      <p:ext uri="{BB962C8B-B14F-4D97-AF65-F5344CB8AC3E}">
        <p14:creationId xmlns:p14="http://schemas.microsoft.com/office/powerpoint/2010/main" val="1380281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2719-4F13-EE8F-CFB9-E96C957BE9B8}"/>
              </a:ext>
            </a:extLst>
          </p:cNvPr>
          <p:cNvSpPr>
            <a:spLocks noGrp="1"/>
          </p:cNvSpPr>
          <p:nvPr>
            <p:ph type="title"/>
          </p:nvPr>
        </p:nvSpPr>
        <p:spPr/>
        <p:txBody>
          <a:bodyPr/>
          <a:lstStyle/>
          <a:p>
            <a:r>
              <a:rPr lang="en-US" dirty="0"/>
              <a:t>Test Cases</a:t>
            </a:r>
            <a:endParaRPr lang="en-IN" dirty="0"/>
          </a:p>
        </p:txBody>
      </p:sp>
      <p:sp>
        <p:nvSpPr>
          <p:cNvPr id="3" name="Content Placeholder 2">
            <a:extLst>
              <a:ext uri="{FF2B5EF4-FFF2-40B4-BE49-F238E27FC236}">
                <a16:creationId xmlns:a16="http://schemas.microsoft.com/office/drawing/2014/main" id="{2E98023C-C2B2-93DC-C6E7-28C627D4C01F}"/>
              </a:ext>
            </a:extLst>
          </p:cNvPr>
          <p:cNvSpPr>
            <a:spLocks noGrp="1"/>
          </p:cNvSpPr>
          <p:nvPr>
            <p:ph idx="1"/>
          </p:nvPr>
        </p:nvSpPr>
        <p:spPr/>
        <p:txBody>
          <a:bodyPr/>
          <a:lstStyle/>
          <a:p>
            <a:r>
              <a:rPr lang="en-US" dirty="0"/>
              <a:t>Test Cases </a:t>
            </a:r>
          </a:p>
          <a:p>
            <a:endParaRPr lang="en-IN" dirty="0"/>
          </a:p>
        </p:txBody>
      </p:sp>
      <p:graphicFrame>
        <p:nvGraphicFramePr>
          <p:cNvPr id="4" name="Table 3">
            <a:extLst>
              <a:ext uri="{FF2B5EF4-FFF2-40B4-BE49-F238E27FC236}">
                <a16:creationId xmlns:a16="http://schemas.microsoft.com/office/drawing/2014/main" id="{C06A9213-A510-566D-E7DE-C021C96933DB}"/>
              </a:ext>
            </a:extLst>
          </p:cNvPr>
          <p:cNvGraphicFramePr>
            <a:graphicFrameLocks noGrp="1"/>
          </p:cNvGraphicFramePr>
          <p:nvPr>
            <p:extLst>
              <p:ext uri="{D42A27DB-BD31-4B8C-83A1-F6EECF244321}">
                <p14:modId xmlns:p14="http://schemas.microsoft.com/office/powerpoint/2010/main" val="3847514148"/>
              </p:ext>
            </p:extLst>
          </p:nvPr>
        </p:nvGraphicFramePr>
        <p:xfrm>
          <a:off x="339970" y="1817077"/>
          <a:ext cx="10802814" cy="4806462"/>
        </p:xfrm>
        <a:graphic>
          <a:graphicData uri="http://schemas.openxmlformats.org/drawingml/2006/table">
            <a:tbl>
              <a:tblPr/>
              <a:tblGrid>
                <a:gridCol w="3600938">
                  <a:extLst>
                    <a:ext uri="{9D8B030D-6E8A-4147-A177-3AD203B41FA5}">
                      <a16:colId xmlns:a16="http://schemas.microsoft.com/office/drawing/2014/main" val="878709645"/>
                    </a:ext>
                  </a:extLst>
                </a:gridCol>
                <a:gridCol w="3600938">
                  <a:extLst>
                    <a:ext uri="{9D8B030D-6E8A-4147-A177-3AD203B41FA5}">
                      <a16:colId xmlns:a16="http://schemas.microsoft.com/office/drawing/2014/main" val="2970686882"/>
                    </a:ext>
                  </a:extLst>
                </a:gridCol>
                <a:gridCol w="3600938">
                  <a:extLst>
                    <a:ext uri="{9D8B030D-6E8A-4147-A177-3AD203B41FA5}">
                      <a16:colId xmlns:a16="http://schemas.microsoft.com/office/drawing/2014/main" val="2266921058"/>
                    </a:ext>
                  </a:extLst>
                </a:gridCol>
              </a:tblGrid>
              <a:tr h="931767">
                <a:tc>
                  <a:txBody>
                    <a:bodyPr/>
                    <a:lstStyle/>
                    <a:p>
                      <a:pPr>
                        <a:buNone/>
                      </a:pPr>
                      <a:r>
                        <a:rPr lang="en-IN" dirty="0"/>
                        <a:t>Test Case</a:t>
                      </a:r>
                    </a:p>
                  </a:txBody>
                  <a:tcPr anchor="ctr">
                    <a:lnL>
                      <a:noFill/>
                    </a:lnL>
                    <a:lnR>
                      <a:noFill/>
                    </a:lnR>
                    <a:lnT>
                      <a:noFill/>
                    </a:lnT>
                    <a:lnB>
                      <a:noFill/>
                    </a:lnB>
                    <a:noFill/>
                  </a:tcPr>
                </a:tc>
                <a:tc>
                  <a:txBody>
                    <a:bodyPr/>
                    <a:lstStyle/>
                    <a:p>
                      <a:pPr>
                        <a:buNone/>
                      </a:pPr>
                      <a:r>
                        <a:rPr lang="en-IN"/>
                        <a:t>Input</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491795270"/>
                  </a:ext>
                </a:extLst>
              </a:tr>
              <a:tr h="673860">
                <a:tc>
                  <a:txBody>
                    <a:bodyPr/>
                    <a:lstStyle/>
                    <a:p>
                      <a:pPr>
                        <a:buNone/>
                      </a:pPr>
                      <a:r>
                        <a:rPr lang="en-IN"/>
                        <a:t>1</a:t>
                      </a:r>
                    </a:p>
                  </a:txBody>
                  <a:tcPr anchor="ctr">
                    <a:lnL>
                      <a:noFill/>
                    </a:lnL>
                    <a:lnR>
                      <a:noFill/>
                    </a:lnR>
                    <a:lnT>
                      <a:noFill/>
                    </a:lnT>
                    <a:lnB>
                      <a:noFill/>
                    </a:lnB>
                    <a:noFill/>
                  </a:tcPr>
                </a:tc>
                <a:tc>
                  <a:txBody>
                    <a:bodyPr/>
                    <a:lstStyle/>
                    <a:p>
                      <a:pPr>
                        <a:buNone/>
                      </a:pPr>
                      <a:r>
                        <a:rPr lang="en-IN"/>
                        <a:t>REG101</a:t>
                      </a:r>
                    </a:p>
                  </a:txBody>
                  <a:tcPr anchor="ctr">
                    <a:lnL>
                      <a:noFill/>
                    </a:lnL>
                    <a:lnR>
                      <a:noFill/>
                    </a:lnR>
                    <a:lnT>
                      <a:noFill/>
                    </a:lnT>
                    <a:lnB>
                      <a:noFill/>
                    </a:lnB>
                    <a:noFill/>
                  </a:tcPr>
                </a:tc>
                <a:tc>
                  <a:txBody>
                    <a:bodyPr/>
                    <a:lstStyle/>
                    <a:p>
                      <a:pPr>
                        <a:buNone/>
                      </a:pPr>
                      <a:r>
                        <a:rPr lang="en-IN"/>
                        <a:t>Valid ticket</a:t>
                      </a:r>
                    </a:p>
                  </a:txBody>
                  <a:tcPr anchor="ctr">
                    <a:lnL>
                      <a:noFill/>
                    </a:lnL>
                    <a:lnR>
                      <a:noFill/>
                    </a:lnR>
                    <a:lnT>
                      <a:noFill/>
                    </a:lnT>
                    <a:lnB>
                      <a:noFill/>
                    </a:lnB>
                    <a:noFill/>
                  </a:tcPr>
                </a:tc>
                <a:extLst>
                  <a:ext uri="{0D108BD9-81ED-4DB2-BD59-A6C34878D82A}">
                    <a16:rowId xmlns:a16="http://schemas.microsoft.com/office/drawing/2014/main" val="1137511373"/>
                  </a:ext>
                </a:extLst>
              </a:tr>
              <a:tr h="673860">
                <a:tc>
                  <a:txBody>
                    <a:bodyPr/>
                    <a:lstStyle/>
                    <a:p>
                      <a:pPr>
                        <a:buNone/>
                      </a:pPr>
                      <a:r>
                        <a:rPr lang="en-IN"/>
                        <a:t>2</a:t>
                      </a:r>
                    </a:p>
                  </a:txBody>
                  <a:tcPr anchor="ctr">
                    <a:lnL>
                      <a:noFill/>
                    </a:lnL>
                    <a:lnR>
                      <a:noFill/>
                    </a:lnR>
                    <a:lnT>
                      <a:noFill/>
                    </a:lnT>
                    <a:lnB>
                      <a:noFill/>
                    </a:lnB>
                    <a:noFill/>
                  </a:tcPr>
                </a:tc>
                <a:tc>
                  <a:txBody>
                    <a:bodyPr/>
                    <a:lstStyle/>
                    <a:p>
                      <a:pPr>
                        <a:buNone/>
                      </a:pPr>
                      <a:r>
                        <a:rPr lang="en-IN"/>
                        <a:t>REG999</a:t>
                      </a:r>
                    </a:p>
                  </a:txBody>
                  <a:tcPr anchor="ctr">
                    <a:lnL>
                      <a:noFill/>
                    </a:lnL>
                    <a:lnR>
                      <a:noFill/>
                    </a:lnR>
                    <a:lnT>
                      <a:noFill/>
                    </a:lnT>
                    <a:lnB>
                      <a:noFill/>
                    </a:lnB>
                    <a:noFill/>
                  </a:tcPr>
                </a:tc>
                <a:tc>
                  <a:txBody>
                    <a:bodyPr/>
                    <a:lstStyle/>
                    <a:p>
                      <a:pPr>
                        <a:buNone/>
                      </a:pPr>
                      <a:r>
                        <a:rPr lang="en-IN"/>
                        <a:t>Invalid ticket</a:t>
                      </a:r>
                    </a:p>
                  </a:txBody>
                  <a:tcPr anchor="ctr">
                    <a:lnL>
                      <a:noFill/>
                    </a:lnL>
                    <a:lnR>
                      <a:noFill/>
                    </a:lnR>
                    <a:lnT>
                      <a:noFill/>
                    </a:lnT>
                    <a:lnB>
                      <a:noFill/>
                    </a:lnB>
                    <a:noFill/>
                  </a:tcPr>
                </a:tc>
                <a:extLst>
                  <a:ext uri="{0D108BD9-81ED-4DB2-BD59-A6C34878D82A}">
                    <a16:rowId xmlns:a16="http://schemas.microsoft.com/office/drawing/2014/main" val="637140620"/>
                  </a:ext>
                </a:extLst>
              </a:tr>
              <a:tr h="673860">
                <a:tc>
                  <a:txBody>
                    <a:bodyPr/>
                    <a:lstStyle/>
                    <a:p>
                      <a:pPr>
                        <a:buNone/>
                      </a:pPr>
                      <a:r>
                        <a:rPr lang="en-IN"/>
                        <a:t>3</a:t>
                      </a:r>
                    </a:p>
                  </a:txBody>
                  <a:tcPr anchor="ctr">
                    <a:lnL>
                      <a:noFill/>
                    </a:lnL>
                    <a:lnR>
                      <a:noFill/>
                    </a:lnR>
                    <a:lnT>
                      <a:noFill/>
                    </a:lnT>
                    <a:lnB>
                      <a:noFill/>
                    </a:lnB>
                    <a:noFill/>
                  </a:tcPr>
                </a:tc>
                <a:tc>
                  <a:txBody>
                    <a:bodyPr/>
                    <a:lstStyle/>
                    <a:p>
                      <a:pPr>
                        <a:buNone/>
                      </a:pPr>
                      <a:r>
                        <a:rPr lang="en-IN"/>
                        <a:t>REG101 scanned twice</a:t>
                      </a:r>
                    </a:p>
                  </a:txBody>
                  <a:tcPr anchor="ctr">
                    <a:lnL>
                      <a:noFill/>
                    </a:lnL>
                    <a:lnR>
                      <a:noFill/>
                    </a:lnR>
                    <a:lnT>
                      <a:noFill/>
                    </a:lnT>
                    <a:lnB>
                      <a:noFill/>
                    </a:lnB>
                    <a:noFill/>
                  </a:tcPr>
                </a:tc>
                <a:tc>
                  <a:txBody>
                    <a:bodyPr/>
                    <a:lstStyle/>
                    <a:p>
                      <a:pPr>
                        <a:buNone/>
                      </a:pPr>
                      <a:r>
                        <a:rPr lang="en-IN"/>
                        <a:t>Duplicate entry detected</a:t>
                      </a:r>
                    </a:p>
                  </a:txBody>
                  <a:tcPr anchor="ctr">
                    <a:lnL>
                      <a:noFill/>
                    </a:lnL>
                    <a:lnR>
                      <a:noFill/>
                    </a:lnR>
                    <a:lnT>
                      <a:noFill/>
                    </a:lnT>
                    <a:lnB>
                      <a:noFill/>
                    </a:lnB>
                    <a:noFill/>
                  </a:tcPr>
                </a:tc>
                <a:extLst>
                  <a:ext uri="{0D108BD9-81ED-4DB2-BD59-A6C34878D82A}">
                    <a16:rowId xmlns:a16="http://schemas.microsoft.com/office/drawing/2014/main" val="1268568397"/>
                  </a:ext>
                </a:extLst>
              </a:tr>
              <a:tr h="673860">
                <a:tc>
                  <a:txBody>
                    <a:bodyPr/>
                    <a:lstStyle/>
                    <a:p>
                      <a:pPr>
                        <a:buNone/>
                      </a:pPr>
                      <a:r>
                        <a:rPr lang="en-IN"/>
                        <a:t>4</a:t>
                      </a:r>
                    </a:p>
                  </a:txBody>
                  <a:tcPr anchor="ctr">
                    <a:lnL>
                      <a:noFill/>
                    </a:lnL>
                    <a:lnR>
                      <a:noFill/>
                    </a:lnR>
                    <a:lnT>
                      <a:noFill/>
                    </a:lnT>
                    <a:lnB>
                      <a:noFill/>
                    </a:lnB>
                    <a:noFill/>
                  </a:tcPr>
                </a:tc>
                <a:tc>
                  <a:txBody>
                    <a:bodyPr/>
                    <a:lstStyle/>
                    <a:p>
                      <a:pPr>
                        <a:buNone/>
                      </a:pPr>
                      <a:r>
                        <a:rPr lang="en-US"/>
                        <a:t>12 seats and 5 attendees</a:t>
                      </a:r>
                    </a:p>
                  </a:txBody>
                  <a:tcPr anchor="ctr">
                    <a:lnL>
                      <a:noFill/>
                    </a:lnL>
                    <a:lnR>
                      <a:noFill/>
                    </a:lnR>
                    <a:lnT>
                      <a:noFill/>
                    </a:lnT>
                    <a:lnB>
                      <a:noFill/>
                    </a:lnB>
                    <a:noFill/>
                  </a:tcPr>
                </a:tc>
                <a:tc>
                  <a:txBody>
                    <a:bodyPr/>
                    <a:lstStyle/>
                    <a:p>
                      <a:pPr>
                        <a:buNone/>
                      </a:pPr>
                      <a:r>
                        <a:rPr lang="en-IN"/>
                        <a:t>7 seats available</a:t>
                      </a:r>
                    </a:p>
                  </a:txBody>
                  <a:tcPr anchor="ctr">
                    <a:lnL>
                      <a:noFill/>
                    </a:lnL>
                    <a:lnR>
                      <a:noFill/>
                    </a:lnR>
                    <a:lnT>
                      <a:noFill/>
                    </a:lnT>
                    <a:lnB>
                      <a:noFill/>
                    </a:lnB>
                    <a:noFill/>
                  </a:tcPr>
                </a:tc>
                <a:extLst>
                  <a:ext uri="{0D108BD9-81ED-4DB2-BD59-A6C34878D82A}">
                    <a16:rowId xmlns:a16="http://schemas.microsoft.com/office/drawing/2014/main" val="1272753066"/>
                  </a:ext>
                </a:extLst>
              </a:tr>
              <a:tr h="1179255">
                <a:tc>
                  <a:txBody>
                    <a:bodyPr/>
                    <a:lstStyle/>
                    <a:p>
                      <a:pPr>
                        <a:buNone/>
                      </a:pPr>
                      <a:r>
                        <a:rPr lang="en-IN"/>
                        <a:t>5</a:t>
                      </a:r>
                    </a:p>
                  </a:txBody>
                  <a:tcPr anchor="ctr">
                    <a:lnL>
                      <a:noFill/>
                    </a:lnL>
                    <a:lnR>
                      <a:noFill/>
                    </a:lnR>
                    <a:lnT>
                      <a:noFill/>
                    </a:lnT>
                    <a:lnB>
                      <a:noFill/>
                    </a:lnB>
                    <a:noFill/>
                  </a:tcPr>
                </a:tc>
                <a:tc>
                  <a:txBody>
                    <a:bodyPr/>
                    <a:lstStyle/>
                    <a:p>
                      <a:pPr>
                        <a:buNone/>
                      </a:pPr>
                      <a:r>
                        <a:rPr lang="en-US"/>
                        <a:t>Registered attendees with available seats</a:t>
                      </a:r>
                    </a:p>
                  </a:txBody>
                  <a:tcPr anchor="ctr">
                    <a:lnL>
                      <a:noFill/>
                    </a:lnL>
                    <a:lnR>
                      <a:noFill/>
                    </a:lnR>
                    <a:lnT>
                      <a:noFill/>
                    </a:lnT>
                    <a:lnB>
                      <a:noFill/>
                    </a:lnB>
                    <a:noFill/>
                  </a:tcPr>
                </a:tc>
                <a:tc>
                  <a:txBody>
                    <a:bodyPr/>
                    <a:lstStyle/>
                    <a:p>
                      <a:pPr>
                        <a:buNone/>
                      </a:pPr>
                      <a:r>
                        <a:rPr lang="en-IN" dirty="0"/>
                        <a:t>Seats assigned in order</a:t>
                      </a:r>
                    </a:p>
                  </a:txBody>
                  <a:tcPr anchor="ctr">
                    <a:lnL>
                      <a:noFill/>
                    </a:lnL>
                    <a:lnR>
                      <a:noFill/>
                    </a:lnR>
                    <a:lnT>
                      <a:noFill/>
                    </a:lnT>
                    <a:lnB>
                      <a:noFill/>
                    </a:lnB>
                    <a:noFill/>
                  </a:tcPr>
                </a:tc>
                <a:extLst>
                  <a:ext uri="{0D108BD9-81ED-4DB2-BD59-A6C34878D82A}">
                    <a16:rowId xmlns:a16="http://schemas.microsoft.com/office/drawing/2014/main" val="329672436"/>
                  </a:ext>
                </a:extLst>
              </a:tr>
            </a:tbl>
          </a:graphicData>
        </a:graphic>
      </p:graphicFrame>
    </p:spTree>
    <p:extLst>
      <p:ext uri="{BB962C8B-B14F-4D97-AF65-F5344CB8AC3E}">
        <p14:creationId xmlns:p14="http://schemas.microsoft.com/office/powerpoint/2010/main" val="419086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2C0E-A5CE-99C5-055B-655664525EA6}"/>
              </a:ext>
            </a:extLst>
          </p:cNvPr>
          <p:cNvSpPr>
            <a:spLocks noGrp="1"/>
          </p:cNvSpPr>
          <p:nvPr>
            <p:ph type="title"/>
          </p:nvPr>
        </p:nvSpPr>
        <p:spPr/>
        <p:txBody>
          <a:bodyPr/>
          <a:lstStyle/>
          <a:p>
            <a:r>
              <a:rPr lang="en-US" dirty="0"/>
              <a:t>Code And Output</a:t>
            </a:r>
            <a:endParaRPr lang="en-IN" dirty="0"/>
          </a:p>
        </p:txBody>
      </p:sp>
      <p:sp>
        <p:nvSpPr>
          <p:cNvPr id="3" name="Text Placeholder 2">
            <a:extLst>
              <a:ext uri="{FF2B5EF4-FFF2-40B4-BE49-F238E27FC236}">
                <a16:creationId xmlns:a16="http://schemas.microsoft.com/office/drawing/2014/main" id="{4FB1E9BB-3D80-2DA1-E083-6D81CB46E96F}"/>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294D7D89-C43E-932C-57DF-DA9804E4970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851716" y="2262554"/>
            <a:ext cx="3329884" cy="4430343"/>
          </a:xfrm>
        </p:spPr>
      </p:pic>
      <p:sp>
        <p:nvSpPr>
          <p:cNvPr id="5" name="Text Placeholder 4">
            <a:extLst>
              <a:ext uri="{FF2B5EF4-FFF2-40B4-BE49-F238E27FC236}">
                <a16:creationId xmlns:a16="http://schemas.microsoft.com/office/drawing/2014/main" id="{B66FDDB1-19A9-F7A9-8046-0FCEAA04B1AD}"/>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A9136333-C72F-2E29-69F6-4A81470D213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96000" y="2634633"/>
            <a:ext cx="4663560" cy="2994028"/>
          </a:xfrm>
        </p:spPr>
      </p:pic>
    </p:spTree>
    <p:extLst>
      <p:ext uri="{BB962C8B-B14F-4D97-AF65-F5344CB8AC3E}">
        <p14:creationId xmlns:p14="http://schemas.microsoft.com/office/powerpoint/2010/main" val="1243252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FAC0-98C2-AF06-03CA-8D150614A0D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022DAC2D-EACD-B2DD-61B5-3BDD2845D88D}"/>
              </a:ext>
            </a:extLst>
          </p:cNvPr>
          <p:cNvSpPr>
            <a:spLocks noGrp="1"/>
          </p:cNvSpPr>
          <p:nvPr>
            <p:ph idx="1"/>
          </p:nvPr>
        </p:nvSpPr>
        <p:spPr/>
        <p:txBody>
          <a:bodyPr/>
          <a:lstStyle/>
          <a:p>
            <a:r>
              <a:rPr lang="en-US" dirty="0"/>
              <a:t>The Campus Event Seating and Entry Validation program demonstrates how Python can be used to manage seating arrangements and ticket validation efficiently.</a:t>
            </a:r>
          </a:p>
          <a:p>
            <a:r>
              <a:rPr lang="en-US" dirty="0"/>
              <a:t>Using nested lists, sets, loops, functions, and conditional statements, the program assigns seats, validates registration IDs, detects duplicate entries, identifies invalid tickets, and calculates available seating capacity.</a:t>
            </a:r>
          </a:p>
          <a:p>
            <a:r>
              <a:rPr lang="en-US" dirty="0"/>
              <a:t>This case study demonstrates the practical application of Python programming concepts to campus event management.</a:t>
            </a:r>
          </a:p>
          <a:p>
            <a:endParaRPr lang="en-IN" dirty="0"/>
          </a:p>
        </p:txBody>
      </p:sp>
    </p:spTree>
    <p:extLst>
      <p:ext uri="{BB962C8B-B14F-4D97-AF65-F5344CB8AC3E}">
        <p14:creationId xmlns:p14="http://schemas.microsoft.com/office/powerpoint/2010/main" val="46584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39FFA-30B9-D6F7-DBE7-15E3DA33BDAB}"/>
              </a:ext>
            </a:extLst>
          </p:cNvPr>
          <p:cNvSpPr>
            <a:spLocks noGrp="1"/>
          </p:cNvSpPr>
          <p:nvPr>
            <p:ph type="title"/>
          </p:nvPr>
        </p:nvSpPr>
        <p:spPr/>
        <p:txBody>
          <a:bodyPr/>
          <a:lstStyle/>
          <a:p>
            <a:r>
              <a:rPr lang="en-US" dirty="0"/>
              <a:t>CASE-82:Multi-Criteria Internship Candidate Ranking</a:t>
            </a:r>
            <a:endParaRPr lang="en-IN" dirty="0"/>
          </a:p>
        </p:txBody>
      </p:sp>
      <p:sp>
        <p:nvSpPr>
          <p:cNvPr id="3" name="Content Placeholder 2">
            <a:extLst>
              <a:ext uri="{FF2B5EF4-FFF2-40B4-BE49-F238E27FC236}">
                <a16:creationId xmlns:a16="http://schemas.microsoft.com/office/drawing/2014/main" id="{BF5001E9-32D0-8E24-9DA9-DAE0E74BA095}"/>
              </a:ext>
            </a:extLst>
          </p:cNvPr>
          <p:cNvSpPr>
            <a:spLocks noGrp="1"/>
          </p:cNvSpPr>
          <p:nvPr>
            <p:ph idx="1"/>
          </p:nvPr>
        </p:nvSpPr>
        <p:spPr/>
        <p:txBody>
          <a:bodyPr/>
          <a:lstStyle/>
          <a:p>
            <a:r>
              <a:rPr lang="en-US" dirty="0"/>
              <a:t>*Problem statement</a:t>
            </a:r>
          </a:p>
          <a:p>
            <a:r>
              <a:rPr lang="en-US" dirty="0"/>
              <a:t>Organizations receive internship applications from many candidates with different academic marks, assessment scores, and attendance percentages. Selecting suitable candidates manually can be time-consuming.</a:t>
            </a:r>
          </a:p>
          <a:p>
            <a:r>
              <a:rPr lang="en-US" dirty="0"/>
              <a:t>The objective of this case study is to develop a Python program that evaluates candidates using multiple criteria, checks eligibility conditions, calculates a composite score, ranks qualified candidates, and applies deterministic tie-breaking rules when candidates have equal scores.</a:t>
            </a:r>
          </a:p>
          <a:p>
            <a:endParaRPr lang="en-IN" dirty="0"/>
          </a:p>
        </p:txBody>
      </p:sp>
    </p:spTree>
    <p:extLst>
      <p:ext uri="{BB962C8B-B14F-4D97-AF65-F5344CB8AC3E}">
        <p14:creationId xmlns:p14="http://schemas.microsoft.com/office/powerpoint/2010/main" val="118132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22E4A-4428-A66B-0338-E6F0A36C2BC6}"/>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8041D7A8-3321-F838-4064-6523E024938E}"/>
              </a:ext>
            </a:extLst>
          </p:cNvPr>
          <p:cNvSpPr>
            <a:spLocks noGrp="1"/>
          </p:cNvSpPr>
          <p:nvPr>
            <p:ph idx="1"/>
          </p:nvPr>
        </p:nvSpPr>
        <p:spPr/>
        <p:txBody>
          <a:bodyPr/>
          <a:lstStyle/>
          <a:p>
            <a:r>
              <a:rPr lang="en-US" dirty="0"/>
              <a:t>Evaluate candidates based on academic marks, assessment scores, and attendance.</a:t>
            </a:r>
          </a:p>
          <a:p>
            <a:r>
              <a:rPr lang="en-US" dirty="0"/>
              <a:t>Check minimum eligibility requirements.</a:t>
            </a:r>
          </a:p>
          <a:p>
            <a:r>
              <a:rPr lang="en-US" dirty="0"/>
              <a:t>Calculate a weighted composite score for eligible candidates.</a:t>
            </a:r>
          </a:p>
          <a:p>
            <a:r>
              <a:rPr lang="en-US" dirty="0"/>
              <a:t>Rank qualified candidates in descending order of score.</a:t>
            </a:r>
          </a:p>
          <a:p>
            <a:r>
              <a:rPr lang="en-US" dirty="0"/>
              <a:t>Apply deterministic tie-breaking rules.</a:t>
            </a:r>
          </a:p>
          <a:p>
            <a:r>
              <a:rPr lang="en-US" dirty="0"/>
              <a:t>Separate eligible and ineligible candidates.</a:t>
            </a:r>
          </a:p>
          <a:p>
            <a:r>
              <a:rPr lang="en-US" dirty="0"/>
              <a:t>Display the final ranked list of qualified candidates.</a:t>
            </a:r>
          </a:p>
          <a:p>
            <a:endParaRPr lang="en-IN" dirty="0"/>
          </a:p>
        </p:txBody>
      </p:sp>
    </p:spTree>
    <p:extLst>
      <p:ext uri="{BB962C8B-B14F-4D97-AF65-F5344CB8AC3E}">
        <p14:creationId xmlns:p14="http://schemas.microsoft.com/office/powerpoint/2010/main" val="832198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65736-9334-1FF8-90AB-B3DE1B2633F5}"/>
              </a:ext>
            </a:extLst>
          </p:cNvPr>
          <p:cNvSpPr>
            <a:spLocks noGrp="1"/>
          </p:cNvSpPr>
          <p:nvPr>
            <p:ph type="title"/>
          </p:nvPr>
        </p:nvSpPr>
        <p:spPr/>
        <p:txBody>
          <a:bodyPr/>
          <a:lstStyle/>
          <a:p>
            <a:r>
              <a:rPr lang="en-US" dirty="0"/>
              <a:t>Assumptions</a:t>
            </a:r>
            <a:endParaRPr lang="en-IN" dirty="0"/>
          </a:p>
        </p:txBody>
      </p:sp>
      <p:sp>
        <p:nvSpPr>
          <p:cNvPr id="3" name="Content Placeholder 2">
            <a:extLst>
              <a:ext uri="{FF2B5EF4-FFF2-40B4-BE49-F238E27FC236}">
                <a16:creationId xmlns:a16="http://schemas.microsoft.com/office/drawing/2014/main" id="{257F38AC-5F58-BE0C-2732-2706D67B2FD4}"/>
              </a:ext>
            </a:extLst>
          </p:cNvPr>
          <p:cNvSpPr>
            <a:spLocks noGrp="1"/>
          </p:cNvSpPr>
          <p:nvPr>
            <p:ph idx="1"/>
          </p:nvPr>
        </p:nvSpPr>
        <p:spPr/>
        <p:txBody>
          <a:bodyPr>
            <a:normAutofit fontScale="70000" lnSpcReduction="20000"/>
          </a:bodyPr>
          <a:lstStyle/>
          <a:p>
            <a:r>
              <a:rPr lang="en-US" dirty="0"/>
              <a:t>= (0.5 × Marks) + (0.3 × Assessment Score) + (0.2 × Attendance)</a:t>
            </a:r>
          </a:p>
          <a:p>
            <a:r>
              <a:rPr lang="en-US" dirty="0"/>
              <a:t>Candidates who satisfy all eligibility conditions are considered qualified.</a:t>
            </a:r>
          </a:p>
          <a:p>
            <a:r>
              <a:rPr lang="en-US" dirty="0"/>
              <a:t>Candidates are ranked by composite score in descending order.</a:t>
            </a:r>
          </a:p>
          <a:p>
            <a:r>
              <a:rPr lang="en-US" dirty="0"/>
              <a:t>In case of a tie, the following </a:t>
            </a:r>
            <a:r>
              <a:rPr lang="en-US" dirty="0" err="1"/>
              <a:t>ruleAcademic</a:t>
            </a:r>
            <a:r>
              <a:rPr lang="en-US" dirty="0"/>
              <a:t> marks, assessment scores, and attendance are measured out of 100.</a:t>
            </a:r>
          </a:p>
          <a:p>
            <a:r>
              <a:rPr lang="en-US" dirty="0"/>
              <a:t>Minimum academic marks required: 60.</a:t>
            </a:r>
          </a:p>
          <a:p>
            <a:r>
              <a:rPr lang="en-US" dirty="0"/>
              <a:t>Minimum assessment score required: 50.</a:t>
            </a:r>
          </a:p>
          <a:p>
            <a:r>
              <a:rPr lang="en-US" dirty="0"/>
              <a:t>Minimum attendance required: 75%.</a:t>
            </a:r>
          </a:p>
          <a:p>
            <a:r>
              <a:rPr lang="en-US" dirty="0"/>
              <a:t>The composite score is calculated as:</a:t>
            </a:r>
          </a:p>
          <a:p>
            <a:r>
              <a:rPr lang="en-US" dirty="0"/>
              <a:t>Composite Score s are applied in order:</a:t>
            </a:r>
          </a:p>
          <a:p>
            <a:pPr lvl="1"/>
            <a:r>
              <a:rPr lang="en-US" dirty="0"/>
              <a:t>Higher academic marks</a:t>
            </a:r>
          </a:p>
          <a:p>
            <a:pPr lvl="1"/>
            <a:r>
              <a:rPr lang="en-US" dirty="0"/>
              <a:t>Higher assessment score</a:t>
            </a:r>
          </a:p>
          <a:p>
            <a:pPr lvl="1"/>
            <a:r>
              <a:rPr lang="en-US" dirty="0"/>
              <a:t>Higher attendance</a:t>
            </a:r>
          </a:p>
          <a:p>
            <a:pPr lvl="1"/>
            <a:r>
              <a:rPr lang="en-US" dirty="0"/>
              <a:t>Alphabetical order of candidate name</a:t>
            </a:r>
          </a:p>
          <a:p>
            <a:endParaRPr lang="en-IN" dirty="0"/>
          </a:p>
        </p:txBody>
      </p:sp>
    </p:spTree>
    <p:extLst>
      <p:ext uri="{BB962C8B-B14F-4D97-AF65-F5344CB8AC3E}">
        <p14:creationId xmlns:p14="http://schemas.microsoft.com/office/powerpoint/2010/main" val="2229180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7AE2-6B93-E088-97A8-BE22DCF9A5D5}"/>
              </a:ext>
            </a:extLst>
          </p:cNvPr>
          <p:cNvSpPr>
            <a:spLocks noGrp="1"/>
          </p:cNvSpPr>
          <p:nvPr>
            <p:ph type="title"/>
          </p:nvPr>
        </p:nvSpPr>
        <p:spPr/>
        <p:txBody>
          <a:bodyPr/>
          <a:lstStyle/>
          <a:p>
            <a:r>
              <a:rPr lang="en-US" dirty="0"/>
              <a:t>Algorithm</a:t>
            </a:r>
            <a:endParaRPr lang="en-IN" dirty="0"/>
          </a:p>
        </p:txBody>
      </p:sp>
      <p:sp>
        <p:nvSpPr>
          <p:cNvPr id="3" name="Content Placeholder 2">
            <a:extLst>
              <a:ext uri="{FF2B5EF4-FFF2-40B4-BE49-F238E27FC236}">
                <a16:creationId xmlns:a16="http://schemas.microsoft.com/office/drawing/2014/main" id="{5C557EF8-2AA6-F573-E158-0A4233F10CD4}"/>
              </a:ext>
            </a:extLst>
          </p:cNvPr>
          <p:cNvSpPr>
            <a:spLocks noGrp="1"/>
          </p:cNvSpPr>
          <p:nvPr>
            <p:ph idx="1"/>
          </p:nvPr>
        </p:nvSpPr>
        <p:spPr/>
        <p:txBody>
          <a:bodyPr>
            <a:normAutofit fontScale="70000" lnSpcReduction="20000"/>
          </a:bodyPr>
          <a:lstStyle/>
          <a:p>
            <a:r>
              <a:rPr lang="en-US" dirty="0"/>
              <a:t>Start the program.</a:t>
            </a:r>
          </a:p>
          <a:p>
            <a:r>
              <a:rPr lang="en-US" dirty="0"/>
              <a:t>Input the number of internship candidates.</a:t>
            </a:r>
          </a:p>
          <a:p>
            <a:r>
              <a:rPr lang="en-US" dirty="0"/>
              <a:t>Enter each candidate's name, academic marks, assessment score, and attendance percentage.</a:t>
            </a:r>
          </a:p>
          <a:p>
            <a:r>
              <a:rPr lang="en-US" dirty="0"/>
              <a:t>Check whether the candidate satisfies all eligibility conditions.</a:t>
            </a:r>
          </a:p>
          <a:p>
            <a:r>
              <a:rPr lang="en-US" dirty="0"/>
              <a:t>If the candidate is eligible, calculate the composite score.</a:t>
            </a:r>
          </a:p>
          <a:p>
            <a:r>
              <a:rPr lang="en-US" dirty="0"/>
              <a:t>Add the candidate to the qualified candidates list.</a:t>
            </a:r>
          </a:p>
          <a:p>
            <a:r>
              <a:rPr lang="en-US" dirty="0"/>
              <a:t>Otherwise, add the candidate to the ineligible candidates list.</a:t>
            </a:r>
          </a:p>
          <a:p>
            <a:r>
              <a:rPr lang="en-US" dirty="0"/>
              <a:t>Repeat the process for all candidates.</a:t>
            </a:r>
          </a:p>
          <a:p>
            <a:r>
              <a:rPr lang="en-US" dirty="0"/>
              <a:t>Sort qualified candidates by composite score in descending order.</a:t>
            </a:r>
          </a:p>
          <a:p>
            <a:r>
              <a:rPr lang="en-US" dirty="0"/>
              <a:t>Apply tie-breaking rules when scores are equal.</a:t>
            </a:r>
          </a:p>
          <a:p>
            <a:r>
              <a:rPr lang="en-US" dirty="0"/>
              <a:t>Display the ranked qualified candidates and the ineligible candidates.</a:t>
            </a:r>
          </a:p>
          <a:p>
            <a:r>
              <a:rPr lang="en-US" dirty="0"/>
              <a:t>Stop the program.</a:t>
            </a:r>
          </a:p>
          <a:p>
            <a:endParaRPr lang="en-IN" dirty="0"/>
          </a:p>
        </p:txBody>
      </p:sp>
    </p:spTree>
    <p:extLst>
      <p:ext uri="{BB962C8B-B14F-4D97-AF65-F5344CB8AC3E}">
        <p14:creationId xmlns:p14="http://schemas.microsoft.com/office/powerpoint/2010/main" val="625397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58FD0-8968-BF1D-A39F-57312B392FF4}"/>
              </a:ext>
            </a:extLst>
          </p:cNvPr>
          <p:cNvSpPr>
            <a:spLocks noGrp="1"/>
          </p:cNvSpPr>
          <p:nvPr>
            <p:ph type="title"/>
          </p:nvPr>
        </p:nvSpPr>
        <p:spPr/>
        <p:txBody>
          <a:bodyPr/>
          <a:lstStyle/>
          <a:p>
            <a:r>
              <a:rPr lang="en-US" dirty="0"/>
              <a:t>Flowchart:</a:t>
            </a:r>
            <a:endParaRPr lang="en-IN" dirty="0"/>
          </a:p>
        </p:txBody>
      </p:sp>
      <p:pic>
        <p:nvPicPr>
          <p:cNvPr id="6" name="Content Placeholder 5">
            <a:extLst>
              <a:ext uri="{FF2B5EF4-FFF2-40B4-BE49-F238E27FC236}">
                <a16:creationId xmlns:a16="http://schemas.microsoft.com/office/drawing/2014/main" id="{1FB2DD8B-DFB7-6AD1-1A4C-B5F40369EC7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81047" y="1182322"/>
            <a:ext cx="3540368" cy="5310553"/>
          </a:xfrm>
        </p:spPr>
      </p:pic>
      <p:sp>
        <p:nvSpPr>
          <p:cNvPr id="4" name="Content Placeholder 3">
            <a:extLst>
              <a:ext uri="{FF2B5EF4-FFF2-40B4-BE49-F238E27FC236}">
                <a16:creationId xmlns:a16="http://schemas.microsoft.com/office/drawing/2014/main" id="{48EC385C-B814-1408-FDB1-A4A3F5A3F85E}"/>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2334069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81479-E46D-C89A-70AF-FB4787D389A9}"/>
              </a:ext>
            </a:extLst>
          </p:cNvPr>
          <p:cNvSpPr>
            <a:spLocks noGrp="1"/>
          </p:cNvSpPr>
          <p:nvPr>
            <p:ph type="title"/>
          </p:nvPr>
        </p:nvSpPr>
        <p:spPr/>
        <p:txBody>
          <a:bodyPr/>
          <a:lstStyle/>
          <a:p>
            <a:r>
              <a:rPr lang="en-US" dirty="0"/>
              <a:t>Python Source Code</a:t>
            </a:r>
            <a:endParaRPr lang="en-IN" dirty="0"/>
          </a:p>
        </p:txBody>
      </p:sp>
      <p:sp>
        <p:nvSpPr>
          <p:cNvPr id="3" name="Content Placeholder 2">
            <a:extLst>
              <a:ext uri="{FF2B5EF4-FFF2-40B4-BE49-F238E27FC236}">
                <a16:creationId xmlns:a16="http://schemas.microsoft.com/office/drawing/2014/main" id="{974D18D2-D86A-0690-2BB8-18DC6255FA10}"/>
              </a:ext>
            </a:extLst>
          </p:cNvPr>
          <p:cNvSpPr>
            <a:spLocks noGrp="1"/>
          </p:cNvSpPr>
          <p:nvPr>
            <p:ph idx="1"/>
          </p:nvPr>
        </p:nvSpPr>
        <p:spPr/>
        <p:txBody>
          <a:bodyPr>
            <a:normAutofit fontScale="25000" lnSpcReduction="20000"/>
          </a:bodyPr>
          <a:lstStyle/>
          <a:p>
            <a:r>
              <a:rPr lang="en-US" dirty="0"/>
              <a:t>def </a:t>
            </a:r>
            <a:r>
              <a:rPr lang="en-US" dirty="0" err="1"/>
              <a:t>is_eligible</a:t>
            </a:r>
            <a:r>
              <a:rPr lang="en-US" dirty="0"/>
              <a:t>(marks, assessment, attendance):</a:t>
            </a:r>
          </a:p>
          <a:p>
            <a:r>
              <a:rPr lang="en-US" dirty="0"/>
              <a:t>    return (</a:t>
            </a:r>
          </a:p>
          <a:p>
            <a:r>
              <a:rPr lang="en-US" dirty="0"/>
              <a:t>        marks &gt;= 60</a:t>
            </a:r>
          </a:p>
          <a:p>
            <a:r>
              <a:rPr lang="en-US" dirty="0"/>
              <a:t>        and assessment &gt;= 50</a:t>
            </a:r>
          </a:p>
          <a:p>
            <a:r>
              <a:rPr lang="en-US" dirty="0"/>
              <a:t>        and attendance &gt;= 75</a:t>
            </a:r>
          </a:p>
          <a:p>
            <a:r>
              <a:rPr lang="en-US" dirty="0"/>
              <a:t>    )</a:t>
            </a:r>
          </a:p>
          <a:p>
            <a:endParaRPr lang="en-US" dirty="0"/>
          </a:p>
          <a:p>
            <a:endParaRPr lang="en-US" dirty="0"/>
          </a:p>
          <a:p>
            <a:r>
              <a:rPr lang="en-US" dirty="0"/>
              <a:t>def </a:t>
            </a:r>
            <a:r>
              <a:rPr lang="en-US" dirty="0" err="1"/>
              <a:t>calculate_score</a:t>
            </a:r>
            <a:r>
              <a:rPr lang="en-US" dirty="0"/>
              <a:t>(marks, assessment, attendance):</a:t>
            </a:r>
          </a:p>
          <a:p>
            <a:r>
              <a:rPr lang="en-US" dirty="0"/>
              <a:t>    return (</a:t>
            </a:r>
          </a:p>
          <a:p>
            <a:r>
              <a:rPr lang="en-US" dirty="0"/>
              <a:t>        0.5 * marks</a:t>
            </a:r>
          </a:p>
          <a:p>
            <a:r>
              <a:rPr lang="en-US" dirty="0"/>
              <a:t>        + 0.3 * assessment</a:t>
            </a:r>
          </a:p>
          <a:p>
            <a:r>
              <a:rPr lang="en-US" dirty="0"/>
              <a:t>        + 0.2 * attendance</a:t>
            </a:r>
          </a:p>
          <a:p>
            <a:r>
              <a:rPr lang="en-US" dirty="0"/>
              <a:t>    )</a:t>
            </a:r>
          </a:p>
          <a:p>
            <a:endParaRPr lang="en-US" dirty="0"/>
          </a:p>
          <a:p>
            <a:endParaRPr lang="en-US" dirty="0"/>
          </a:p>
          <a:p>
            <a:r>
              <a:rPr lang="en-US" dirty="0"/>
              <a:t>def </a:t>
            </a:r>
            <a:r>
              <a:rPr lang="en-US" dirty="0" err="1"/>
              <a:t>rank_key</a:t>
            </a:r>
            <a:r>
              <a:rPr lang="en-US" dirty="0"/>
              <a:t>(candidate):</a:t>
            </a:r>
          </a:p>
          <a:p>
            <a:r>
              <a:rPr lang="en-US" dirty="0"/>
              <a:t>    return (</a:t>
            </a:r>
          </a:p>
          <a:p>
            <a:r>
              <a:rPr lang="en-US" dirty="0"/>
              <a:t>        -candidate["score"],</a:t>
            </a:r>
          </a:p>
          <a:p>
            <a:r>
              <a:rPr lang="en-US" dirty="0"/>
              <a:t>        -candidate["marks"],</a:t>
            </a:r>
          </a:p>
          <a:p>
            <a:r>
              <a:rPr lang="en-US" dirty="0"/>
              <a:t>        -candidate["assessment"],</a:t>
            </a:r>
          </a:p>
          <a:p>
            <a:r>
              <a:rPr lang="en-US" dirty="0"/>
              <a:t>        -candidate["attendance"],</a:t>
            </a:r>
          </a:p>
          <a:p>
            <a:r>
              <a:rPr lang="en-US" dirty="0"/>
              <a:t>        candidate["name"].lower()</a:t>
            </a:r>
          </a:p>
          <a:p>
            <a:r>
              <a:rPr lang="en-US" dirty="0"/>
              <a:t>    )</a:t>
            </a:r>
          </a:p>
          <a:p>
            <a:endParaRPr lang="en-US" dirty="0"/>
          </a:p>
          <a:p>
            <a:endParaRPr lang="en-US" dirty="0"/>
          </a:p>
          <a:p>
            <a:r>
              <a:rPr lang="en-US" dirty="0"/>
              <a:t>def main():</a:t>
            </a:r>
          </a:p>
          <a:p>
            <a:r>
              <a:rPr lang="en-US" dirty="0"/>
              <a:t>    candidates = [</a:t>
            </a:r>
          </a:p>
          <a:p>
            <a:r>
              <a:rPr lang="en-US" dirty="0"/>
              <a:t>        {</a:t>
            </a:r>
          </a:p>
          <a:p>
            <a:r>
              <a:rPr lang="en-US" dirty="0"/>
              <a:t>            "name": "Alice",</a:t>
            </a:r>
          </a:p>
          <a:p>
            <a:r>
              <a:rPr lang="en-US" dirty="0"/>
              <a:t>            "marks": 85,</a:t>
            </a:r>
          </a:p>
          <a:p>
            <a:r>
              <a:rPr lang="en-US" dirty="0"/>
              <a:t>            "assessment": 90,</a:t>
            </a:r>
          </a:p>
          <a:p>
            <a:r>
              <a:rPr lang="en-US" dirty="0"/>
              <a:t>            "attendance": 95</a:t>
            </a:r>
          </a:p>
          <a:p>
            <a:r>
              <a:rPr lang="en-US" dirty="0"/>
              <a:t>        },</a:t>
            </a:r>
          </a:p>
          <a:p>
            <a:r>
              <a:rPr lang="en-US" dirty="0"/>
              <a:t>        {</a:t>
            </a:r>
          </a:p>
          <a:p>
            <a:r>
              <a:rPr lang="en-US" dirty="0"/>
              <a:t>            "name": "Bob",</a:t>
            </a:r>
          </a:p>
          <a:p>
            <a:r>
              <a:rPr lang="en-US" dirty="0"/>
              <a:t>            "marks": 75,</a:t>
            </a:r>
          </a:p>
          <a:p>
            <a:r>
              <a:rPr lang="en-US" dirty="0"/>
              <a:t>            "assessment": 80,</a:t>
            </a:r>
          </a:p>
          <a:p>
            <a:r>
              <a:rPr lang="en-US" dirty="0"/>
              <a:t>            "attendance": 78</a:t>
            </a:r>
          </a:p>
          <a:p>
            <a:r>
              <a:rPr lang="en-US" dirty="0"/>
              <a:t>        },</a:t>
            </a:r>
          </a:p>
          <a:p>
            <a:r>
              <a:rPr lang="en-US" dirty="0"/>
              <a:t>        {</a:t>
            </a:r>
          </a:p>
          <a:p>
            <a:r>
              <a:rPr lang="en-US" dirty="0"/>
              <a:t>            "name": "Charlie",</a:t>
            </a:r>
          </a:p>
          <a:p>
            <a:r>
              <a:rPr lang="en-US" dirty="0"/>
              <a:t>            "marks": 60,</a:t>
            </a:r>
          </a:p>
          <a:p>
            <a:r>
              <a:rPr lang="en-US" dirty="0"/>
              <a:t>            "assessment": 50,</a:t>
            </a:r>
          </a:p>
          <a:p>
            <a:r>
              <a:rPr lang="en-US" dirty="0"/>
              <a:t>            "attendance": 80</a:t>
            </a:r>
          </a:p>
          <a:p>
            <a:r>
              <a:rPr lang="en-US" dirty="0"/>
              <a:t>        },</a:t>
            </a:r>
          </a:p>
          <a:p>
            <a:r>
              <a:rPr lang="en-US" dirty="0"/>
              <a:t>        {</a:t>
            </a:r>
          </a:p>
          <a:p>
            <a:r>
              <a:rPr lang="en-US" dirty="0"/>
              <a:t>            "name": "David",</a:t>
            </a:r>
          </a:p>
          <a:p>
            <a:r>
              <a:rPr lang="en-US" dirty="0"/>
              <a:t>            "marks": 58,</a:t>
            </a:r>
          </a:p>
          <a:p>
            <a:r>
              <a:rPr lang="en-US" dirty="0"/>
              <a:t>            "assessment": 70,</a:t>
            </a:r>
          </a:p>
          <a:p>
            <a:r>
              <a:rPr lang="en-US" dirty="0"/>
              <a:t>            "attendance": 85</a:t>
            </a:r>
          </a:p>
          <a:p>
            <a:r>
              <a:rPr lang="en-US" dirty="0"/>
              <a:t>        },</a:t>
            </a:r>
          </a:p>
          <a:p>
            <a:r>
              <a:rPr lang="en-US" dirty="0"/>
              <a:t>        {</a:t>
            </a:r>
          </a:p>
          <a:p>
            <a:r>
              <a:rPr lang="en-US" dirty="0"/>
              <a:t>            "name": "Eva",</a:t>
            </a:r>
          </a:p>
          <a:p>
            <a:r>
              <a:rPr lang="en-US" dirty="0"/>
              <a:t>            "marks": 90,</a:t>
            </a:r>
          </a:p>
          <a:p>
            <a:r>
              <a:rPr lang="en-US" dirty="0"/>
              <a:t>            "assessment": 95,</a:t>
            </a:r>
          </a:p>
          <a:p>
            <a:r>
              <a:rPr lang="en-US" dirty="0"/>
              <a:t>            "attendance": 90</a:t>
            </a:r>
          </a:p>
          <a:p>
            <a:r>
              <a:rPr lang="en-US" dirty="0"/>
              <a:t>        }</a:t>
            </a:r>
          </a:p>
          <a:p>
            <a:r>
              <a:rPr lang="en-US" dirty="0"/>
              <a:t>    ]</a:t>
            </a:r>
          </a:p>
          <a:p>
            <a:endParaRPr lang="en-US" dirty="0"/>
          </a:p>
          <a:p>
            <a:r>
              <a:rPr lang="en-US" dirty="0"/>
              <a:t>    qualified = []</a:t>
            </a:r>
          </a:p>
          <a:p>
            <a:r>
              <a:rPr lang="en-US" dirty="0"/>
              <a:t>    ineligible = []</a:t>
            </a:r>
          </a:p>
          <a:p>
            <a:endParaRPr lang="en-US" dirty="0"/>
          </a:p>
          <a:p>
            <a:r>
              <a:rPr lang="en-US" dirty="0"/>
              <a:t>    for candidate in candidates:</a:t>
            </a:r>
          </a:p>
          <a:p>
            <a:r>
              <a:rPr lang="en-US" dirty="0"/>
              <a:t>        if </a:t>
            </a:r>
            <a:r>
              <a:rPr lang="en-US" dirty="0" err="1"/>
              <a:t>is_eligible</a:t>
            </a:r>
            <a:r>
              <a:rPr lang="en-US" dirty="0"/>
              <a:t>(</a:t>
            </a:r>
          </a:p>
          <a:p>
            <a:r>
              <a:rPr lang="en-US" dirty="0"/>
              <a:t>            candidate["marks"],</a:t>
            </a:r>
          </a:p>
          <a:p>
            <a:r>
              <a:rPr lang="en-US" dirty="0"/>
              <a:t>            candidate["assessment"],</a:t>
            </a:r>
          </a:p>
          <a:p>
            <a:r>
              <a:rPr lang="en-US" dirty="0"/>
              <a:t>            candidate["attendance"]</a:t>
            </a:r>
          </a:p>
          <a:p>
            <a:r>
              <a:rPr lang="en-US" dirty="0"/>
              <a:t>        ):</a:t>
            </a:r>
          </a:p>
          <a:p>
            <a:r>
              <a:rPr lang="en-US" dirty="0"/>
              <a:t>            candidate["score"] = </a:t>
            </a:r>
            <a:r>
              <a:rPr lang="en-US" dirty="0" err="1"/>
              <a:t>calculate_score</a:t>
            </a:r>
            <a:r>
              <a:rPr lang="en-US" dirty="0"/>
              <a:t>(</a:t>
            </a:r>
          </a:p>
          <a:p>
            <a:r>
              <a:rPr lang="en-US" dirty="0"/>
              <a:t>                candidate["marks"],</a:t>
            </a:r>
          </a:p>
          <a:p>
            <a:r>
              <a:rPr lang="en-US" dirty="0"/>
              <a:t>                candidate["assessment"],</a:t>
            </a:r>
          </a:p>
          <a:p>
            <a:r>
              <a:rPr lang="en-US" dirty="0"/>
              <a:t>                candidate["attendance"]</a:t>
            </a:r>
          </a:p>
          <a:p>
            <a:r>
              <a:rPr lang="en-US" dirty="0"/>
              <a:t>            )</a:t>
            </a:r>
          </a:p>
          <a:p>
            <a:r>
              <a:rPr lang="en-US" dirty="0"/>
              <a:t>            </a:t>
            </a:r>
            <a:r>
              <a:rPr lang="en-US" dirty="0" err="1"/>
              <a:t>qualified.append</a:t>
            </a:r>
            <a:r>
              <a:rPr lang="en-US" dirty="0"/>
              <a:t>(candidate)</a:t>
            </a:r>
          </a:p>
          <a:p>
            <a:r>
              <a:rPr lang="en-US" dirty="0"/>
              <a:t>        else:</a:t>
            </a:r>
          </a:p>
          <a:p>
            <a:r>
              <a:rPr lang="en-US" dirty="0"/>
              <a:t>            </a:t>
            </a:r>
            <a:r>
              <a:rPr lang="en-US" dirty="0" err="1"/>
              <a:t>ineligible.append</a:t>
            </a:r>
            <a:r>
              <a:rPr lang="en-US" dirty="0"/>
              <a:t>(candidate)</a:t>
            </a:r>
          </a:p>
          <a:p>
            <a:endParaRPr lang="en-US" dirty="0"/>
          </a:p>
          <a:p>
            <a:r>
              <a:rPr lang="en-US" dirty="0"/>
              <a:t>    </a:t>
            </a:r>
            <a:r>
              <a:rPr lang="en-US" dirty="0" err="1"/>
              <a:t>qualified.sort</a:t>
            </a:r>
            <a:r>
              <a:rPr lang="en-US" dirty="0"/>
              <a:t>(key=</a:t>
            </a:r>
            <a:r>
              <a:rPr lang="en-US" dirty="0" err="1"/>
              <a:t>rank_key</a:t>
            </a:r>
            <a:r>
              <a:rPr lang="en-US" dirty="0"/>
              <a:t>)</a:t>
            </a:r>
          </a:p>
          <a:p>
            <a:endParaRPr lang="en-US" dirty="0"/>
          </a:p>
          <a:p>
            <a:r>
              <a:rPr lang="en-US" dirty="0"/>
              <a:t>    print("RANKED QUALIFIED CANDIDATES")</a:t>
            </a:r>
          </a:p>
          <a:p>
            <a:r>
              <a:rPr lang="en-US" dirty="0"/>
              <a:t>    for rank, candidate in enumerate(qualified, start=1):</a:t>
            </a:r>
          </a:p>
          <a:p>
            <a:r>
              <a:rPr lang="en-US" dirty="0"/>
              <a:t>        print(</a:t>
            </a:r>
          </a:p>
          <a:p>
            <a:r>
              <a:rPr lang="en-US" dirty="0"/>
              <a:t>            rank,</a:t>
            </a:r>
          </a:p>
          <a:p>
            <a:r>
              <a:rPr lang="en-US" dirty="0"/>
              <a:t>            candidate["name"],</a:t>
            </a:r>
          </a:p>
          <a:p>
            <a:r>
              <a:rPr lang="en-US" dirty="0"/>
              <a:t>            "- Score:",</a:t>
            </a:r>
          </a:p>
          <a:p>
            <a:r>
              <a:rPr lang="en-US" dirty="0"/>
              <a:t>            round(candidate["score"], 2)</a:t>
            </a:r>
          </a:p>
          <a:p>
            <a:r>
              <a:rPr lang="en-US" dirty="0"/>
              <a:t>        )</a:t>
            </a:r>
          </a:p>
          <a:p>
            <a:endParaRPr lang="en-US" dirty="0"/>
          </a:p>
          <a:p>
            <a:r>
              <a:rPr lang="en-US" dirty="0"/>
              <a:t>    print("\\nINELIGIBLE CANDIDATES")</a:t>
            </a:r>
          </a:p>
          <a:p>
            <a:r>
              <a:rPr lang="en-US" dirty="0"/>
              <a:t>    for candidate in ineligible:</a:t>
            </a:r>
          </a:p>
          <a:p>
            <a:r>
              <a:rPr lang="en-US" dirty="0"/>
              <a:t>        print(candidate["name"])</a:t>
            </a:r>
          </a:p>
          <a:p>
            <a:endParaRPr lang="en-US" dirty="0"/>
          </a:p>
          <a:p>
            <a:endParaRPr lang="en-US" dirty="0"/>
          </a:p>
          <a:p>
            <a:r>
              <a:rPr lang="en-US" dirty="0"/>
              <a:t>if __name__ == "__main__":</a:t>
            </a:r>
          </a:p>
          <a:p>
            <a:r>
              <a:rPr lang="en-US" dirty="0"/>
              <a:t>    main()</a:t>
            </a:r>
          </a:p>
          <a:p>
            <a:endParaRPr lang="en-IN" dirty="0"/>
          </a:p>
        </p:txBody>
      </p:sp>
    </p:spTree>
    <p:extLst>
      <p:ext uri="{BB962C8B-B14F-4D97-AF65-F5344CB8AC3E}">
        <p14:creationId xmlns:p14="http://schemas.microsoft.com/office/powerpoint/2010/main" val="3073505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613E0-52FE-4581-B6C5-5A19933DC9B9}"/>
              </a:ext>
            </a:extLst>
          </p:cNvPr>
          <p:cNvSpPr>
            <a:spLocks noGrp="1"/>
          </p:cNvSpPr>
          <p:nvPr>
            <p:ph type="title"/>
          </p:nvPr>
        </p:nvSpPr>
        <p:spPr/>
        <p:txBody>
          <a:bodyPr/>
          <a:lstStyle/>
          <a:p>
            <a:r>
              <a:rPr lang="en-US" dirty="0"/>
              <a:t>Test Cases</a:t>
            </a:r>
            <a:endParaRPr lang="en-IN" dirty="0"/>
          </a:p>
        </p:txBody>
      </p:sp>
      <p:graphicFrame>
        <p:nvGraphicFramePr>
          <p:cNvPr id="4" name="Content Placeholder 3">
            <a:extLst>
              <a:ext uri="{FF2B5EF4-FFF2-40B4-BE49-F238E27FC236}">
                <a16:creationId xmlns:a16="http://schemas.microsoft.com/office/drawing/2014/main" id="{2788530C-29F7-C8B9-74F6-66D78BD7B6C2}"/>
              </a:ext>
            </a:extLst>
          </p:cNvPr>
          <p:cNvGraphicFramePr>
            <a:graphicFrameLocks noGrp="1"/>
          </p:cNvGraphicFramePr>
          <p:nvPr>
            <p:ph idx="1"/>
            <p:extLst>
              <p:ext uri="{D42A27DB-BD31-4B8C-83A1-F6EECF244321}">
                <p14:modId xmlns:p14="http://schemas.microsoft.com/office/powerpoint/2010/main" val="350163241"/>
              </p:ext>
            </p:extLst>
          </p:nvPr>
        </p:nvGraphicFramePr>
        <p:xfrm>
          <a:off x="304800" y="1594338"/>
          <a:ext cx="11049000" cy="4396152"/>
        </p:xfrm>
        <a:graphic>
          <a:graphicData uri="http://schemas.openxmlformats.org/drawingml/2006/table">
            <a:tbl>
              <a:tblPr/>
              <a:tblGrid>
                <a:gridCol w="3683000">
                  <a:extLst>
                    <a:ext uri="{9D8B030D-6E8A-4147-A177-3AD203B41FA5}">
                      <a16:colId xmlns:a16="http://schemas.microsoft.com/office/drawing/2014/main" val="3090390861"/>
                    </a:ext>
                  </a:extLst>
                </a:gridCol>
                <a:gridCol w="3683000">
                  <a:extLst>
                    <a:ext uri="{9D8B030D-6E8A-4147-A177-3AD203B41FA5}">
                      <a16:colId xmlns:a16="http://schemas.microsoft.com/office/drawing/2014/main" val="198135941"/>
                    </a:ext>
                  </a:extLst>
                </a:gridCol>
                <a:gridCol w="3683000">
                  <a:extLst>
                    <a:ext uri="{9D8B030D-6E8A-4147-A177-3AD203B41FA5}">
                      <a16:colId xmlns:a16="http://schemas.microsoft.com/office/drawing/2014/main" val="3511443423"/>
                    </a:ext>
                  </a:extLst>
                </a:gridCol>
              </a:tblGrid>
              <a:tr h="488462">
                <a:tc>
                  <a:txBody>
                    <a:bodyPr/>
                    <a:lstStyle/>
                    <a:p>
                      <a:pPr>
                        <a:buNone/>
                      </a:pPr>
                      <a:r>
                        <a:rPr lang="en-IN"/>
                        <a:t>Test Case</a:t>
                      </a:r>
                    </a:p>
                  </a:txBody>
                  <a:tcPr anchor="ctr">
                    <a:lnL>
                      <a:noFill/>
                    </a:lnL>
                    <a:lnR>
                      <a:noFill/>
                    </a:lnR>
                    <a:lnT>
                      <a:noFill/>
                    </a:lnT>
                    <a:lnB>
                      <a:noFill/>
                    </a:lnB>
                    <a:noFill/>
                  </a:tcPr>
                </a:tc>
                <a:tc>
                  <a:txBody>
                    <a:bodyPr/>
                    <a:lstStyle/>
                    <a:p>
                      <a:pPr>
                        <a:buNone/>
                      </a:pPr>
                      <a:r>
                        <a:rPr lang="en-IN"/>
                        <a:t>Input</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1785082436"/>
                  </a:ext>
                </a:extLst>
              </a:tr>
              <a:tr h="854807">
                <a:tc>
                  <a:txBody>
                    <a:bodyPr/>
                    <a:lstStyle/>
                    <a:p>
                      <a:pPr>
                        <a:buNone/>
                      </a:pPr>
                      <a:r>
                        <a:rPr lang="en-IN"/>
                        <a:t>1</a:t>
                      </a:r>
                    </a:p>
                  </a:txBody>
                  <a:tcPr anchor="ctr">
                    <a:lnL>
                      <a:noFill/>
                    </a:lnL>
                    <a:lnR>
                      <a:noFill/>
                    </a:lnR>
                    <a:lnT>
                      <a:noFill/>
                    </a:lnT>
                    <a:lnB>
                      <a:noFill/>
                    </a:lnB>
                    <a:noFill/>
                  </a:tcPr>
                </a:tc>
                <a:tc>
                  <a:txBody>
                    <a:bodyPr/>
                    <a:lstStyle/>
                    <a:p>
                      <a:pPr>
                        <a:buNone/>
                      </a:pPr>
                      <a:r>
                        <a:rPr lang="en-US"/>
                        <a:t>Marks 60, assessment 50, attendance 75</a:t>
                      </a:r>
                    </a:p>
                  </a:txBody>
                  <a:tcPr anchor="ctr">
                    <a:lnL>
                      <a:noFill/>
                    </a:lnL>
                    <a:lnR>
                      <a:noFill/>
                    </a:lnR>
                    <a:lnT>
                      <a:noFill/>
                    </a:lnT>
                    <a:lnB>
                      <a:noFill/>
                    </a:lnB>
                    <a:noFill/>
                  </a:tcPr>
                </a:tc>
                <a:tc>
                  <a:txBody>
                    <a:bodyPr/>
                    <a:lstStyle/>
                    <a:p>
                      <a:pPr>
                        <a:buNone/>
                      </a:pPr>
                      <a:r>
                        <a:rPr lang="en-IN"/>
                        <a:t>Eligible</a:t>
                      </a:r>
                    </a:p>
                  </a:txBody>
                  <a:tcPr anchor="ctr">
                    <a:lnL>
                      <a:noFill/>
                    </a:lnL>
                    <a:lnR>
                      <a:noFill/>
                    </a:lnR>
                    <a:lnT>
                      <a:noFill/>
                    </a:lnT>
                    <a:lnB>
                      <a:noFill/>
                    </a:lnB>
                    <a:noFill/>
                  </a:tcPr>
                </a:tc>
                <a:extLst>
                  <a:ext uri="{0D108BD9-81ED-4DB2-BD59-A6C34878D82A}">
                    <a16:rowId xmlns:a16="http://schemas.microsoft.com/office/drawing/2014/main" val="14221254"/>
                  </a:ext>
                </a:extLst>
              </a:tr>
              <a:tr h="854807">
                <a:tc>
                  <a:txBody>
                    <a:bodyPr/>
                    <a:lstStyle/>
                    <a:p>
                      <a:pPr>
                        <a:buNone/>
                      </a:pPr>
                      <a:r>
                        <a:rPr lang="en-IN"/>
                        <a:t>2</a:t>
                      </a:r>
                    </a:p>
                  </a:txBody>
                  <a:tcPr anchor="ctr">
                    <a:lnL>
                      <a:noFill/>
                    </a:lnL>
                    <a:lnR>
                      <a:noFill/>
                    </a:lnR>
                    <a:lnT>
                      <a:noFill/>
                    </a:lnT>
                    <a:lnB>
                      <a:noFill/>
                    </a:lnB>
                    <a:noFill/>
                  </a:tcPr>
                </a:tc>
                <a:tc>
                  <a:txBody>
                    <a:bodyPr/>
                    <a:lstStyle/>
                    <a:p>
                      <a:pPr>
                        <a:buNone/>
                      </a:pPr>
                      <a:r>
                        <a:rPr lang="en-US"/>
                        <a:t>Marks 59, assessment 70, attendance 80</a:t>
                      </a:r>
                    </a:p>
                  </a:txBody>
                  <a:tcPr anchor="ctr">
                    <a:lnL>
                      <a:noFill/>
                    </a:lnL>
                    <a:lnR>
                      <a:noFill/>
                    </a:lnR>
                    <a:lnT>
                      <a:noFill/>
                    </a:lnT>
                    <a:lnB>
                      <a:noFill/>
                    </a:lnB>
                    <a:noFill/>
                  </a:tcPr>
                </a:tc>
                <a:tc>
                  <a:txBody>
                    <a:bodyPr/>
                    <a:lstStyle/>
                    <a:p>
                      <a:pPr>
                        <a:buNone/>
                      </a:pPr>
                      <a:r>
                        <a:rPr lang="en-IN"/>
                        <a:t>Ineligible</a:t>
                      </a:r>
                    </a:p>
                  </a:txBody>
                  <a:tcPr anchor="ctr">
                    <a:lnL>
                      <a:noFill/>
                    </a:lnL>
                    <a:lnR>
                      <a:noFill/>
                    </a:lnR>
                    <a:lnT>
                      <a:noFill/>
                    </a:lnT>
                    <a:lnB>
                      <a:noFill/>
                    </a:lnB>
                    <a:noFill/>
                  </a:tcPr>
                </a:tc>
                <a:extLst>
                  <a:ext uri="{0D108BD9-81ED-4DB2-BD59-A6C34878D82A}">
                    <a16:rowId xmlns:a16="http://schemas.microsoft.com/office/drawing/2014/main" val="724163976"/>
                  </a:ext>
                </a:extLst>
              </a:tr>
              <a:tr h="854807">
                <a:tc>
                  <a:txBody>
                    <a:bodyPr/>
                    <a:lstStyle/>
                    <a:p>
                      <a:pPr>
                        <a:buNone/>
                      </a:pPr>
                      <a:r>
                        <a:rPr lang="en-IN"/>
                        <a:t>3</a:t>
                      </a:r>
                    </a:p>
                  </a:txBody>
                  <a:tcPr anchor="ctr">
                    <a:lnL>
                      <a:noFill/>
                    </a:lnL>
                    <a:lnR>
                      <a:noFill/>
                    </a:lnR>
                    <a:lnT>
                      <a:noFill/>
                    </a:lnT>
                    <a:lnB>
                      <a:noFill/>
                    </a:lnB>
                    <a:noFill/>
                  </a:tcPr>
                </a:tc>
                <a:tc>
                  <a:txBody>
                    <a:bodyPr/>
                    <a:lstStyle/>
                    <a:p>
                      <a:pPr>
                        <a:buNone/>
                      </a:pPr>
                      <a:r>
                        <a:rPr lang="en-IN"/>
                        <a:t>Equal composite scores, different marks</a:t>
                      </a:r>
                    </a:p>
                  </a:txBody>
                  <a:tcPr anchor="ctr">
                    <a:lnL>
                      <a:noFill/>
                    </a:lnL>
                    <a:lnR>
                      <a:noFill/>
                    </a:lnR>
                    <a:lnT>
                      <a:noFill/>
                    </a:lnT>
                    <a:lnB>
                      <a:noFill/>
                    </a:lnB>
                    <a:noFill/>
                  </a:tcPr>
                </a:tc>
                <a:tc>
                  <a:txBody>
                    <a:bodyPr/>
                    <a:lstStyle/>
                    <a:p>
                      <a:pPr>
                        <a:buNone/>
                      </a:pPr>
                      <a:r>
                        <a:rPr lang="en-IN"/>
                        <a:t>Higher marks ranked first</a:t>
                      </a:r>
                    </a:p>
                  </a:txBody>
                  <a:tcPr anchor="ctr">
                    <a:lnL>
                      <a:noFill/>
                    </a:lnL>
                    <a:lnR>
                      <a:noFill/>
                    </a:lnR>
                    <a:lnT>
                      <a:noFill/>
                    </a:lnT>
                    <a:lnB>
                      <a:noFill/>
                    </a:lnB>
                    <a:noFill/>
                  </a:tcPr>
                </a:tc>
                <a:extLst>
                  <a:ext uri="{0D108BD9-81ED-4DB2-BD59-A6C34878D82A}">
                    <a16:rowId xmlns:a16="http://schemas.microsoft.com/office/drawing/2014/main" val="3228909463"/>
                  </a:ext>
                </a:extLst>
              </a:tr>
              <a:tr h="854807">
                <a:tc>
                  <a:txBody>
                    <a:bodyPr/>
                    <a:lstStyle/>
                    <a:p>
                      <a:pPr>
                        <a:buNone/>
                      </a:pPr>
                      <a:r>
                        <a:rPr lang="en-IN"/>
                        <a:t>4</a:t>
                      </a:r>
                    </a:p>
                  </a:txBody>
                  <a:tcPr anchor="ctr">
                    <a:lnL>
                      <a:noFill/>
                    </a:lnL>
                    <a:lnR>
                      <a:noFill/>
                    </a:lnR>
                    <a:lnT>
                      <a:noFill/>
                    </a:lnT>
                    <a:lnB>
                      <a:noFill/>
                    </a:lnB>
                    <a:noFill/>
                  </a:tcPr>
                </a:tc>
                <a:tc>
                  <a:txBody>
                    <a:bodyPr/>
                    <a:lstStyle/>
                    <a:p>
                      <a:pPr>
                        <a:buNone/>
                      </a:pPr>
                      <a:r>
                        <a:rPr lang="en-US"/>
                        <a:t>Equal scores and marks, different assessment scores</a:t>
                      </a:r>
                    </a:p>
                  </a:txBody>
                  <a:tcPr anchor="ctr">
                    <a:lnL>
                      <a:noFill/>
                    </a:lnL>
                    <a:lnR>
                      <a:noFill/>
                    </a:lnR>
                    <a:lnT>
                      <a:noFill/>
                    </a:lnT>
                    <a:lnB>
                      <a:noFill/>
                    </a:lnB>
                    <a:noFill/>
                  </a:tcPr>
                </a:tc>
                <a:tc>
                  <a:txBody>
                    <a:bodyPr/>
                    <a:lstStyle/>
                    <a:p>
                      <a:pPr>
                        <a:buNone/>
                      </a:pPr>
                      <a:r>
                        <a:rPr lang="en-IN"/>
                        <a:t>Higher assessment ranked first</a:t>
                      </a:r>
                    </a:p>
                  </a:txBody>
                  <a:tcPr anchor="ctr">
                    <a:lnL>
                      <a:noFill/>
                    </a:lnL>
                    <a:lnR>
                      <a:noFill/>
                    </a:lnR>
                    <a:lnT>
                      <a:noFill/>
                    </a:lnT>
                    <a:lnB>
                      <a:noFill/>
                    </a:lnB>
                    <a:noFill/>
                  </a:tcPr>
                </a:tc>
                <a:extLst>
                  <a:ext uri="{0D108BD9-81ED-4DB2-BD59-A6C34878D82A}">
                    <a16:rowId xmlns:a16="http://schemas.microsoft.com/office/drawing/2014/main" val="1249435675"/>
                  </a:ext>
                </a:extLst>
              </a:tr>
              <a:tr h="488462">
                <a:tc>
                  <a:txBody>
                    <a:bodyPr/>
                    <a:lstStyle/>
                    <a:p>
                      <a:pPr>
                        <a:buNone/>
                      </a:pPr>
                      <a:r>
                        <a:rPr lang="en-IN"/>
                        <a:t>5</a:t>
                      </a:r>
                    </a:p>
                  </a:txBody>
                  <a:tcPr anchor="ctr">
                    <a:lnL>
                      <a:noFill/>
                    </a:lnL>
                    <a:lnR>
                      <a:noFill/>
                    </a:lnR>
                    <a:lnT>
                      <a:noFill/>
                    </a:lnT>
                    <a:lnB>
                      <a:noFill/>
                    </a:lnB>
                    <a:noFill/>
                  </a:tcPr>
                </a:tc>
                <a:tc>
                  <a:txBody>
                    <a:bodyPr/>
                    <a:lstStyle/>
                    <a:p>
                      <a:pPr>
                        <a:buNone/>
                      </a:pPr>
                      <a:r>
                        <a:rPr lang="en-IN"/>
                        <a:t>All numerical criteria equal</a:t>
                      </a:r>
                    </a:p>
                  </a:txBody>
                  <a:tcPr anchor="ctr">
                    <a:lnL>
                      <a:noFill/>
                    </a:lnL>
                    <a:lnR>
                      <a:noFill/>
                    </a:lnR>
                    <a:lnT>
                      <a:noFill/>
                    </a:lnT>
                    <a:lnB>
                      <a:noFill/>
                    </a:lnB>
                    <a:noFill/>
                  </a:tcPr>
                </a:tc>
                <a:tc>
                  <a:txBody>
                    <a:bodyPr/>
                    <a:lstStyle/>
                    <a:p>
                      <a:pPr>
                        <a:buNone/>
                      </a:pPr>
                      <a:r>
                        <a:rPr lang="en-IN" dirty="0"/>
                        <a:t>Alphabetical order of names</a:t>
                      </a:r>
                    </a:p>
                  </a:txBody>
                  <a:tcPr anchor="ctr">
                    <a:lnL>
                      <a:noFill/>
                    </a:lnL>
                    <a:lnR>
                      <a:noFill/>
                    </a:lnR>
                    <a:lnT>
                      <a:noFill/>
                    </a:lnT>
                    <a:lnB>
                      <a:noFill/>
                    </a:lnB>
                    <a:noFill/>
                  </a:tcPr>
                </a:tc>
                <a:extLst>
                  <a:ext uri="{0D108BD9-81ED-4DB2-BD59-A6C34878D82A}">
                    <a16:rowId xmlns:a16="http://schemas.microsoft.com/office/drawing/2014/main" val="3930592748"/>
                  </a:ext>
                </a:extLst>
              </a:tr>
            </a:tbl>
          </a:graphicData>
        </a:graphic>
      </p:graphicFrame>
    </p:spTree>
    <p:extLst>
      <p:ext uri="{BB962C8B-B14F-4D97-AF65-F5344CB8AC3E}">
        <p14:creationId xmlns:p14="http://schemas.microsoft.com/office/powerpoint/2010/main" val="1620652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B9CAB-33E8-CA78-E0F8-A04546E334D4}"/>
              </a:ext>
            </a:extLst>
          </p:cNvPr>
          <p:cNvSpPr>
            <a:spLocks noGrp="1"/>
          </p:cNvSpPr>
          <p:nvPr>
            <p:ph type="title"/>
          </p:nvPr>
        </p:nvSpPr>
        <p:spPr/>
        <p:txBody>
          <a:bodyPr/>
          <a:lstStyle/>
          <a:p>
            <a:r>
              <a:rPr lang="en-US" dirty="0"/>
              <a:t>CODE and Output</a:t>
            </a:r>
            <a:endParaRPr lang="en-IN" dirty="0"/>
          </a:p>
        </p:txBody>
      </p:sp>
      <p:sp>
        <p:nvSpPr>
          <p:cNvPr id="3" name="Text Placeholder 2">
            <a:extLst>
              <a:ext uri="{FF2B5EF4-FFF2-40B4-BE49-F238E27FC236}">
                <a16:creationId xmlns:a16="http://schemas.microsoft.com/office/drawing/2014/main" id="{75B925DD-75F5-F3D1-25F1-67C51994554B}"/>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A582DF0C-0A7E-39D9-48DB-51EBD88ECA0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240277" y="2505075"/>
            <a:ext cx="2356808" cy="3684588"/>
          </a:xfrm>
        </p:spPr>
      </p:pic>
      <p:sp>
        <p:nvSpPr>
          <p:cNvPr id="5" name="Text Placeholder 4">
            <a:extLst>
              <a:ext uri="{FF2B5EF4-FFF2-40B4-BE49-F238E27FC236}">
                <a16:creationId xmlns:a16="http://schemas.microsoft.com/office/drawing/2014/main" id="{0BC7F521-D9CA-94E9-5583-E97AE1AAD2EF}"/>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20BE6594-A2E3-B6AB-FF65-129D37BEDAE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779905" y="3094892"/>
            <a:ext cx="4615786" cy="2081945"/>
          </a:xfrm>
        </p:spPr>
      </p:pic>
    </p:spTree>
    <p:extLst>
      <p:ext uri="{BB962C8B-B14F-4D97-AF65-F5344CB8AC3E}">
        <p14:creationId xmlns:p14="http://schemas.microsoft.com/office/powerpoint/2010/main" val="2323652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B8E7-95D9-0404-224D-1756F46E80E4}"/>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1FA2B79-562D-0D77-C659-D0B539C6D3B2}"/>
              </a:ext>
            </a:extLst>
          </p:cNvPr>
          <p:cNvSpPr>
            <a:spLocks noGrp="1"/>
          </p:cNvSpPr>
          <p:nvPr>
            <p:ph idx="1"/>
          </p:nvPr>
        </p:nvSpPr>
        <p:spPr/>
        <p:txBody>
          <a:bodyPr/>
          <a:lstStyle/>
          <a:p>
            <a:r>
              <a:rPr lang="en-US" dirty="0"/>
              <a:t>The Campus Event Seating and Entry Validation program demonstrates how Python can be used to manage seating arrangements and ticket validation efficiently.</a:t>
            </a:r>
          </a:p>
          <a:p>
            <a:r>
              <a:rPr lang="en-US" dirty="0"/>
              <a:t>Using nested lists, sets, loops, functions, and conditional statements, the program assigns seats, validates registration IDs, detects duplicate entries, identifies invalid tickets, and calculates available seating capacity.</a:t>
            </a:r>
          </a:p>
          <a:p>
            <a:r>
              <a:rPr lang="en-US" dirty="0"/>
              <a:t>This case study demonstrates the practical application of Python programming concepts to campus event management.</a:t>
            </a:r>
          </a:p>
          <a:p>
            <a:endParaRPr lang="en-IN" dirty="0"/>
          </a:p>
        </p:txBody>
      </p:sp>
    </p:spTree>
    <p:extLst>
      <p:ext uri="{BB962C8B-B14F-4D97-AF65-F5344CB8AC3E}">
        <p14:creationId xmlns:p14="http://schemas.microsoft.com/office/powerpoint/2010/main" val="156967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2AD55-B596-00A3-CF55-96EF2ACBC0F7}"/>
              </a:ext>
            </a:extLst>
          </p:cNvPr>
          <p:cNvSpPr>
            <a:spLocks noGrp="1"/>
          </p:cNvSpPr>
          <p:nvPr>
            <p:ph type="ctrTitle"/>
          </p:nvPr>
        </p:nvSpPr>
        <p:spPr/>
        <p:txBody>
          <a:bodyPr/>
          <a:lstStyle/>
          <a:p>
            <a:r>
              <a:rPr lang="en-US" dirty="0"/>
              <a:t>CASE-83:Food Supply Chain Stock Reconciliation</a:t>
            </a:r>
            <a:endParaRPr lang="en-IN" dirty="0"/>
          </a:p>
        </p:txBody>
      </p:sp>
      <p:sp>
        <p:nvSpPr>
          <p:cNvPr id="3" name="Subtitle 2">
            <a:extLst>
              <a:ext uri="{FF2B5EF4-FFF2-40B4-BE49-F238E27FC236}">
                <a16:creationId xmlns:a16="http://schemas.microsoft.com/office/drawing/2014/main" id="{EDB9F1A4-671F-FDB6-DC14-63116A8378C2}"/>
              </a:ext>
            </a:extLst>
          </p:cNvPr>
          <p:cNvSpPr>
            <a:spLocks noGrp="1"/>
          </p:cNvSpPr>
          <p:nvPr>
            <p:ph type="subTitle" idx="1"/>
          </p:nvPr>
        </p:nvSpPr>
        <p:spPr/>
        <p:txBody>
          <a:bodyPr>
            <a:normAutofit fontScale="70000" lnSpcReduction="20000"/>
          </a:bodyPr>
          <a:lstStyle/>
          <a:p>
            <a:r>
              <a:rPr lang="en-IN" dirty="0"/>
              <a:t>Problem Statement</a:t>
            </a:r>
          </a:p>
          <a:p>
            <a:r>
              <a:rPr lang="en-US" dirty="0"/>
              <a:t>Food supply chains distribute food items from central warehouses to multiple locations such as retail stores, distribution centers, and community kitchens. During transportation and distribution, discrepancies may occur due to damaged goods, incorrect entries, or stock shortages.</a:t>
            </a:r>
          </a:p>
          <a:p>
            <a:r>
              <a:rPr lang="en-US" dirty="0"/>
              <a:t>The objective of this project is to develop a Python program that compares quantities received, distributed, damaged, and remaining across several locations. The program identifies stock discrepancies and calculates the quantity that must be replenished at each location.</a:t>
            </a:r>
          </a:p>
          <a:p>
            <a:endParaRPr lang="en-IN" dirty="0"/>
          </a:p>
        </p:txBody>
      </p:sp>
    </p:spTree>
    <p:extLst>
      <p:ext uri="{BB962C8B-B14F-4D97-AF65-F5344CB8AC3E}">
        <p14:creationId xmlns:p14="http://schemas.microsoft.com/office/powerpoint/2010/main" val="3811184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E21B-5973-B18F-0D69-3413882BA31B}"/>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E6CEEF56-968D-621A-C5DA-0D62B6B10D4A}"/>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Record food stock received at different locations.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Calculate the total quantity of food distributed.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Record damaged food quantities.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Calculate the expected remaining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expected stock with physically available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stock discrepancies and shortages.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Calculate replenishment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Display a stock reconciliation report.</a:t>
            </a:r>
          </a:p>
        </p:txBody>
      </p:sp>
    </p:spTree>
    <p:extLst>
      <p:ext uri="{BB962C8B-B14F-4D97-AF65-F5344CB8AC3E}">
        <p14:creationId xmlns:p14="http://schemas.microsoft.com/office/powerpoint/2010/main" val="1699341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059C7-22E5-B6B0-C147-11F3631B4A72}"/>
              </a:ext>
            </a:extLst>
          </p:cNvPr>
          <p:cNvSpPr>
            <a:spLocks noGrp="1"/>
          </p:cNvSpPr>
          <p:nvPr>
            <p:ph type="title"/>
          </p:nvPr>
        </p:nvSpPr>
        <p:spPr/>
        <p:txBody>
          <a:bodyPr/>
          <a:lstStyle/>
          <a:p>
            <a:r>
              <a:rPr lang="en-IN" dirty="0"/>
              <a:t>Assumptions</a:t>
            </a:r>
          </a:p>
        </p:txBody>
      </p:sp>
      <p:sp>
        <p:nvSpPr>
          <p:cNvPr id="4" name="Rectangle 1">
            <a:extLst>
              <a:ext uri="{FF2B5EF4-FFF2-40B4-BE49-F238E27FC236}">
                <a16:creationId xmlns:a16="http://schemas.microsoft.com/office/drawing/2014/main" id="{058B9D3C-3A6E-8ABA-F836-5129C9C1DAC5}"/>
              </a:ext>
            </a:extLst>
          </p:cNvPr>
          <p:cNvSpPr>
            <a:spLocks noGrp="1" noChangeArrowheads="1"/>
          </p:cNvSpPr>
          <p:nvPr>
            <p:ph idx="1"/>
          </p:nvPr>
        </p:nvSpPr>
        <p:spPr bwMode="auto">
          <a:xfrm>
            <a:off x="339969" y="3231406"/>
            <a:ext cx="1193409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Stock quantities are measured in kilograms (kg).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location has a recorded opening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All quantities are non-negative numbers.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Damaged stock is not available for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Expected closing stock is calculated using opening stock, received stock, distributed stock, and damaged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discrepancy occurs when the actual closing stock differs from the expected closing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minimum required stock level is specified for each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Replenishment is calculated to restore stock to the minimum required level.</a:t>
            </a:r>
          </a:p>
        </p:txBody>
      </p:sp>
    </p:spTree>
    <p:extLst>
      <p:ext uri="{BB962C8B-B14F-4D97-AF65-F5344CB8AC3E}">
        <p14:creationId xmlns:p14="http://schemas.microsoft.com/office/powerpoint/2010/main" val="3556268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4710A-C8D4-7D6C-E99C-781855F98876}"/>
              </a:ext>
            </a:extLst>
          </p:cNvPr>
          <p:cNvSpPr>
            <a:spLocks noGrp="1"/>
          </p:cNvSpPr>
          <p:nvPr>
            <p:ph type="title"/>
          </p:nvPr>
        </p:nvSpPr>
        <p:spPr/>
        <p:txBody>
          <a:bodyPr/>
          <a:lstStyle/>
          <a:p>
            <a:r>
              <a:rPr lang="en-US" dirty="0"/>
              <a:t>Algorithm</a:t>
            </a:r>
            <a:endParaRPr lang="en-IN" dirty="0"/>
          </a:p>
        </p:txBody>
      </p:sp>
      <p:sp>
        <p:nvSpPr>
          <p:cNvPr id="4" name="Rectangle 1">
            <a:extLst>
              <a:ext uri="{FF2B5EF4-FFF2-40B4-BE49-F238E27FC236}">
                <a16:creationId xmlns:a16="http://schemas.microsoft.com/office/drawing/2014/main" id="{95D16030-1F02-9695-75BC-6108E840751F}"/>
              </a:ext>
            </a:extLst>
          </p:cNvPr>
          <p:cNvSpPr>
            <a:spLocks noGrp="1" noChangeArrowheads="1"/>
          </p:cNvSpPr>
          <p:nvPr>
            <p:ph idx="1"/>
          </p:nvPr>
        </p:nvSpPr>
        <p:spPr bwMode="auto">
          <a:xfrm>
            <a:off x="0" y="2616600"/>
            <a:ext cx="1593494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Enter the number of locations.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For each location, input the opening stock, received quantity, distributed quantity, damaged quantity, actual closing stock, and minimum stock level.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total available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expected closing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Compare expected closing stock with actual closing stock.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any stock discrepancy.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replenishment quantity.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reconciliation report for each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overall totals.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2678003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2C7F0-638E-9974-D8B1-D1FEBFF44874}"/>
              </a:ext>
            </a:extLst>
          </p:cNvPr>
          <p:cNvSpPr>
            <a:spLocks noGrp="1"/>
          </p:cNvSpPr>
          <p:nvPr>
            <p:ph type="title"/>
          </p:nvPr>
        </p:nvSpPr>
        <p:spPr/>
        <p:txBody>
          <a:bodyPr/>
          <a:lstStyle/>
          <a:p>
            <a:r>
              <a:rPr lang="en-US" dirty="0"/>
              <a:t>Flow Chart</a:t>
            </a:r>
            <a:endParaRPr lang="en-IN" dirty="0"/>
          </a:p>
        </p:txBody>
      </p:sp>
      <p:pic>
        <p:nvPicPr>
          <p:cNvPr id="5" name="Content Placeholder 4">
            <a:extLst>
              <a:ext uri="{FF2B5EF4-FFF2-40B4-BE49-F238E27FC236}">
                <a16:creationId xmlns:a16="http://schemas.microsoft.com/office/drawing/2014/main" id="{61EE9B90-EDE1-B8F8-F82F-E06A9D6153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6523" y="1047078"/>
            <a:ext cx="3810000" cy="5715001"/>
          </a:xfrm>
        </p:spPr>
      </p:pic>
    </p:spTree>
    <p:extLst>
      <p:ext uri="{BB962C8B-B14F-4D97-AF65-F5344CB8AC3E}">
        <p14:creationId xmlns:p14="http://schemas.microsoft.com/office/powerpoint/2010/main" val="1180865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34A2E-A13C-E7BF-3AB6-A08A7D4985FC}"/>
              </a:ext>
            </a:extLst>
          </p:cNvPr>
          <p:cNvSpPr>
            <a:spLocks noGrp="1"/>
          </p:cNvSpPr>
          <p:nvPr>
            <p:ph type="title"/>
          </p:nvPr>
        </p:nvSpPr>
        <p:spPr/>
        <p:txBody>
          <a:bodyPr/>
          <a:lstStyle/>
          <a:p>
            <a:r>
              <a:rPr lang="en-IN" dirty="0"/>
              <a:t>Python Source Code</a:t>
            </a:r>
          </a:p>
        </p:txBody>
      </p:sp>
      <p:sp>
        <p:nvSpPr>
          <p:cNvPr id="3" name="Content Placeholder 2">
            <a:extLst>
              <a:ext uri="{FF2B5EF4-FFF2-40B4-BE49-F238E27FC236}">
                <a16:creationId xmlns:a16="http://schemas.microsoft.com/office/drawing/2014/main" id="{FF0B1C7F-E140-4CCA-5F15-041128DDDEDB}"/>
              </a:ext>
            </a:extLst>
          </p:cNvPr>
          <p:cNvSpPr>
            <a:spLocks noGrp="1"/>
          </p:cNvSpPr>
          <p:nvPr>
            <p:ph idx="1"/>
          </p:nvPr>
        </p:nvSpPr>
        <p:spPr/>
        <p:txBody>
          <a:bodyPr>
            <a:normAutofit fontScale="25000" lnSpcReduction="20000"/>
          </a:bodyPr>
          <a:lstStyle/>
          <a:p>
            <a:pPr marL="0" indent="0">
              <a:buNone/>
            </a:pPr>
            <a:endParaRPr lang="en-US" dirty="0"/>
          </a:p>
          <a:p>
            <a:endParaRPr lang="en-US" dirty="0"/>
          </a:p>
          <a:p>
            <a:r>
              <a:rPr lang="en-US" dirty="0"/>
              <a:t>locations = int(input("Enter number of locations: "))</a:t>
            </a:r>
          </a:p>
          <a:p>
            <a:endParaRPr lang="en-US" dirty="0"/>
          </a:p>
          <a:p>
            <a:r>
              <a:rPr lang="en-US" dirty="0" err="1"/>
              <a:t>total_received</a:t>
            </a:r>
            <a:r>
              <a:rPr lang="en-US" dirty="0"/>
              <a:t> = 0</a:t>
            </a:r>
          </a:p>
          <a:p>
            <a:r>
              <a:rPr lang="en-US" dirty="0" err="1"/>
              <a:t>total_distributed</a:t>
            </a:r>
            <a:r>
              <a:rPr lang="en-US" dirty="0"/>
              <a:t> = 0</a:t>
            </a:r>
          </a:p>
          <a:p>
            <a:r>
              <a:rPr lang="en-US" dirty="0" err="1"/>
              <a:t>total_damaged</a:t>
            </a:r>
            <a:r>
              <a:rPr lang="en-US" dirty="0"/>
              <a:t> = 0</a:t>
            </a:r>
          </a:p>
          <a:p>
            <a:r>
              <a:rPr lang="en-US" dirty="0" err="1"/>
              <a:t>total_replenishment</a:t>
            </a:r>
            <a:r>
              <a:rPr lang="en-US" dirty="0"/>
              <a:t> = 0</a:t>
            </a:r>
          </a:p>
          <a:p>
            <a:endParaRPr lang="en-US" dirty="0"/>
          </a:p>
          <a:p>
            <a:r>
              <a:rPr lang="en-US" dirty="0"/>
              <a:t>for </a:t>
            </a:r>
            <a:r>
              <a:rPr lang="en-US" dirty="0" err="1"/>
              <a:t>i</a:t>
            </a:r>
            <a:r>
              <a:rPr lang="en-US" dirty="0"/>
              <a:t> in range(1, locations + 1):</a:t>
            </a:r>
          </a:p>
          <a:p>
            <a:r>
              <a:rPr lang="en-US" dirty="0"/>
              <a:t>    print("\</a:t>
            </a:r>
            <a:r>
              <a:rPr lang="en-US" dirty="0" err="1"/>
              <a:t>nLocation</a:t>
            </a:r>
            <a:r>
              <a:rPr lang="en-US" dirty="0"/>
              <a:t>", </a:t>
            </a:r>
            <a:r>
              <a:rPr lang="en-US" dirty="0" err="1"/>
              <a:t>i</a:t>
            </a:r>
            <a:r>
              <a:rPr lang="en-US" dirty="0"/>
              <a:t>)</a:t>
            </a:r>
          </a:p>
          <a:p>
            <a:endParaRPr lang="en-US" dirty="0"/>
          </a:p>
          <a:p>
            <a:r>
              <a:rPr lang="en-US" dirty="0"/>
              <a:t>    name = input("Enter location name: ")</a:t>
            </a:r>
          </a:p>
          <a:p>
            <a:r>
              <a:rPr lang="en-US" dirty="0"/>
              <a:t>    opening = float(input("Enter opening stock (kg): "))</a:t>
            </a:r>
          </a:p>
          <a:p>
            <a:r>
              <a:rPr lang="en-US" dirty="0"/>
              <a:t>    received = float(input("Enter received stock (kg): "))</a:t>
            </a:r>
          </a:p>
          <a:p>
            <a:r>
              <a:rPr lang="en-US" dirty="0"/>
              <a:t>    distributed = float(input("Enter distributed stock (kg): "))</a:t>
            </a:r>
          </a:p>
          <a:p>
            <a:r>
              <a:rPr lang="en-US" dirty="0"/>
              <a:t>    damaged = float(input("Enter damaged stock (kg): "))</a:t>
            </a:r>
          </a:p>
          <a:p>
            <a:r>
              <a:rPr lang="en-US" dirty="0"/>
              <a:t>    actual = float(input("Enter actual closing stock (kg): "))</a:t>
            </a:r>
          </a:p>
          <a:p>
            <a:r>
              <a:rPr lang="en-US" dirty="0"/>
              <a:t>    minimum = float(input("Enter minimum stock level (kg): "))</a:t>
            </a:r>
          </a:p>
          <a:p>
            <a:endParaRPr lang="en-US" dirty="0"/>
          </a:p>
          <a:p>
            <a:r>
              <a:rPr lang="en-US" dirty="0"/>
              <a:t>    if min(opening, received, distributed,</a:t>
            </a:r>
          </a:p>
          <a:p>
            <a:r>
              <a:rPr lang="en-US" dirty="0"/>
              <a:t>           damaged, actual, minimum) &lt; 0:</a:t>
            </a:r>
          </a:p>
          <a:p>
            <a:r>
              <a:rPr lang="en-US" dirty="0"/>
              <a:t>        print("Invalid input: quantities cannot be negative.")</a:t>
            </a:r>
          </a:p>
          <a:p>
            <a:r>
              <a:rPr lang="en-US" dirty="0"/>
              <a:t>        print("Please run the program again.")</a:t>
            </a:r>
          </a:p>
          <a:p>
            <a:r>
              <a:rPr lang="en-US" dirty="0"/>
              <a:t>        break</a:t>
            </a:r>
          </a:p>
          <a:p>
            <a:endParaRPr lang="en-US" dirty="0"/>
          </a:p>
          <a:p>
            <a:r>
              <a:rPr lang="en-US" dirty="0"/>
              <a:t>    available = opening + received</a:t>
            </a:r>
          </a:p>
          <a:p>
            <a:r>
              <a:rPr lang="en-US" dirty="0"/>
              <a:t>    expected = available - distributed - damaged</a:t>
            </a:r>
          </a:p>
          <a:p>
            <a:endParaRPr lang="en-US" dirty="0"/>
          </a:p>
          <a:p>
            <a:r>
              <a:rPr lang="en-US" dirty="0"/>
              <a:t>    discrepancy = actual - expected</a:t>
            </a:r>
          </a:p>
          <a:p>
            <a:r>
              <a:rPr lang="en-US" dirty="0"/>
              <a:t>    replenishment = max(0, minimum - actual)</a:t>
            </a:r>
          </a:p>
          <a:p>
            <a:endParaRPr lang="en-US" dirty="0"/>
          </a:p>
          <a:p>
            <a:r>
              <a:rPr lang="en-US" dirty="0"/>
              <a:t>    print("\n--- Stock Reconciliation Report ---")</a:t>
            </a:r>
          </a:p>
          <a:p>
            <a:r>
              <a:rPr lang="en-US" dirty="0"/>
              <a:t>    print("Location:", name)</a:t>
            </a:r>
          </a:p>
          <a:p>
            <a:r>
              <a:rPr lang="en-US" dirty="0"/>
              <a:t>    print("Total available stock:", available, "kg")</a:t>
            </a:r>
          </a:p>
          <a:p>
            <a:r>
              <a:rPr lang="en-US" dirty="0"/>
              <a:t>    print("Expected closing stock:", expected, "kg")</a:t>
            </a:r>
          </a:p>
          <a:p>
            <a:r>
              <a:rPr lang="en-US" dirty="0"/>
              <a:t>    print("Actual closing stock:", actual, "kg")</a:t>
            </a:r>
          </a:p>
          <a:p>
            <a:r>
              <a:rPr lang="en-US" dirty="0"/>
              <a:t>    print("Discrepancy:", discrepancy, "kg")</a:t>
            </a:r>
          </a:p>
          <a:p>
            <a:endParaRPr lang="en-US" dirty="0"/>
          </a:p>
          <a:p>
            <a:r>
              <a:rPr lang="en-US" dirty="0"/>
              <a:t>    if discrepancy == 0:</a:t>
            </a:r>
          </a:p>
          <a:p>
            <a:r>
              <a:rPr lang="en-US" dirty="0"/>
              <a:t>        print("Status: Stock reconciled")</a:t>
            </a:r>
          </a:p>
          <a:p>
            <a:r>
              <a:rPr lang="en-US" dirty="0"/>
              <a:t>    </a:t>
            </a:r>
            <a:r>
              <a:rPr lang="en-US" dirty="0" err="1"/>
              <a:t>elif</a:t>
            </a:r>
            <a:r>
              <a:rPr lang="en-US" dirty="0"/>
              <a:t> discrepancy &lt; 0:</a:t>
            </a:r>
          </a:p>
          <a:p>
            <a:r>
              <a:rPr lang="en-US" dirty="0"/>
              <a:t>        print("Status: Stock shortage")</a:t>
            </a:r>
          </a:p>
          <a:p>
            <a:r>
              <a:rPr lang="en-US" dirty="0"/>
              <a:t>    else:</a:t>
            </a:r>
          </a:p>
          <a:p>
            <a:r>
              <a:rPr lang="en-US" dirty="0"/>
              <a:t>        print("Status: Excess stock")</a:t>
            </a:r>
          </a:p>
          <a:p>
            <a:endParaRPr lang="en-US" dirty="0"/>
          </a:p>
          <a:p>
            <a:r>
              <a:rPr lang="en-US" dirty="0"/>
              <a:t>    print("Replenishment required:", replenishment, "kg")</a:t>
            </a:r>
          </a:p>
          <a:p>
            <a:endParaRPr lang="en-US" dirty="0"/>
          </a:p>
          <a:p>
            <a:r>
              <a:rPr lang="en-US" dirty="0"/>
              <a:t>    </a:t>
            </a:r>
            <a:r>
              <a:rPr lang="en-US" dirty="0" err="1"/>
              <a:t>total_received</a:t>
            </a:r>
            <a:r>
              <a:rPr lang="en-US" dirty="0"/>
              <a:t> += received</a:t>
            </a:r>
          </a:p>
          <a:p>
            <a:r>
              <a:rPr lang="en-US" dirty="0"/>
              <a:t>    </a:t>
            </a:r>
            <a:r>
              <a:rPr lang="en-US" dirty="0" err="1"/>
              <a:t>total_distributed</a:t>
            </a:r>
            <a:r>
              <a:rPr lang="en-US" dirty="0"/>
              <a:t> += distributed</a:t>
            </a:r>
          </a:p>
          <a:p>
            <a:r>
              <a:rPr lang="en-US" dirty="0"/>
              <a:t>    </a:t>
            </a:r>
            <a:r>
              <a:rPr lang="en-US" dirty="0" err="1"/>
              <a:t>total_damaged</a:t>
            </a:r>
            <a:r>
              <a:rPr lang="en-US" dirty="0"/>
              <a:t> += damaged</a:t>
            </a:r>
          </a:p>
          <a:p>
            <a:r>
              <a:rPr lang="en-US" dirty="0"/>
              <a:t>    </a:t>
            </a:r>
            <a:r>
              <a:rPr lang="en-US" dirty="0" err="1"/>
              <a:t>total_replenishment</a:t>
            </a:r>
            <a:r>
              <a:rPr lang="en-US" dirty="0"/>
              <a:t> += replenishment</a:t>
            </a:r>
          </a:p>
          <a:p>
            <a:endParaRPr lang="en-US" dirty="0"/>
          </a:p>
          <a:p>
            <a:r>
              <a:rPr lang="en-US" dirty="0"/>
              <a:t>else:</a:t>
            </a:r>
          </a:p>
          <a:p>
            <a:r>
              <a:rPr lang="en-US" dirty="0"/>
              <a:t>    print("\n--- Overall Summary ---")</a:t>
            </a:r>
          </a:p>
          <a:p>
            <a:r>
              <a:rPr lang="en-US" dirty="0"/>
              <a:t>    print("Total received:", </a:t>
            </a:r>
            <a:r>
              <a:rPr lang="en-US" dirty="0" err="1"/>
              <a:t>total_received</a:t>
            </a:r>
            <a:r>
              <a:rPr lang="en-US" dirty="0"/>
              <a:t>, "kg")</a:t>
            </a:r>
          </a:p>
          <a:p>
            <a:r>
              <a:rPr lang="en-US" dirty="0"/>
              <a:t>    print("Total distributed:", </a:t>
            </a:r>
            <a:r>
              <a:rPr lang="en-US" dirty="0" err="1"/>
              <a:t>total_distributed</a:t>
            </a:r>
            <a:r>
              <a:rPr lang="en-US" dirty="0"/>
              <a:t>, "kg")</a:t>
            </a:r>
          </a:p>
          <a:p>
            <a:r>
              <a:rPr lang="en-US" dirty="0"/>
              <a:t>    print("Total damaged:", </a:t>
            </a:r>
            <a:r>
              <a:rPr lang="en-US" dirty="0" err="1"/>
              <a:t>total_damaged</a:t>
            </a:r>
            <a:r>
              <a:rPr lang="en-US" dirty="0"/>
              <a:t>, "kg")</a:t>
            </a:r>
          </a:p>
          <a:p>
            <a:r>
              <a:rPr lang="en-US" dirty="0"/>
              <a:t>    print("Total replenishment required:",</a:t>
            </a:r>
          </a:p>
          <a:p>
            <a:r>
              <a:rPr lang="en-US" dirty="0"/>
              <a:t>          </a:t>
            </a:r>
            <a:r>
              <a:rPr lang="en-US" dirty="0" err="1"/>
              <a:t>total_replenishment</a:t>
            </a:r>
            <a:r>
              <a:rPr lang="en-US" dirty="0"/>
              <a:t>, "kg")</a:t>
            </a:r>
            <a:endParaRPr lang="en-IN" dirty="0"/>
          </a:p>
        </p:txBody>
      </p:sp>
    </p:spTree>
    <p:extLst>
      <p:ext uri="{BB962C8B-B14F-4D97-AF65-F5344CB8AC3E}">
        <p14:creationId xmlns:p14="http://schemas.microsoft.com/office/powerpoint/2010/main" val="1221486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3E53-E877-9B63-6126-6A27341206E7}"/>
              </a:ext>
            </a:extLst>
          </p:cNvPr>
          <p:cNvSpPr>
            <a:spLocks noGrp="1"/>
          </p:cNvSpPr>
          <p:nvPr>
            <p:ph type="title"/>
          </p:nvPr>
        </p:nvSpPr>
        <p:spPr/>
        <p:txBody>
          <a:bodyPr/>
          <a:lstStyle/>
          <a:p>
            <a:r>
              <a:rPr lang="en-IN" dirty="0"/>
              <a:t>Test Cases</a:t>
            </a:r>
          </a:p>
        </p:txBody>
      </p:sp>
      <p:graphicFrame>
        <p:nvGraphicFramePr>
          <p:cNvPr id="4" name="Content Placeholder 3">
            <a:extLst>
              <a:ext uri="{FF2B5EF4-FFF2-40B4-BE49-F238E27FC236}">
                <a16:creationId xmlns:a16="http://schemas.microsoft.com/office/drawing/2014/main" id="{741C5854-A372-E176-51DF-35CD4BD599A2}"/>
              </a:ext>
            </a:extLst>
          </p:cNvPr>
          <p:cNvGraphicFramePr>
            <a:graphicFrameLocks noGrp="1"/>
          </p:cNvGraphicFramePr>
          <p:nvPr>
            <p:ph idx="1"/>
          </p:nvPr>
        </p:nvGraphicFramePr>
        <p:xfrm>
          <a:off x="838200" y="2218214"/>
          <a:ext cx="10515600" cy="3566160"/>
        </p:xfrm>
        <a:graphic>
          <a:graphicData uri="http://schemas.openxmlformats.org/drawingml/2006/table">
            <a:tbl>
              <a:tblPr/>
              <a:tblGrid>
                <a:gridCol w="2103120">
                  <a:extLst>
                    <a:ext uri="{9D8B030D-6E8A-4147-A177-3AD203B41FA5}">
                      <a16:colId xmlns:a16="http://schemas.microsoft.com/office/drawing/2014/main" val="454867870"/>
                    </a:ext>
                  </a:extLst>
                </a:gridCol>
                <a:gridCol w="2103120">
                  <a:extLst>
                    <a:ext uri="{9D8B030D-6E8A-4147-A177-3AD203B41FA5}">
                      <a16:colId xmlns:a16="http://schemas.microsoft.com/office/drawing/2014/main" val="484306737"/>
                    </a:ext>
                  </a:extLst>
                </a:gridCol>
                <a:gridCol w="2103120">
                  <a:extLst>
                    <a:ext uri="{9D8B030D-6E8A-4147-A177-3AD203B41FA5}">
                      <a16:colId xmlns:a16="http://schemas.microsoft.com/office/drawing/2014/main" val="3130530844"/>
                    </a:ext>
                  </a:extLst>
                </a:gridCol>
                <a:gridCol w="2103120">
                  <a:extLst>
                    <a:ext uri="{9D8B030D-6E8A-4147-A177-3AD203B41FA5}">
                      <a16:colId xmlns:a16="http://schemas.microsoft.com/office/drawing/2014/main" val="1884670383"/>
                    </a:ext>
                  </a:extLst>
                </a:gridCol>
                <a:gridCol w="2103120">
                  <a:extLst>
                    <a:ext uri="{9D8B030D-6E8A-4147-A177-3AD203B41FA5}">
                      <a16:colId xmlns:a16="http://schemas.microsoft.com/office/drawing/2014/main" val="1555216010"/>
                    </a:ext>
                  </a:extLst>
                </a:gridCol>
              </a:tblGrid>
              <a:tr h="0">
                <a:tc>
                  <a:txBody>
                    <a:bodyPr/>
                    <a:lstStyle/>
                    <a:p>
                      <a:pPr>
                        <a:buNone/>
                      </a:pPr>
                      <a:r>
                        <a:rPr lang="en-IN"/>
                        <a:t>Test</a:t>
                      </a:r>
                    </a:p>
                  </a:txBody>
                  <a:tcPr anchor="ctr">
                    <a:lnL>
                      <a:noFill/>
                    </a:lnL>
                    <a:lnR>
                      <a:noFill/>
                    </a:lnR>
                    <a:lnT>
                      <a:noFill/>
                    </a:lnT>
                    <a:lnB>
                      <a:noFill/>
                    </a:lnB>
                    <a:noFill/>
                  </a:tcPr>
                </a:tc>
                <a:tc>
                  <a:txBody>
                    <a:bodyPr/>
                    <a:lstStyle/>
                    <a:p>
                      <a:pPr>
                        <a:buNone/>
                      </a:pPr>
                      <a:r>
                        <a:rPr lang="en-IN"/>
                        <a:t>Expected closing</a:t>
                      </a:r>
                    </a:p>
                  </a:txBody>
                  <a:tcPr anchor="ctr">
                    <a:lnL>
                      <a:noFill/>
                    </a:lnL>
                    <a:lnR>
                      <a:noFill/>
                    </a:lnR>
                    <a:lnT>
                      <a:noFill/>
                    </a:lnT>
                    <a:lnB>
                      <a:noFill/>
                    </a:lnB>
                    <a:noFill/>
                  </a:tcPr>
                </a:tc>
                <a:tc>
                  <a:txBody>
                    <a:bodyPr/>
                    <a:lstStyle/>
                    <a:p>
                      <a:pPr>
                        <a:buNone/>
                      </a:pPr>
                      <a:r>
                        <a:rPr lang="en-IN"/>
                        <a:t>Actual closing</a:t>
                      </a:r>
                    </a:p>
                  </a:txBody>
                  <a:tcPr anchor="ctr">
                    <a:lnL>
                      <a:noFill/>
                    </a:lnL>
                    <a:lnR>
                      <a:noFill/>
                    </a:lnR>
                    <a:lnT>
                      <a:noFill/>
                    </a:lnT>
                    <a:lnB>
                      <a:noFill/>
                    </a:lnB>
                    <a:noFill/>
                  </a:tcPr>
                </a:tc>
                <a:tc>
                  <a:txBody>
                    <a:bodyPr/>
                    <a:lstStyle/>
                    <a:p>
                      <a:pPr>
                        <a:buNone/>
                      </a:pPr>
                      <a:r>
                        <a:rPr lang="en-IN"/>
                        <a:t>Minimum stock</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77048815"/>
                  </a:ext>
                </a:extLst>
              </a:tr>
              <a:tr h="0">
                <a:tc>
                  <a:txBody>
                    <a:bodyPr/>
                    <a:lstStyle/>
                    <a:p>
                      <a:pPr>
                        <a:buNone/>
                      </a:pPr>
                      <a:r>
                        <a:rPr lang="en-IN"/>
                        <a:t>1. Reconciled stock</a:t>
                      </a:r>
                    </a:p>
                  </a:txBody>
                  <a:tcPr anchor="ctr">
                    <a:lnL>
                      <a:noFill/>
                    </a:lnL>
                    <a:lnR>
                      <a:noFill/>
                    </a:lnR>
                    <a:lnT>
                      <a:noFill/>
                    </a:lnT>
                    <a:lnB>
                      <a:noFill/>
                    </a:lnB>
                    <a:noFill/>
                  </a:tcPr>
                </a:tc>
                <a:tc>
                  <a:txBody>
                    <a:bodyPr/>
                    <a:lstStyle/>
                    <a:p>
                      <a:pPr>
                        <a:buNone/>
                      </a:pPr>
                      <a:r>
                        <a:rPr lang="en-IN"/>
                        <a:t>80 kg</a:t>
                      </a:r>
                    </a:p>
                  </a:txBody>
                  <a:tcPr anchor="ctr">
                    <a:lnL>
                      <a:noFill/>
                    </a:lnL>
                    <a:lnR>
                      <a:noFill/>
                    </a:lnR>
                    <a:lnT>
                      <a:noFill/>
                    </a:lnT>
                    <a:lnB>
                      <a:noFill/>
                    </a:lnB>
                    <a:noFill/>
                  </a:tcPr>
                </a:tc>
                <a:tc>
                  <a:txBody>
                    <a:bodyPr/>
                    <a:lstStyle/>
                    <a:p>
                      <a:pPr>
                        <a:buNone/>
                      </a:pPr>
                      <a:r>
                        <a:rPr lang="en-IN"/>
                        <a:t>80 kg</a:t>
                      </a:r>
                    </a:p>
                  </a:txBody>
                  <a:tcPr anchor="ctr">
                    <a:lnL>
                      <a:noFill/>
                    </a:lnL>
                    <a:lnR>
                      <a:noFill/>
                    </a:lnR>
                    <a:lnT>
                      <a:noFill/>
                    </a:lnT>
                    <a:lnB>
                      <a:noFill/>
                    </a:lnB>
                    <a:noFill/>
                  </a:tcPr>
                </a:tc>
                <a:tc>
                  <a:txBody>
                    <a:bodyPr/>
                    <a:lstStyle/>
                    <a:p>
                      <a:pPr>
                        <a:buNone/>
                      </a:pPr>
                      <a:r>
                        <a:rPr lang="en-IN"/>
                        <a:t>50 kg</a:t>
                      </a:r>
                    </a:p>
                  </a:txBody>
                  <a:tcPr anchor="ctr">
                    <a:lnL>
                      <a:noFill/>
                    </a:lnL>
                    <a:lnR>
                      <a:noFill/>
                    </a:lnR>
                    <a:lnT>
                      <a:noFill/>
                    </a:lnT>
                    <a:lnB>
                      <a:noFill/>
                    </a:lnB>
                    <a:noFill/>
                  </a:tcPr>
                </a:tc>
                <a:tc>
                  <a:txBody>
                    <a:bodyPr/>
                    <a:lstStyle/>
                    <a:p>
                      <a:pPr>
                        <a:buNone/>
                      </a:pPr>
                      <a:r>
                        <a:rPr lang="en-US"/>
                        <a:t>No discrepancy; replenish 0 kg</a:t>
                      </a:r>
                    </a:p>
                  </a:txBody>
                  <a:tcPr anchor="ctr">
                    <a:lnL>
                      <a:noFill/>
                    </a:lnL>
                    <a:lnR>
                      <a:noFill/>
                    </a:lnR>
                    <a:lnT>
                      <a:noFill/>
                    </a:lnT>
                    <a:lnB>
                      <a:noFill/>
                    </a:lnB>
                    <a:noFill/>
                  </a:tcPr>
                </a:tc>
                <a:extLst>
                  <a:ext uri="{0D108BD9-81ED-4DB2-BD59-A6C34878D82A}">
                    <a16:rowId xmlns:a16="http://schemas.microsoft.com/office/drawing/2014/main" val="1718239160"/>
                  </a:ext>
                </a:extLst>
              </a:tr>
              <a:tr h="0">
                <a:tc>
                  <a:txBody>
                    <a:bodyPr/>
                    <a:lstStyle/>
                    <a:p>
                      <a:pPr>
                        <a:buNone/>
                      </a:pPr>
                      <a:r>
                        <a:rPr lang="en-IN"/>
                        <a:t>2. Shortage</a:t>
                      </a:r>
                    </a:p>
                  </a:txBody>
                  <a:tcPr anchor="ctr">
                    <a:lnL>
                      <a:noFill/>
                    </a:lnL>
                    <a:lnR>
                      <a:noFill/>
                    </a:lnR>
                    <a:lnT>
                      <a:noFill/>
                    </a:lnT>
                    <a:lnB>
                      <a:noFill/>
                    </a:lnB>
                    <a:noFill/>
                  </a:tcPr>
                </a:tc>
                <a:tc>
                  <a:txBody>
                    <a:bodyPr/>
                    <a:lstStyle/>
                    <a:p>
                      <a:pPr>
                        <a:buNone/>
                      </a:pPr>
                      <a:r>
                        <a:rPr lang="en-IN"/>
                        <a:t>80 kg</a:t>
                      </a:r>
                    </a:p>
                  </a:txBody>
                  <a:tcPr anchor="ctr">
                    <a:lnL>
                      <a:noFill/>
                    </a:lnL>
                    <a:lnR>
                      <a:noFill/>
                    </a:lnR>
                    <a:lnT>
                      <a:noFill/>
                    </a:lnT>
                    <a:lnB>
                      <a:noFill/>
                    </a:lnB>
                    <a:noFill/>
                  </a:tcPr>
                </a:tc>
                <a:tc>
                  <a:txBody>
                    <a:bodyPr/>
                    <a:lstStyle/>
                    <a:p>
                      <a:pPr>
                        <a:buNone/>
                      </a:pPr>
                      <a:r>
                        <a:rPr lang="en-IN"/>
                        <a:t>70 kg</a:t>
                      </a:r>
                    </a:p>
                  </a:txBody>
                  <a:tcPr anchor="ctr">
                    <a:lnL>
                      <a:noFill/>
                    </a:lnL>
                    <a:lnR>
                      <a:noFill/>
                    </a:lnR>
                    <a:lnT>
                      <a:noFill/>
                    </a:lnT>
                    <a:lnB>
                      <a:noFill/>
                    </a:lnB>
                    <a:noFill/>
                  </a:tcPr>
                </a:tc>
                <a:tc>
                  <a:txBody>
                    <a:bodyPr/>
                    <a:lstStyle/>
                    <a:p>
                      <a:pPr>
                        <a:buNone/>
                      </a:pPr>
                      <a:r>
                        <a:rPr lang="en-IN"/>
                        <a:t>50 kg</a:t>
                      </a:r>
                    </a:p>
                  </a:txBody>
                  <a:tcPr anchor="ctr">
                    <a:lnL>
                      <a:noFill/>
                    </a:lnL>
                    <a:lnR>
                      <a:noFill/>
                    </a:lnR>
                    <a:lnT>
                      <a:noFill/>
                    </a:lnT>
                    <a:lnB>
                      <a:noFill/>
                    </a:lnB>
                    <a:noFill/>
                  </a:tcPr>
                </a:tc>
                <a:tc>
                  <a:txBody>
                    <a:bodyPr/>
                    <a:lstStyle/>
                    <a:p>
                      <a:pPr>
                        <a:buNone/>
                      </a:pPr>
                      <a:r>
                        <a:rPr lang="en-US"/>
                        <a:t>Shortage of 10 kg; replenish 0 kg</a:t>
                      </a:r>
                    </a:p>
                  </a:txBody>
                  <a:tcPr anchor="ctr">
                    <a:lnL>
                      <a:noFill/>
                    </a:lnL>
                    <a:lnR>
                      <a:noFill/>
                    </a:lnR>
                    <a:lnT>
                      <a:noFill/>
                    </a:lnT>
                    <a:lnB>
                      <a:noFill/>
                    </a:lnB>
                    <a:noFill/>
                  </a:tcPr>
                </a:tc>
                <a:extLst>
                  <a:ext uri="{0D108BD9-81ED-4DB2-BD59-A6C34878D82A}">
                    <a16:rowId xmlns:a16="http://schemas.microsoft.com/office/drawing/2014/main" val="3201696573"/>
                  </a:ext>
                </a:extLst>
              </a:tr>
              <a:tr h="0">
                <a:tc>
                  <a:txBody>
                    <a:bodyPr/>
                    <a:lstStyle/>
                    <a:p>
                      <a:pPr>
                        <a:buNone/>
                      </a:pPr>
                      <a:r>
                        <a:rPr lang="en-IN"/>
                        <a:t>3. Excess stock</a:t>
                      </a:r>
                    </a:p>
                  </a:txBody>
                  <a:tcPr anchor="ctr">
                    <a:lnL>
                      <a:noFill/>
                    </a:lnL>
                    <a:lnR>
                      <a:noFill/>
                    </a:lnR>
                    <a:lnT>
                      <a:noFill/>
                    </a:lnT>
                    <a:lnB>
                      <a:noFill/>
                    </a:lnB>
                    <a:noFill/>
                  </a:tcPr>
                </a:tc>
                <a:tc>
                  <a:txBody>
                    <a:bodyPr/>
                    <a:lstStyle/>
                    <a:p>
                      <a:pPr>
                        <a:buNone/>
                      </a:pPr>
                      <a:r>
                        <a:rPr lang="en-IN"/>
                        <a:t>80 kg</a:t>
                      </a:r>
                    </a:p>
                  </a:txBody>
                  <a:tcPr anchor="ctr">
                    <a:lnL>
                      <a:noFill/>
                    </a:lnL>
                    <a:lnR>
                      <a:noFill/>
                    </a:lnR>
                    <a:lnT>
                      <a:noFill/>
                    </a:lnT>
                    <a:lnB>
                      <a:noFill/>
                    </a:lnB>
                    <a:noFill/>
                  </a:tcPr>
                </a:tc>
                <a:tc>
                  <a:txBody>
                    <a:bodyPr/>
                    <a:lstStyle/>
                    <a:p>
                      <a:pPr>
                        <a:buNone/>
                      </a:pPr>
                      <a:r>
                        <a:rPr lang="en-IN"/>
                        <a:t>90 kg</a:t>
                      </a:r>
                    </a:p>
                  </a:txBody>
                  <a:tcPr anchor="ctr">
                    <a:lnL>
                      <a:noFill/>
                    </a:lnL>
                    <a:lnR>
                      <a:noFill/>
                    </a:lnR>
                    <a:lnT>
                      <a:noFill/>
                    </a:lnT>
                    <a:lnB>
                      <a:noFill/>
                    </a:lnB>
                    <a:noFill/>
                  </a:tcPr>
                </a:tc>
                <a:tc>
                  <a:txBody>
                    <a:bodyPr/>
                    <a:lstStyle/>
                    <a:p>
                      <a:pPr>
                        <a:buNone/>
                      </a:pPr>
                      <a:r>
                        <a:rPr lang="en-IN"/>
                        <a:t>50 kg</a:t>
                      </a:r>
                    </a:p>
                  </a:txBody>
                  <a:tcPr anchor="ctr">
                    <a:lnL>
                      <a:noFill/>
                    </a:lnL>
                    <a:lnR>
                      <a:noFill/>
                    </a:lnR>
                    <a:lnT>
                      <a:noFill/>
                    </a:lnT>
                    <a:lnB>
                      <a:noFill/>
                    </a:lnB>
                    <a:noFill/>
                  </a:tcPr>
                </a:tc>
                <a:tc>
                  <a:txBody>
                    <a:bodyPr/>
                    <a:lstStyle/>
                    <a:p>
                      <a:pPr>
                        <a:buNone/>
                      </a:pPr>
                      <a:r>
                        <a:rPr lang="en-US"/>
                        <a:t>Excess of 10 kg; replenish 0 kg</a:t>
                      </a:r>
                    </a:p>
                  </a:txBody>
                  <a:tcPr anchor="ctr">
                    <a:lnL>
                      <a:noFill/>
                    </a:lnL>
                    <a:lnR>
                      <a:noFill/>
                    </a:lnR>
                    <a:lnT>
                      <a:noFill/>
                    </a:lnT>
                    <a:lnB>
                      <a:noFill/>
                    </a:lnB>
                    <a:noFill/>
                  </a:tcPr>
                </a:tc>
                <a:extLst>
                  <a:ext uri="{0D108BD9-81ED-4DB2-BD59-A6C34878D82A}">
                    <a16:rowId xmlns:a16="http://schemas.microsoft.com/office/drawing/2014/main" val="3341177833"/>
                  </a:ext>
                </a:extLst>
              </a:tr>
              <a:tr h="0">
                <a:tc>
                  <a:txBody>
                    <a:bodyPr/>
                    <a:lstStyle/>
                    <a:p>
                      <a:pPr>
                        <a:buNone/>
                      </a:pPr>
                      <a:r>
                        <a:rPr lang="en-IN"/>
                        <a:t>4. Replenishment needed</a:t>
                      </a:r>
                    </a:p>
                  </a:txBody>
                  <a:tcPr anchor="ctr">
                    <a:lnL>
                      <a:noFill/>
                    </a:lnL>
                    <a:lnR>
                      <a:noFill/>
                    </a:lnR>
                    <a:lnT>
                      <a:noFill/>
                    </a:lnT>
                    <a:lnB>
                      <a:noFill/>
                    </a:lnB>
                    <a:noFill/>
                  </a:tcPr>
                </a:tc>
                <a:tc>
                  <a:txBody>
                    <a:bodyPr/>
                    <a:lstStyle/>
                    <a:p>
                      <a:pPr>
                        <a:buNone/>
                      </a:pPr>
                      <a:r>
                        <a:rPr lang="en-IN"/>
                        <a:t>80 kg</a:t>
                      </a:r>
                    </a:p>
                  </a:txBody>
                  <a:tcPr anchor="ctr">
                    <a:lnL>
                      <a:noFill/>
                    </a:lnL>
                    <a:lnR>
                      <a:noFill/>
                    </a:lnR>
                    <a:lnT>
                      <a:noFill/>
                    </a:lnT>
                    <a:lnB>
                      <a:noFill/>
                    </a:lnB>
                    <a:noFill/>
                  </a:tcPr>
                </a:tc>
                <a:tc>
                  <a:txBody>
                    <a:bodyPr/>
                    <a:lstStyle/>
                    <a:p>
                      <a:pPr>
                        <a:buNone/>
                      </a:pPr>
                      <a:r>
                        <a:rPr lang="en-IN"/>
                        <a:t>30 kg</a:t>
                      </a:r>
                    </a:p>
                  </a:txBody>
                  <a:tcPr anchor="ctr">
                    <a:lnL>
                      <a:noFill/>
                    </a:lnL>
                    <a:lnR>
                      <a:noFill/>
                    </a:lnR>
                    <a:lnT>
                      <a:noFill/>
                    </a:lnT>
                    <a:lnB>
                      <a:noFill/>
                    </a:lnB>
                    <a:noFill/>
                  </a:tcPr>
                </a:tc>
                <a:tc>
                  <a:txBody>
                    <a:bodyPr/>
                    <a:lstStyle/>
                    <a:p>
                      <a:pPr>
                        <a:buNone/>
                      </a:pPr>
                      <a:r>
                        <a:rPr lang="en-IN"/>
                        <a:t>50 kg</a:t>
                      </a:r>
                    </a:p>
                  </a:txBody>
                  <a:tcPr anchor="ctr">
                    <a:lnL>
                      <a:noFill/>
                    </a:lnL>
                    <a:lnR>
                      <a:noFill/>
                    </a:lnR>
                    <a:lnT>
                      <a:noFill/>
                    </a:lnT>
                    <a:lnB>
                      <a:noFill/>
                    </a:lnB>
                    <a:noFill/>
                  </a:tcPr>
                </a:tc>
                <a:tc>
                  <a:txBody>
                    <a:bodyPr/>
                    <a:lstStyle/>
                    <a:p>
                      <a:pPr>
                        <a:buNone/>
                      </a:pPr>
                      <a:r>
                        <a:rPr lang="en-US"/>
                        <a:t>No discrepancy; replenish 20 kg</a:t>
                      </a:r>
                    </a:p>
                  </a:txBody>
                  <a:tcPr anchor="ctr">
                    <a:lnL>
                      <a:noFill/>
                    </a:lnL>
                    <a:lnR>
                      <a:noFill/>
                    </a:lnR>
                    <a:lnT>
                      <a:noFill/>
                    </a:lnT>
                    <a:lnB>
                      <a:noFill/>
                    </a:lnB>
                    <a:noFill/>
                  </a:tcPr>
                </a:tc>
                <a:extLst>
                  <a:ext uri="{0D108BD9-81ED-4DB2-BD59-A6C34878D82A}">
                    <a16:rowId xmlns:a16="http://schemas.microsoft.com/office/drawing/2014/main" val="702779508"/>
                  </a:ext>
                </a:extLst>
              </a:tr>
              <a:tr h="0">
                <a:tc>
                  <a:txBody>
                    <a:bodyPr/>
                    <a:lstStyle/>
                    <a:p>
                      <a:pPr>
                        <a:buNone/>
                      </a:pPr>
                      <a:r>
                        <a:rPr lang="en-IN"/>
                        <a:t>5. Zero stock</a:t>
                      </a:r>
                    </a:p>
                  </a:txBody>
                  <a:tcPr anchor="ctr">
                    <a:lnL>
                      <a:noFill/>
                    </a:lnL>
                    <a:lnR>
                      <a:noFill/>
                    </a:lnR>
                    <a:lnT>
                      <a:noFill/>
                    </a:lnT>
                    <a:lnB>
                      <a:noFill/>
                    </a:lnB>
                    <a:noFill/>
                  </a:tcPr>
                </a:tc>
                <a:tc>
                  <a:txBody>
                    <a:bodyPr/>
                    <a:lstStyle/>
                    <a:p>
                      <a:pPr>
                        <a:buNone/>
                      </a:pPr>
                      <a:r>
                        <a:rPr lang="en-IN"/>
                        <a:t>0 kg</a:t>
                      </a:r>
                    </a:p>
                  </a:txBody>
                  <a:tcPr anchor="ctr">
                    <a:lnL>
                      <a:noFill/>
                    </a:lnL>
                    <a:lnR>
                      <a:noFill/>
                    </a:lnR>
                    <a:lnT>
                      <a:noFill/>
                    </a:lnT>
                    <a:lnB>
                      <a:noFill/>
                    </a:lnB>
                    <a:noFill/>
                  </a:tcPr>
                </a:tc>
                <a:tc>
                  <a:txBody>
                    <a:bodyPr/>
                    <a:lstStyle/>
                    <a:p>
                      <a:pPr>
                        <a:buNone/>
                      </a:pPr>
                      <a:r>
                        <a:rPr lang="en-IN"/>
                        <a:t>0 kg</a:t>
                      </a:r>
                    </a:p>
                  </a:txBody>
                  <a:tcPr anchor="ctr">
                    <a:lnL>
                      <a:noFill/>
                    </a:lnL>
                    <a:lnR>
                      <a:noFill/>
                    </a:lnR>
                    <a:lnT>
                      <a:noFill/>
                    </a:lnT>
                    <a:lnB>
                      <a:noFill/>
                    </a:lnB>
                    <a:noFill/>
                  </a:tcPr>
                </a:tc>
                <a:tc>
                  <a:txBody>
                    <a:bodyPr/>
                    <a:lstStyle/>
                    <a:p>
                      <a:pPr>
                        <a:buNone/>
                      </a:pPr>
                      <a:r>
                        <a:rPr lang="en-IN"/>
                        <a:t>25 kg</a:t>
                      </a:r>
                    </a:p>
                  </a:txBody>
                  <a:tcPr anchor="ctr">
                    <a:lnL>
                      <a:noFill/>
                    </a:lnL>
                    <a:lnR>
                      <a:noFill/>
                    </a:lnR>
                    <a:lnT>
                      <a:noFill/>
                    </a:lnT>
                    <a:lnB>
                      <a:noFill/>
                    </a:lnB>
                    <a:noFill/>
                  </a:tcPr>
                </a:tc>
                <a:tc>
                  <a:txBody>
                    <a:bodyPr/>
                    <a:lstStyle/>
                    <a:p>
                      <a:pPr>
                        <a:buNone/>
                      </a:pPr>
                      <a:r>
                        <a:rPr lang="en-US" dirty="0"/>
                        <a:t>No discrepancy; replenish 25 kg</a:t>
                      </a:r>
                    </a:p>
                  </a:txBody>
                  <a:tcPr anchor="ctr">
                    <a:lnL>
                      <a:noFill/>
                    </a:lnL>
                    <a:lnR>
                      <a:noFill/>
                    </a:lnR>
                    <a:lnT>
                      <a:noFill/>
                    </a:lnT>
                    <a:lnB>
                      <a:noFill/>
                    </a:lnB>
                    <a:noFill/>
                  </a:tcPr>
                </a:tc>
                <a:extLst>
                  <a:ext uri="{0D108BD9-81ED-4DB2-BD59-A6C34878D82A}">
                    <a16:rowId xmlns:a16="http://schemas.microsoft.com/office/drawing/2014/main" val="1140704535"/>
                  </a:ext>
                </a:extLst>
              </a:tr>
            </a:tbl>
          </a:graphicData>
        </a:graphic>
      </p:graphicFrame>
    </p:spTree>
    <p:extLst>
      <p:ext uri="{BB962C8B-B14F-4D97-AF65-F5344CB8AC3E}">
        <p14:creationId xmlns:p14="http://schemas.microsoft.com/office/powerpoint/2010/main" val="3184051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4E2F0-BDB7-729D-FF6D-F3BAF137F8C8}"/>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E67CF920-5B30-1F06-2051-1775D85B7F83}"/>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336DCD70-8673-85C2-DF2C-2FB3ABA1E17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805355" y="2086124"/>
            <a:ext cx="3132412" cy="4533604"/>
          </a:xfrm>
        </p:spPr>
      </p:pic>
      <p:sp>
        <p:nvSpPr>
          <p:cNvPr id="5" name="Text Placeholder 4">
            <a:extLst>
              <a:ext uri="{FF2B5EF4-FFF2-40B4-BE49-F238E27FC236}">
                <a16:creationId xmlns:a16="http://schemas.microsoft.com/office/drawing/2014/main" id="{34F87FA1-BFEF-9435-99D1-AA7804E66828}"/>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43848D60-BAC4-8C2E-0240-626D8CBD286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578555" y="1943783"/>
            <a:ext cx="2808090" cy="4818286"/>
          </a:xfrm>
        </p:spPr>
      </p:pic>
    </p:spTree>
    <p:extLst>
      <p:ext uri="{BB962C8B-B14F-4D97-AF65-F5344CB8AC3E}">
        <p14:creationId xmlns:p14="http://schemas.microsoft.com/office/powerpoint/2010/main" val="161602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8B46-EECE-5BE2-5526-52646F84178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012A2EB-BABD-FB5D-65ED-A9E818A78816}"/>
              </a:ext>
            </a:extLst>
          </p:cNvPr>
          <p:cNvSpPr>
            <a:spLocks noGrp="1"/>
          </p:cNvSpPr>
          <p:nvPr>
            <p:ph idx="1"/>
          </p:nvPr>
        </p:nvSpPr>
        <p:spPr/>
        <p:txBody>
          <a:bodyPr/>
          <a:lstStyle/>
          <a:p>
            <a:r>
              <a:rPr lang="en-US" dirty="0"/>
              <a:t>The Food Supply Chain Stock Reconciliation project demonstrates how Python can be used to manage inventory across multiple locations. The program calculates expected stock, compares it with actual stock, identifies shortages or excess stock, and determines replenishment requirements.</a:t>
            </a:r>
          </a:p>
          <a:p>
            <a:r>
              <a:rPr lang="en-US" dirty="0"/>
              <a:t>This system helps improve inventory accuracy, reduce food wastage, identify discrepancies, and support timely replenishment decisions. It uses basic Python concepts such as variables, arithmetic operators, conditional statements, loops, and formatted output.</a:t>
            </a:r>
          </a:p>
          <a:p>
            <a:endParaRPr lang="en-IN" dirty="0"/>
          </a:p>
        </p:txBody>
      </p:sp>
    </p:spTree>
    <p:extLst>
      <p:ext uri="{BB962C8B-B14F-4D97-AF65-F5344CB8AC3E}">
        <p14:creationId xmlns:p14="http://schemas.microsoft.com/office/powerpoint/2010/main" val="1431059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8FCE-F309-D55E-37DF-D1C99FC23ABB}"/>
              </a:ext>
            </a:extLst>
          </p:cNvPr>
          <p:cNvSpPr>
            <a:spLocks noGrp="1"/>
          </p:cNvSpPr>
          <p:nvPr>
            <p:ph type="ctrTitle"/>
          </p:nvPr>
        </p:nvSpPr>
        <p:spPr/>
        <p:txBody>
          <a:bodyPr/>
          <a:lstStyle/>
          <a:p>
            <a:r>
              <a:rPr lang="en-US" dirty="0"/>
              <a:t>CASE-84:Environmental Monitoring Data Analyzer</a:t>
            </a:r>
            <a:endParaRPr lang="en-IN" dirty="0"/>
          </a:p>
        </p:txBody>
      </p:sp>
      <p:sp>
        <p:nvSpPr>
          <p:cNvPr id="3" name="Subtitle 2">
            <a:extLst>
              <a:ext uri="{FF2B5EF4-FFF2-40B4-BE49-F238E27FC236}">
                <a16:creationId xmlns:a16="http://schemas.microsoft.com/office/drawing/2014/main" id="{E812879E-9F9E-7930-E1D3-4FA6666F1404}"/>
              </a:ext>
            </a:extLst>
          </p:cNvPr>
          <p:cNvSpPr>
            <a:spLocks noGrp="1"/>
          </p:cNvSpPr>
          <p:nvPr>
            <p:ph type="subTitle" idx="1"/>
          </p:nvPr>
        </p:nvSpPr>
        <p:spPr/>
        <p:txBody>
          <a:bodyPr>
            <a:normAutofit fontScale="62500" lnSpcReduction="20000"/>
          </a:bodyPr>
          <a:lstStyle/>
          <a:p>
            <a:r>
              <a:rPr lang="en-IN" dirty="0"/>
              <a:t>Problem Statement</a:t>
            </a:r>
          </a:p>
          <a:p>
            <a:r>
              <a:rPr lang="en-US" dirty="0"/>
              <a:t>Environmental monitoring involves collecting air-quality or water-quality readings from different locations and at different times. These readings are often stored in nested lists, making it necessary to process and analyze the data systematically.</a:t>
            </a:r>
          </a:p>
          <a:p>
            <a:r>
              <a:rPr lang="en-US" dirty="0"/>
              <a:t>The objective of this project is to develop a Python program that analyzes nested lists of environmental readings, calculates the average, minimum, and maximum values, and classifies observations according to user-supplied threshold values. The program helps identify normal and high-pollution readings and presents a summary of environmental conditions.</a:t>
            </a:r>
          </a:p>
          <a:p>
            <a:endParaRPr lang="en-IN" dirty="0"/>
          </a:p>
        </p:txBody>
      </p:sp>
    </p:spTree>
    <p:extLst>
      <p:ext uri="{BB962C8B-B14F-4D97-AF65-F5344CB8AC3E}">
        <p14:creationId xmlns:p14="http://schemas.microsoft.com/office/powerpoint/2010/main" val="1801060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0A2D3-B5FD-F947-E684-C756EB1301D7}"/>
              </a:ext>
            </a:extLst>
          </p:cNvPr>
          <p:cNvSpPr>
            <a:spLocks noGrp="1"/>
          </p:cNvSpPr>
          <p:nvPr>
            <p:ph type="title"/>
          </p:nvPr>
        </p:nvSpPr>
        <p:spPr/>
        <p:txBody>
          <a:bodyPr/>
          <a:lstStyle/>
          <a:p>
            <a:r>
              <a:rPr lang="en-IN" b="1" dirty="0"/>
              <a:t>Objectives</a:t>
            </a:r>
            <a:br>
              <a:rPr lang="en-IN" b="1" dirty="0"/>
            </a:br>
            <a:endParaRPr lang="en-IN" dirty="0"/>
          </a:p>
        </p:txBody>
      </p:sp>
      <p:sp>
        <p:nvSpPr>
          <p:cNvPr id="4" name="Rectangle 1">
            <a:extLst>
              <a:ext uri="{FF2B5EF4-FFF2-40B4-BE49-F238E27FC236}">
                <a16:creationId xmlns:a16="http://schemas.microsoft.com/office/drawing/2014/main" id="{F66F2D40-20E1-D55E-7370-1E67C948598A}"/>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environmental readings using nested lists.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Process readings from multiple locations.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average of all readings.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the minimum and maximum readings.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Accept threshold values from the user.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Classify each observation based on the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Count the number of observations in each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a clear environmental monitoring report.</a:t>
            </a:r>
          </a:p>
        </p:txBody>
      </p:sp>
    </p:spTree>
    <p:extLst>
      <p:ext uri="{BB962C8B-B14F-4D97-AF65-F5344CB8AC3E}">
        <p14:creationId xmlns:p14="http://schemas.microsoft.com/office/powerpoint/2010/main" val="948908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38AE-98E8-571D-81BE-8F9EC894871E}"/>
              </a:ext>
            </a:extLst>
          </p:cNvPr>
          <p:cNvSpPr>
            <a:spLocks noGrp="1"/>
          </p:cNvSpPr>
          <p:nvPr>
            <p:ph type="title"/>
          </p:nvPr>
        </p:nvSpPr>
        <p:spPr/>
        <p:txBody>
          <a:bodyPr/>
          <a:lstStyle/>
          <a:p>
            <a:r>
              <a:rPr lang="en-IN" dirty="0"/>
              <a:t>Assumptions</a:t>
            </a:r>
          </a:p>
        </p:txBody>
      </p:sp>
      <p:sp>
        <p:nvSpPr>
          <p:cNvPr id="4" name="Rectangle 1">
            <a:extLst>
              <a:ext uri="{FF2B5EF4-FFF2-40B4-BE49-F238E27FC236}">
                <a16:creationId xmlns:a16="http://schemas.microsoft.com/office/drawing/2014/main" id="{507BF72F-B9C4-9B05-E44A-733200014C60}"/>
              </a:ext>
            </a:extLst>
          </p:cNvPr>
          <p:cNvSpPr>
            <a:spLocks noGrp="1" noChangeArrowheads="1"/>
          </p:cNvSpPr>
          <p:nvPr>
            <p:ph idx="1"/>
          </p:nvPr>
        </p:nvSpPr>
        <p:spPr bwMode="auto">
          <a:xfrm>
            <a:off x="838199" y="2841819"/>
            <a:ext cx="1099038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Readings are represented as numeric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inner list represents observations from one monitoring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All locations contain at least one reading.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Threshold values are supplied by the user.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reading below the lower threshold is classified as 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reading between the lower and upper thresholds, inclusive, is classified as Normal.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reading above the upper threshold is classified as High.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is a demonstration of threshold-based classification, not an official environmental safety assessment.</a:t>
            </a:r>
          </a:p>
        </p:txBody>
      </p:sp>
    </p:spTree>
    <p:extLst>
      <p:ext uri="{BB962C8B-B14F-4D97-AF65-F5344CB8AC3E}">
        <p14:creationId xmlns:p14="http://schemas.microsoft.com/office/powerpoint/2010/main" val="2586336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8B36C-041E-CE3B-CA71-F749792C192F}"/>
              </a:ext>
            </a:extLst>
          </p:cNvPr>
          <p:cNvSpPr>
            <a:spLocks noGrp="1"/>
          </p:cNvSpPr>
          <p:nvPr>
            <p:ph type="title"/>
          </p:nvPr>
        </p:nvSpPr>
        <p:spPr/>
        <p:txBody>
          <a:bodyPr/>
          <a:lstStyle/>
          <a:p>
            <a:r>
              <a:rPr lang="en-IN" dirty="0"/>
              <a:t>Algorithm</a:t>
            </a:r>
          </a:p>
        </p:txBody>
      </p:sp>
      <p:sp>
        <p:nvSpPr>
          <p:cNvPr id="4" name="Rectangle 1">
            <a:extLst>
              <a:ext uri="{FF2B5EF4-FFF2-40B4-BE49-F238E27FC236}">
                <a16:creationId xmlns:a16="http://schemas.microsoft.com/office/drawing/2014/main" id="{B08D9533-1D76-46D9-8BC3-BC6116897125}"/>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Input the number of monitoring locations.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Enter the lower and upper threshold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Create a nested list to store readings for each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average, minimum, and maximum for each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Classify every reading using the threshold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Count the observations in each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report for each 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overall average, minimum, and maximum.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overall environmental monitoring summary.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1286399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A7848-C1A0-D0C2-D5AC-1377AAC9B0C6}"/>
              </a:ext>
            </a:extLst>
          </p:cNvPr>
          <p:cNvSpPr>
            <a:spLocks noGrp="1"/>
          </p:cNvSpPr>
          <p:nvPr>
            <p:ph type="title"/>
          </p:nvPr>
        </p:nvSpPr>
        <p:spPr/>
        <p:txBody>
          <a:bodyPr/>
          <a:lstStyle/>
          <a:p>
            <a:r>
              <a:rPr lang="en-IN" dirty="0"/>
              <a:t>Python Source Code</a:t>
            </a:r>
          </a:p>
        </p:txBody>
      </p:sp>
      <p:sp>
        <p:nvSpPr>
          <p:cNvPr id="3" name="Content Placeholder 2">
            <a:extLst>
              <a:ext uri="{FF2B5EF4-FFF2-40B4-BE49-F238E27FC236}">
                <a16:creationId xmlns:a16="http://schemas.microsoft.com/office/drawing/2014/main" id="{AB866EDD-A5A2-952A-300D-9344735D92A4}"/>
              </a:ext>
            </a:extLst>
          </p:cNvPr>
          <p:cNvSpPr>
            <a:spLocks noGrp="1"/>
          </p:cNvSpPr>
          <p:nvPr>
            <p:ph idx="1"/>
          </p:nvPr>
        </p:nvSpPr>
        <p:spPr/>
        <p:txBody>
          <a:bodyPr>
            <a:normAutofit fontScale="25000" lnSpcReduction="20000"/>
          </a:bodyPr>
          <a:lstStyle/>
          <a:p>
            <a:pPr marL="0" indent="0">
              <a:buNone/>
            </a:pPr>
            <a:endParaRPr lang="en-US" dirty="0"/>
          </a:p>
          <a:p>
            <a:endParaRPr lang="en-US" dirty="0"/>
          </a:p>
          <a:p>
            <a:r>
              <a:rPr lang="en-US" dirty="0"/>
              <a:t>data = []</a:t>
            </a:r>
          </a:p>
          <a:p>
            <a:r>
              <a:rPr lang="en-US" dirty="0"/>
              <a:t>locations = int(input("Enter number of locations: "))</a:t>
            </a:r>
          </a:p>
          <a:p>
            <a:endParaRPr lang="en-US" dirty="0"/>
          </a:p>
          <a:p>
            <a:r>
              <a:rPr lang="en-US" dirty="0"/>
              <a:t>lower = float(input("Enter lower threshold: "))</a:t>
            </a:r>
          </a:p>
          <a:p>
            <a:r>
              <a:rPr lang="en-US" dirty="0"/>
              <a:t>upper = float(input("Enter upper threshold: "))</a:t>
            </a:r>
          </a:p>
          <a:p>
            <a:endParaRPr lang="en-US" dirty="0"/>
          </a:p>
          <a:p>
            <a:r>
              <a:rPr lang="en-US" dirty="0"/>
              <a:t>if locations &lt;= 0 or lower &gt; upper:</a:t>
            </a:r>
          </a:p>
          <a:p>
            <a:r>
              <a:rPr lang="en-US" dirty="0"/>
              <a:t>    print("Invalid number of locations or thresholds.")</a:t>
            </a:r>
          </a:p>
          <a:p>
            <a:endParaRPr lang="en-US" dirty="0"/>
          </a:p>
          <a:p>
            <a:r>
              <a:rPr lang="en-US" dirty="0"/>
              <a:t>else:</a:t>
            </a:r>
          </a:p>
          <a:p>
            <a:r>
              <a:rPr lang="en-US" dirty="0"/>
              <a:t>    for </a:t>
            </a:r>
            <a:r>
              <a:rPr lang="en-US" dirty="0" err="1"/>
              <a:t>i</a:t>
            </a:r>
            <a:r>
              <a:rPr lang="en-US" dirty="0"/>
              <a:t> in range(locations):</a:t>
            </a:r>
          </a:p>
          <a:p>
            <a:r>
              <a:rPr lang="en-US" dirty="0"/>
              <a:t>        name = input("\</a:t>
            </a:r>
            <a:r>
              <a:rPr lang="en-US" dirty="0" err="1"/>
              <a:t>nEnter</a:t>
            </a:r>
            <a:r>
              <a:rPr lang="en-US" dirty="0"/>
              <a:t> location name: ")</a:t>
            </a:r>
          </a:p>
          <a:p>
            <a:r>
              <a:rPr lang="en-US" dirty="0"/>
              <a:t>        values = input(</a:t>
            </a:r>
          </a:p>
          <a:p>
            <a:r>
              <a:rPr lang="en-US" dirty="0"/>
              <a:t>            "Enter readings separated by commas: "</a:t>
            </a:r>
          </a:p>
          <a:p>
            <a:r>
              <a:rPr lang="en-US" dirty="0"/>
              <a:t>        )</a:t>
            </a:r>
          </a:p>
          <a:p>
            <a:r>
              <a:rPr lang="en-US" dirty="0"/>
              <a:t>        readings = [float(</a:t>
            </a:r>
            <a:r>
              <a:rPr lang="en-US" dirty="0" err="1"/>
              <a:t>x.strip</a:t>
            </a:r>
            <a:r>
              <a:rPr lang="en-US" dirty="0"/>
              <a:t>())</a:t>
            </a:r>
          </a:p>
          <a:p>
            <a:r>
              <a:rPr lang="en-US" dirty="0"/>
              <a:t>                    for x in </a:t>
            </a:r>
            <a:r>
              <a:rPr lang="en-US" dirty="0" err="1"/>
              <a:t>values.split</a:t>
            </a:r>
            <a:r>
              <a:rPr lang="en-US" dirty="0"/>
              <a:t>(",")]</a:t>
            </a:r>
          </a:p>
          <a:p>
            <a:endParaRPr lang="en-US" dirty="0"/>
          </a:p>
          <a:p>
            <a:r>
              <a:rPr lang="en-US" dirty="0"/>
              <a:t>        if not readings:</a:t>
            </a:r>
          </a:p>
          <a:p>
            <a:r>
              <a:rPr lang="en-US" dirty="0"/>
              <a:t>            print("No readings entered.")</a:t>
            </a:r>
          </a:p>
          <a:p>
            <a:r>
              <a:rPr lang="en-US" dirty="0"/>
              <a:t>            continue</a:t>
            </a:r>
          </a:p>
          <a:p>
            <a:endParaRPr lang="en-US" dirty="0"/>
          </a:p>
          <a:p>
            <a:r>
              <a:rPr lang="en-US" dirty="0"/>
              <a:t>        </a:t>
            </a:r>
            <a:r>
              <a:rPr lang="en-US" dirty="0" err="1"/>
              <a:t>data.append</a:t>
            </a:r>
            <a:r>
              <a:rPr lang="en-US" dirty="0"/>
              <a:t>([name, readings])</a:t>
            </a:r>
          </a:p>
          <a:p>
            <a:endParaRPr lang="en-US" dirty="0"/>
          </a:p>
          <a:p>
            <a:r>
              <a:rPr lang="en-US" dirty="0"/>
              <a:t>    total = []</a:t>
            </a:r>
          </a:p>
          <a:p>
            <a:r>
              <a:rPr lang="en-US" dirty="0"/>
              <a:t>    counts = {"Low": 0, "Normal": 0, "High": 0}</a:t>
            </a:r>
          </a:p>
          <a:p>
            <a:endParaRPr lang="en-US" dirty="0"/>
          </a:p>
          <a:p>
            <a:r>
              <a:rPr lang="en-US" dirty="0"/>
              <a:t>    for name, readings in data:</a:t>
            </a:r>
          </a:p>
          <a:p>
            <a:r>
              <a:rPr lang="en-US" dirty="0"/>
              <a:t>        avg = sum(readings) / </a:t>
            </a:r>
            <a:r>
              <a:rPr lang="en-US" dirty="0" err="1"/>
              <a:t>len</a:t>
            </a:r>
            <a:r>
              <a:rPr lang="en-US" dirty="0"/>
              <a:t>(readings)</a:t>
            </a:r>
          </a:p>
          <a:p>
            <a:r>
              <a:rPr lang="en-US" dirty="0"/>
              <a:t>        maximum = max(readings)</a:t>
            </a:r>
          </a:p>
          <a:p>
            <a:r>
              <a:rPr lang="en-US" dirty="0"/>
              <a:t>        minimum = min(readings)</a:t>
            </a:r>
          </a:p>
          <a:p>
            <a:endParaRPr lang="en-US" dirty="0"/>
          </a:p>
          <a:p>
            <a:r>
              <a:rPr lang="en-US" dirty="0"/>
              <a:t>        print("\</a:t>
            </a:r>
            <a:r>
              <a:rPr lang="en-US" dirty="0" err="1"/>
              <a:t>nLocation</a:t>
            </a:r>
            <a:r>
              <a:rPr lang="en-US" dirty="0"/>
              <a:t>:", name)</a:t>
            </a:r>
          </a:p>
          <a:p>
            <a:r>
              <a:rPr lang="en-US" dirty="0"/>
              <a:t>        print("Readings:", readings)</a:t>
            </a:r>
          </a:p>
          <a:p>
            <a:r>
              <a:rPr lang="en-US" dirty="0"/>
              <a:t>        print("Average:", round(avg, 2))</a:t>
            </a:r>
          </a:p>
          <a:p>
            <a:r>
              <a:rPr lang="en-US" dirty="0"/>
              <a:t>        print("Maximum:", maximum)</a:t>
            </a:r>
          </a:p>
          <a:p>
            <a:r>
              <a:rPr lang="en-US" dirty="0"/>
              <a:t>        print("Minimum:", minimum)</a:t>
            </a:r>
          </a:p>
          <a:p>
            <a:endParaRPr lang="en-US" dirty="0"/>
          </a:p>
          <a:p>
            <a:r>
              <a:rPr lang="en-US" dirty="0"/>
              <a:t>        for value in readings:</a:t>
            </a:r>
          </a:p>
          <a:p>
            <a:r>
              <a:rPr lang="en-US" dirty="0"/>
              <a:t>            if value &lt; lower:</a:t>
            </a:r>
          </a:p>
          <a:p>
            <a:r>
              <a:rPr lang="en-US" dirty="0"/>
              <a:t>                category = "Low"</a:t>
            </a:r>
          </a:p>
          <a:p>
            <a:r>
              <a:rPr lang="en-US" dirty="0"/>
              <a:t>            </a:t>
            </a:r>
            <a:r>
              <a:rPr lang="en-US" dirty="0" err="1"/>
              <a:t>elif</a:t>
            </a:r>
            <a:r>
              <a:rPr lang="en-US" dirty="0"/>
              <a:t> value &lt;= upper:</a:t>
            </a:r>
          </a:p>
          <a:p>
            <a:r>
              <a:rPr lang="en-US" dirty="0"/>
              <a:t>                category = "Normal"</a:t>
            </a:r>
          </a:p>
          <a:p>
            <a:r>
              <a:rPr lang="en-US" dirty="0"/>
              <a:t>            else:</a:t>
            </a:r>
          </a:p>
          <a:p>
            <a:r>
              <a:rPr lang="en-US" dirty="0"/>
              <a:t>                category = "High"</a:t>
            </a:r>
          </a:p>
          <a:p>
            <a:endParaRPr lang="en-US" dirty="0"/>
          </a:p>
          <a:p>
            <a:r>
              <a:rPr lang="en-US" dirty="0"/>
              <a:t>            counts[category] += 1</a:t>
            </a:r>
          </a:p>
          <a:p>
            <a:r>
              <a:rPr lang="en-US" dirty="0"/>
              <a:t>            print(value, "-&gt;", category)</a:t>
            </a:r>
          </a:p>
          <a:p>
            <a:endParaRPr lang="en-US" dirty="0"/>
          </a:p>
          <a:p>
            <a:r>
              <a:rPr lang="en-US" dirty="0"/>
              <a:t>        </a:t>
            </a:r>
            <a:r>
              <a:rPr lang="en-US" dirty="0" err="1"/>
              <a:t>total.extend</a:t>
            </a:r>
            <a:r>
              <a:rPr lang="en-US" dirty="0"/>
              <a:t>(readings)</a:t>
            </a:r>
          </a:p>
          <a:p>
            <a:endParaRPr lang="en-US" dirty="0"/>
          </a:p>
          <a:p>
            <a:r>
              <a:rPr lang="en-US" dirty="0"/>
              <a:t>    if total:</a:t>
            </a:r>
          </a:p>
          <a:p>
            <a:r>
              <a:rPr lang="en-US" dirty="0"/>
              <a:t>        print("\n--- Overall Summary ---")</a:t>
            </a:r>
          </a:p>
          <a:p>
            <a:r>
              <a:rPr lang="en-US" dirty="0"/>
              <a:t>        print("Total readings:", </a:t>
            </a:r>
            <a:r>
              <a:rPr lang="en-US" dirty="0" err="1"/>
              <a:t>len</a:t>
            </a:r>
            <a:r>
              <a:rPr lang="en-US" dirty="0"/>
              <a:t>(total))</a:t>
            </a:r>
          </a:p>
          <a:p>
            <a:r>
              <a:rPr lang="en-US" dirty="0"/>
              <a:t>        print("Overall average:",</a:t>
            </a:r>
          </a:p>
          <a:p>
            <a:r>
              <a:rPr lang="en-US" dirty="0"/>
              <a:t>              round(sum(total) / </a:t>
            </a:r>
            <a:r>
              <a:rPr lang="en-US" dirty="0" err="1"/>
              <a:t>len</a:t>
            </a:r>
            <a:r>
              <a:rPr lang="en-US" dirty="0"/>
              <a:t>(total), 2))</a:t>
            </a:r>
          </a:p>
          <a:p>
            <a:r>
              <a:rPr lang="en-US" dirty="0"/>
              <a:t>        print("Overall maximum:", max(total))</a:t>
            </a:r>
          </a:p>
          <a:p>
            <a:r>
              <a:rPr lang="en-US" dirty="0"/>
              <a:t>        print("Overall minimum:", min(total))</a:t>
            </a:r>
          </a:p>
          <a:p>
            <a:r>
              <a:rPr lang="en-US" dirty="0"/>
              <a:t>        print("Low readings:", counts["Low"])</a:t>
            </a:r>
          </a:p>
          <a:p>
            <a:r>
              <a:rPr lang="en-US" dirty="0"/>
              <a:t>        print("Normal readings:", counts["Normal"])</a:t>
            </a:r>
          </a:p>
          <a:p>
            <a:r>
              <a:rPr lang="en-US" dirty="0"/>
              <a:t>        print("High readings:", counts["High"])</a:t>
            </a:r>
            <a:endParaRPr lang="en-IN" dirty="0"/>
          </a:p>
        </p:txBody>
      </p:sp>
    </p:spTree>
    <p:extLst>
      <p:ext uri="{BB962C8B-B14F-4D97-AF65-F5344CB8AC3E}">
        <p14:creationId xmlns:p14="http://schemas.microsoft.com/office/powerpoint/2010/main" val="177882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6A3B5-1ED3-E821-0D73-4684FA632E70}"/>
              </a:ext>
            </a:extLst>
          </p:cNvPr>
          <p:cNvSpPr>
            <a:spLocks noGrp="1"/>
          </p:cNvSpPr>
          <p:nvPr>
            <p:ph type="title"/>
          </p:nvPr>
        </p:nvSpPr>
        <p:spPr/>
        <p:txBody>
          <a:bodyPr/>
          <a:lstStyle/>
          <a:p>
            <a:r>
              <a:rPr lang="en-IN" dirty="0"/>
              <a:t>Test Cases</a:t>
            </a:r>
          </a:p>
        </p:txBody>
      </p:sp>
      <p:graphicFrame>
        <p:nvGraphicFramePr>
          <p:cNvPr id="4" name="Content Placeholder 3">
            <a:extLst>
              <a:ext uri="{FF2B5EF4-FFF2-40B4-BE49-F238E27FC236}">
                <a16:creationId xmlns:a16="http://schemas.microsoft.com/office/drawing/2014/main" id="{07901897-DA60-9874-7A6C-EE4976DE667D}"/>
              </a:ext>
            </a:extLst>
          </p:cNvPr>
          <p:cNvGraphicFramePr>
            <a:graphicFrameLocks noGrp="1"/>
          </p:cNvGraphicFramePr>
          <p:nvPr>
            <p:ph idx="1"/>
            <p:extLst>
              <p:ext uri="{D42A27DB-BD31-4B8C-83A1-F6EECF244321}">
                <p14:modId xmlns:p14="http://schemas.microsoft.com/office/powerpoint/2010/main" val="2316110583"/>
              </p:ext>
            </p:extLst>
          </p:nvPr>
        </p:nvGraphicFramePr>
        <p:xfrm>
          <a:off x="304800" y="1348153"/>
          <a:ext cx="11049000" cy="4994034"/>
        </p:xfrm>
        <a:graphic>
          <a:graphicData uri="http://schemas.openxmlformats.org/drawingml/2006/table">
            <a:tbl>
              <a:tblPr/>
              <a:tblGrid>
                <a:gridCol w="5524500">
                  <a:extLst>
                    <a:ext uri="{9D8B030D-6E8A-4147-A177-3AD203B41FA5}">
                      <a16:colId xmlns:a16="http://schemas.microsoft.com/office/drawing/2014/main" val="2926609153"/>
                    </a:ext>
                  </a:extLst>
                </a:gridCol>
                <a:gridCol w="5524500">
                  <a:extLst>
                    <a:ext uri="{9D8B030D-6E8A-4147-A177-3AD203B41FA5}">
                      <a16:colId xmlns:a16="http://schemas.microsoft.com/office/drawing/2014/main" val="4283994137"/>
                    </a:ext>
                  </a:extLst>
                </a:gridCol>
              </a:tblGrid>
              <a:tr h="832339">
                <a:tc>
                  <a:txBody>
                    <a:bodyPr/>
                    <a:lstStyle/>
                    <a:p>
                      <a:pPr>
                        <a:buNone/>
                      </a:pPr>
                      <a:r>
                        <a:rPr lang="en-IN"/>
                        <a:t>Test reading</a:t>
                      </a:r>
                    </a:p>
                  </a:txBody>
                  <a:tcPr anchor="ctr">
                    <a:lnL>
                      <a:noFill/>
                    </a:lnL>
                    <a:lnR>
                      <a:noFill/>
                    </a:lnR>
                    <a:lnT>
                      <a:noFill/>
                    </a:lnT>
                    <a:lnB>
                      <a:noFill/>
                    </a:lnB>
                    <a:noFill/>
                  </a:tcPr>
                </a:tc>
                <a:tc>
                  <a:txBody>
                    <a:bodyPr/>
                    <a:lstStyle/>
                    <a:p>
                      <a:pPr>
                        <a:buNone/>
                      </a:pPr>
                      <a:r>
                        <a:rPr lang="en-IN"/>
                        <a:t>Expected category</a:t>
                      </a:r>
                    </a:p>
                  </a:txBody>
                  <a:tcPr anchor="ctr">
                    <a:lnL>
                      <a:noFill/>
                    </a:lnL>
                    <a:lnR>
                      <a:noFill/>
                    </a:lnR>
                    <a:lnT>
                      <a:noFill/>
                    </a:lnT>
                    <a:lnB>
                      <a:noFill/>
                    </a:lnB>
                    <a:noFill/>
                  </a:tcPr>
                </a:tc>
                <a:extLst>
                  <a:ext uri="{0D108BD9-81ED-4DB2-BD59-A6C34878D82A}">
                    <a16:rowId xmlns:a16="http://schemas.microsoft.com/office/drawing/2014/main" val="2802392627"/>
                  </a:ext>
                </a:extLst>
              </a:tr>
              <a:tr h="832339">
                <a:tc>
                  <a:txBody>
                    <a:bodyPr/>
                    <a:lstStyle/>
                    <a:p>
                      <a:pPr>
                        <a:buNone/>
                      </a:pPr>
                      <a:r>
                        <a:rPr lang="en-IN"/>
                        <a:t>25</a:t>
                      </a:r>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extLst>
                  <a:ext uri="{0D108BD9-81ED-4DB2-BD59-A6C34878D82A}">
                    <a16:rowId xmlns:a16="http://schemas.microsoft.com/office/drawing/2014/main" val="2208867331"/>
                  </a:ext>
                </a:extLst>
              </a:tr>
              <a:tr h="832339">
                <a:tc>
                  <a:txBody>
                    <a:bodyPr/>
                    <a:lstStyle/>
                    <a:p>
                      <a:pPr>
                        <a:buNone/>
                      </a:pPr>
                      <a:r>
                        <a:rPr lang="en-IN"/>
                        <a:t>50</a:t>
                      </a:r>
                    </a:p>
                  </a:txBody>
                  <a:tcPr anchor="ctr">
                    <a:lnL>
                      <a:noFill/>
                    </a:lnL>
                    <a:lnR>
                      <a:noFill/>
                    </a:lnR>
                    <a:lnT>
                      <a:noFill/>
                    </a:lnT>
                    <a:lnB>
                      <a:noFill/>
                    </a:lnB>
                    <a:noFill/>
                  </a:tcPr>
                </a:tc>
                <a:tc>
                  <a:txBody>
                    <a:bodyPr/>
                    <a:lstStyle/>
                    <a:p>
                      <a:pPr>
                        <a:buNone/>
                      </a:pPr>
                      <a:r>
                        <a:rPr lang="en-IN"/>
                        <a:t>Normal</a:t>
                      </a:r>
                    </a:p>
                  </a:txBody>
                  <a:tcPr anchor="ctr">
                    <a:lnL>
                      <a:noFill/>
                    </a:lnL>
                    <a:lnR>
                      <a:noFill/>
                    </a:lnR>
                    <a:lnT>
                      <a:noFill/>
                    </a:lnT>
                    <a:lnB>
                      <a:noFill/>
                    </a:lnB>
                    <a:noFill/>
                  </a:tcPr>
                </a:tc>
                <a:extLst>
                  <a:ext uri="{0D108BD9-81ED-4DB2-BD59-A6C34878D82A}">
                    <a16:rowId xmlns:a16="http://schemas.microsoft.com/office/drawing/2014/main" val="768434017"/>
                  </a:ext>
                </a:extLst>
              </a:tr>
              <a:tr h="832339">
                <a:tc>
                  <a:txBody>
                    <a:bodyPr/>
                    <a:lstStyle/>
                    <a:p>
                      <a:pPr>
                        <a:buNone/>
                      </a:pPr>
                      <a:r>
                        <a:rPr lang="en-IN"/>
                        <a:t>75</a:t>
                      </a:r>
                    </a:p>
                  </a:txBody>
                  <a:tcPr anchor="ctr">
                    <a:lnL>
                      <a:noFill/>
                    </a:lnL>
                    <a:lnR>
                      <a:noFill/>
                    </a:lnR>
                    <a:lnT>
                      <a:noFill/>
                    </a:lnT>
                    <a:lnB>
                      <a:noFill/>
                    </a:lnB>
                    <a:noFill/>
                  </a:tcPr>
                </a:tc>
                <a:tc>
                  <a:txBody>
                    <a:bodyPr/>
                    <a:lstStyle/>
                    <a:p>
                      <a:pPr>
                        <a:buNone/>
                      </a:pPr>
                      <a:r>
                        <a:rPr lang="en-IN"/>
                        <a:t>Normal</a:t>
                      </a:r>
                    </a:p>
                  </a:txBody>
                  <a:tcPr anchor="ctr">
                    <a:lnL>
                      <a:noFill/>
                    </a:lnL>
                    <a:lnR>
                      <a:noFill/>
                    </a:lnR>
                    <a:lnT>
                      <a:noFill/>
                    </a:lnT>
                    <a:lnB>
                      <a:noFill/>
                    </a:lnB>
                    <a:noFill/>
                  </a:tcPr>
                </a:tc>
                <a:extLst>
                  <a:ext uri="{0D108BD9-81ED-4DB2-BD59-A6C34878D82A}">
                    <a16:rowId xmlns:a16="http://schemas.microsoft.com/office/drawing/2014/main" val="2806155263"/>
                  </a:ext>
                </a:extLst>
              </a:tr>
              <a:tr h="832339">
                <a:tc>
                  <a:txBody>
                    <a:bodyPr/>
                    <a:lstStyle/>
                    <a:p>
                      <a:pPr>
                        <a:buNone/>
                      </a:pPr>
                      <a:r>
                        <a:rPr lang="en-IN"/>
                        <a:t>100</a:t>
                      </a:r>
                    </a:p>
                  </a:txBody>
                  <a:tcPr anchor="ctr">
                    <a:lnL>
                      <a:noFill/>
                    </a:lnL>
                    <a:lnR>
                      <a:noFill/>
                    </a:lnR>
                    <a:lnT>
                      <a:noFill/>
                    </a:lnT>
                    <a:lnB>
                      <a:noFill/>
                    </a:lnB>
                    <a:noFill/>
                  </a:tcPr>
                </a:tc>
                <a:tc>
                  <a:txBody>
                    <a:bodyPr/>
                    <a:lstStyle/>
                    <a:p>
                      <a:pPr>
                        <a:buNone/>
                      </a:pPr>
                      <a:r>
                        <a:rPr lang="en-IN"/>
                        <a:t>Normal</a:t>
                      </a:r>
                    </a:p>
                  </a:txBody>
                  <a:tcPr anchor="ctr">
                    <a:lnL>
                      <a:noFill/>
                    </a:lnL>
                    <a:lnR>
                      <a:noFill/>
                    </a:lnR>
                    <a:lnT>
                      <a:noFill/>
                    </a:lnT>
                    <a:lnB>
                      <a:noFill/>
                    </a:lnB>
                    <a:noFill/>
                  </a:tcPr>
                </a:tc>
                <a:extLst>
                  <a:ext uri="{0D108BD9-81ED-4DB2-BD59-A6C34878D82A}">
                    <a16:rowId xmlns:a16="http://schemas.microsoft.com/office/drawing/2014/main" val="2920529223"/>
                  </a:ext>
                </a:extLst>
              </a:tr>
              <a:tr h="832339">
                <a:tc>
                  <a:txBody>
                    <a:bodyPr/>
                    <a:lstStyle/>
                    <a:p>
                      <a:pPr>
                        <a:buNone/>
                      </a:pPr>
                      <a:r>
                        <a:rPr lang="en-IN"/>
                        <a:t>125</a:t>
                      </a:r>
                    </a:p>
                  </a:txBody>
                  <a:tcPr anchor="ctr">
                    <a:lnL>
                      <a:noFill/>
                    </a:lnL>
                    <a:lnR>
                      <a:noFill/>
                    </a:lnR>
                    <a:lnT>
                      <a:noFill/>
                    </a:lnT>
                    <a:lnB>
                      <a:noFill/>
                    </a:lnB>
                    <a:noFill/>
                  </a:tcPr>
                </a:tc>
                <a:tc>
                  <a:txBody>
                    <a:bodyPr/>
                    <a:lstStyle/>
                    <a:p>
                      <a:pPr>
                        <a:buNone/>
                      </a:pPr>
                      <a:r>
                        <a:rPr lang="en-IN" dirty="0"/>
                        <a:t>High</a:t>
                      </a:r>
                    </a:p>
                  </a:txBody>
                  <a:tcPr anchor="ctr">
                    <a:lnL>
                      <a:noFill/>
                    </a:lnL>
                    <a:lnR>
                      <a:noFill/>
                    </a:lnR>
                    <a:lnT>
                      <a:noFill/>
                    </a:lnT>
                    <a:lnB>
                      <a:noFill/>
                    </a:lnB>
                    <a:noFill/>
                  </a:tcPr>
                </a:tc>
                <a:extLst>
                  <a:ext uri="{0D108BD9-81ED-4DB2-BD59-A6C34878D82A}">
                    <a16:rowId xmlns:a16="http://schemas.microsoft.com/office/drawing/2014/main" val="2638929648"/>
                  </a:ext>
                </a:extLst>
              </a:tr>
            </a:tbl>
          </a:graphicData>
        </a:graphic>
      </p:graphicFrame>
    </p:spTree>
    <p:extLst>
      <p:ext uri="{BB962C8B-B14F-4D97-AF65-F5344CB8AC3E}">
        <p14:creationId xmlns:p14="http://schemas.microsoft.com/office/powerpoint/2010/main" val="41813364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3F901-0C5E-80E6-B545-DF94D08A3EB7}"/>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50DBEE27-4659-989B-35B0-6700339C0CC0}"/>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54C04EC3-190B-D273-1874-B42E9CDA1FD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30765" y="2213525"/>
            <a:ext cx="2766743" cy="4278801"/>
          </a:xfrm>
        </p:spPr>
      </p:pic>
      <p:sp>
        <p:nvSpPr>
          <p:cNvPr id="5" name="Text Placeholder 4">
            <a:extLst>
              <a:ext uri="{FF2B5EF4-FFF2-40B4-BE49-F238E27FC236}">
                <a16:creationId xmlns:a16="http://schemas.microsoft.com/office/drawing/2014/main" id="{EDFACFB0-9ECC-E7BD-9C31-CD35EACCD43E}"/>
              </a:ext>
            </a:extLst>
          </p:cNvPr>
          <p:cNvSpPr>
            <a:spLocks noGrp="1"/>
          </p:cNvSpPr>
          <p:nvPr>
            <p:ph type="body" sz="quarter" idx="3"/>
          </p:nvPr>
        </p:nvSpPr>
        <p:spPr/>
        <p:txBody>
          <a:bodyPr/>
          <a:lstStyle/>
          <a:p>
            <a:r>
              <a:rPr lang="en-US" dirty="0" err="1"/>
              <a:t>Ouput</a:t>
            </a:r>
            <a:endParaRPr lang="en-IN" dirty="0"/>
          </a:p>
        </p:txBody>
      </p:sp>
      <p:pic>
        <p:nvPicPr>
          <p:cNvPr id="10" name="Content Placeholder 9">
            <a:extLst>
              <a:ext uri="{FF2B5EF4-FFF2-40B4-BE49-F238E27FC236}">
                <a16:creationId xmlns:a16="http://schemas.microsoft.com/office/drawing/2014/main" id="{E6C97981-8F4B-3A50-D976-175FAB108B2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631015" y="2213525"/>
            <a:ext cx="2484663" cy="4278801"/>
          </a:xfrm>
        </p:spPr>
      </p:pic>
    </p:spTree>
    <p:extLst>
      <p:ext uri="{BB962C8B-B14F-4D97-AF65-F5344CB8AC3E}">
        <p14:creationId xmlns:p14="http://schemas.microsoft.com/office/powerpoint/2010/main" val="4006255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87923-4DE6-0481-AD90-84AB8EDD8E99}"/>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9B5F09B6-BF49-F3BC-C4C0-E5C69724D91B}"/>
              </a:ext>
            </a:extLst>
          </p:cNvPr>
          <p:cNvSpPr>
            <a:spLocks noGrp="1"/>
          </p:cNvSpPr>
          <p:nvPr>
            <p:ph idx="1"/>
          </p:nvPr>
        </p:nvSpPr>
        <p:spPr/>
        <p:txBody>
          <a:bodyPr/>
          <a:lstStyle/>
          <a:p>
            <a:r>
              <a:rPr lang="en-US" dirty="0"/>
              <a:t>The Environmental Monitoring Data Analyzer demonstrates how Python can be used to process and analyze environmental data stored in nested lists. It calculates average, minimum, and maximum readings and classifies observations using user-defined threshold values.</a:t>
            </a:r>
          </a:p>
          <a:p>
            <a:r>
              <a:rPr lang="en-US" dirty="0"/>
              <a:t>This project helps summarize environmental measurements, identify unusual readings, and support environmental monitoring decisions. It demonstrates the practical use of lists, nested lists, loops, conditional statements, and built-in functions in Python.</a:t>
            </a:r>
          </a:p>
          <a:p>
            <a:endParaRPr lang="en-IN" dirty="0"/>
          </a:p>
        </p:txBody>
      </p:sp>
    </p:spTree>
    <p:extLst>
      <p:ext uri="{BB962C8B-B14F-4D97-AF65-F5344CB8AC3E}">
        <p14:creationId xmlns:p14="http://schemas.microsoft.com/office/powerpoint/2010/main" val="564178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53377-68C8-06C6-F8C6-606D8481A9DF}"/>
              </a:ext>
            </a:extLst>
          </p:cNvPr>
          <p:cNvSpPr>
            <a:spLocks noGrp="1"/>
          </p:cNvSpPr>
          <p:nvPr>
            <p:ph type="title"/>
          </p:nvPr>
        </p:nvSpPr>
        <p:spPr/>
        <p:txBody>
          <a:bodyPr/>
          <a:lstStyle/>
          <a:p>
            <a:r>
              <a:rPr lang="en-US" dirty="0"/>
              <a:t>CASE-84: Smart Classroom Timetable Allocation</a:t>
            </a:r>
            <a:endParaRPr lang="en-IN" dirty="0"/>
          </a:p>
        </p:txBody>
      </p:sp>
      <p:sp>
        <p:nvSpPr>
          <p:cNvPr id="3" name="Content Placeholder 2">
            <a:extLst>
              <a:ext uri="{FF2B5EF4-FFF2-40B4-BE49-F238E27FC236}">
                <a16:creationId xmlns:a16="http://schemas.microsoft.com/office/drawing/2014/main" id="{4292DF7A-3076-17A2-6262-E3E0274ED825}"/>
              </a:ext>
            </a:extLst>
          </p:cNvPr>
          <p:cNvSpPr>
            <a:spLocks noGrp="1"/>
          </p:cNvSpPr>
          <p:nvPr>
            <p:ph idx="1"/>
          </p:nvPr>
        </p:nvSpPr>
        <p:spPr/>
        <p:txBody>
          <a:bodyPr>
            <a:normAutofit lnSpcReduction="10000"/>
          </a:bodyPr>
          <a:lstStyle/>
          <a:p>
            <a:r>
              <a:rPr lang="en-IN" dirty="0"/>
              <a:t>Problem Statement</a:t>
            </a:r>
          </a:p>
          <a:p>
            <a:r>
              <a:rPr lang="en-US" dirty="0"/>
              <a:t>Educational institutions must allocate courses to classrooms and time periods while satisfying classroom capacity and timetable constraints. Incorrect allocation may result in classroom clashes, overlapping classes, or rooms that cannot accommodate the required number of students.</a:t>
            </a:r>
          </a:p>
          <a:p>
            <a:r>
              <a:rPr lang="en-US" dirty="0"/>
              <a:t>The objective of this project is to develop a Python program that represents courses, classrooms, and time periods using lists and tuples. The program validates classroom capacities, detects timetable clashes, and determines whether all courses can be accommodated under the specified constraints.</a:t>
            </a:r>
          </a:p>
          <a:p>
            <a:endParaRPr lang="en-IN" dirty="0"/>
          </a:p>
        </p:txBody>
      </p:sp>
    </p:spTree>
    <p:extLst>
      <p:ext uri="{BB962C8B-B14F-4D97-AF65-F5344CB8AC3E}">
        <p14:creationId xmlns:p14="http://schemas.microsoft.com/office/powerpoint/2010/main" val="3340652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0253EA-5CBB-D2C9-822D-A6EAF02B417F}"/>
              </a:ext>
            </a:extLst>
          </p:cNvPr>
          <p:cNvSpPr>
            <a:spLocks noGrp="1"/>
          </p:cNvSpPr>
          <p:nvPr>
            <p:ph type="title"/>
          </p:nvPr>
        </p:nvSpPr>
        <p:spPr/>
        <p:txBody>
          <a:bodyPr/>
          <a:lstStyle/>
          <a:p>
            <a:r>
              <a:rPr lang="en-US" dirty="0" err="1"/>
              <a:t>Ojectives</a:t>
            </a:r>
            <a:endParaRPr lang="en-IN" dirty="0"/>
          </a:p>
        </p:txBody>
      </p:sp>
      <p:sp>
        <p:nvSpPr>
          <p:cNvPr id="6" name="Rectangle 2">
            <a:extLst>
              <a:ext uri="{FF2B5EF4-FFF2-40B4-BE49-F238E27FC236}">
                <a16:creationId xmlns:a16="http://schemas.microsoft.com/office/drawing/2014/main" id="{E0DD92EE-80B9-0B31-743F-2A6AFDE3B4E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Represent courses, classrooms, and periods using Python lists and tuples.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the number of students enrolled in each course.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Validate classroom capacity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Assign courses to suitable classrooms and time periods.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Detect classroom clashes and overlapping course schedules.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Ensure that a course is not assigned to an unsuitable room.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Check whether all courses can be accommodated.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final timetable and any allocation failures</a:t>
            </a:r>
          </a:p>
        </p:txBody>
      </p:sp>
    </p:spTree>
    <p:extLst>
      <p:ext uri="{BB962C8B-B14F-4D97-AF65-F5344CB8AC3E}">
        <p14:creationId xmlns:p14="http://schemas.microsoft.com/office/powerpoint/2010/main" val="2455075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0F69F-E70D-4B3E-7B9B-26245F8FF0D2}"/>
              </a:ext>
            </a:extLst>
          </p:cNvPr>
          <p:cNvSpPr>
            <a:spLocks noGrp="1"/>
          </p:cNvSpPr>
          <p:nvPr>
            <p:ph type="title"/>
          </p:nvPr>
        </p:nvSpPr>
        <p:spPr/>
        <p:txBody>
          <a:bodyPr/>
          <a:lstStyle/>
          <a:p>
            <a:r>
              <a:rPr lang="en-IN" dirty="0"/>
              <a:t>Assumptions</a:t>
            </a:r>
          </a:p>
        </p:txBody>
      </p:sp>
      <p:sp>
        <p:nvSpPr>
          <p:cNvPr id="4" name="Rectangle 1">
            <a:extLst>
              <a:ext uri="{FF2B5EF4-FFF2-40B4-BE49-F238E27FC236}">
                <a16:creationId xmlns:a16="http://schemas.microsoft.com/office/drawing/2014/main" id="{128285BD-F2BD-63FD-717D-14A4227A0AB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course has a unique course ID and a known student 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classroom has a unique room ID and a fixed seating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Time periods are represented by unique identifiers.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classroom can host only one course during a period.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course is scheduled only once in the timetable.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classroom capacity must be greater than or equal to the course enrollment.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course can be allocated only if a suitable room and an available period exist.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For this basic model, each course occupies one classroom for one period.</a:t>
            </a:r>
          </a:p>
        </p:txBody>
      </p:sp>
    </p:spTree>
    <p:extLst>
      <p:ext uri="{BB962C8B-B14F-4D97-AF65-F5344CB8AC3E}">
        <p14:creationId xmlns:p14="http://schemas.microsoft.com/office/powerpoint/2010/main" val="727373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C98C-D9F3-44CC-0F87-C6EBC2272703}"/>
              </a:ext>
            </a:extLst>
          </p:cNvPr>
          <p:cNvSpPr>
            <a:spLocks noGrp="1"/>
          </p:cNvSpPr>
          <p:nvPr>
            <p:ph type="title"/>
          </p:nvPr>
        </p:nvSpPr>
        <p:spPr/>
        <p:txBody>
          <a:bodyPr/>
          <a:lstStyle/>
          <a:p>
            <a:r>
              <a:rPr lang="en-IN" dirty="0"/>
              <a:t>Algorithm</a:t>
            </a:r>
          </a:p>
        </p:txBody>
      </p:sp>
      <p:sp>
        <p:nvSpPr>
          <p:cNvPr id="4" name="Rectangle 1">
            <a:extLst>
              <a:ext uri="{FF2B5EF4-FFF2-40B4-BE49-F238E27FC236}">
                <a16:creationId xmlns:a16="http://schemas.microsoft.com/office/drawing/2014/main" id="{A5A4E466-6B5E-56BA-3866-E4034890374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course details, room capacities, and available periods using lists and tuples.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Check whether each course has at least one classroom with sufficient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Initialize an empty timetable.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Select an unscheduled course.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Search for a suitable classroom and an available period.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Check whether the room-period combination is already occupied.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no clash exists, allocate the course and store the assignment as a tuple.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no suitable assignment is available, report that the course could not be scheduled.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Repeat until all courses are processed.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timetable, clashes, and any unallocated courses.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28390606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52E7D-75B9-B393-E632-9BC6E6D519ED}"/>
              </a:ext>
            </a:extLst>
          </p:cNvPr>
          <p:cNvSpPr>
            <a:spLocks noGrp="1"/>
          </p:cNvSpPr>
          <p:nvPr>
            <p:ph type="title"/>
          </p:nvPr>
        </p:nvSpPr>
        <p:spPr/>
        <p:txBody>
          <a:bodyPr/>
          <a:lstStyle/>
          <a:p>
            <a:r>
              <a:rPr lang="en-US" dirty="0"/>
              <a:t>Flowchart</a:t>
            </a:r>
            <a:endParaRPr lang="en-IN" dirty="0"/>
          </a:p>
        </p:txBody>
      </p:sp>
      <p:pic>
        <p:nvPicPr>
          <p:cNvPr id="5" name="Content Placeholder 4">
            <a:extLst>
              <a:ext uri="{FF2B5EF4-FFF2-40B4-BE49-F238E27FC236}">
                <a16:creationId xmlns:a16="http://schemas.microsoft.com/office/drawing/2014/main" id="{57EB556B-83DF-1EB4-4A7E-28CEE7769D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5238" y="836063"/>
            <a:ext cx="3771208" cy="5656812"/>
          </a:xfrm>
        </p:spPr>
      </p:pic>
    </p:spTree>
    <p:extLst>
      <p:ext uri="{BB962C8B-B14F-4D97-AF65-F5344CB8AC3E}">
        <p14:creationId xmlns:p14="http://schemas.microsoft.com/office/powerpoint/2010/main" val="36230602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0EEF-AE1D-9A0E-834B-AA2907A3A917}"/>
              </a:ext>
            </a:extLst>
          </p:cNvPr>
          <p:cNvSpPr>
            <a:spLocks noGrp="1"/>
          </p:cNvSpPr>
          <p:nvPr>
            <p:ph type="title"/>
          </p:nvPr>
        </p:nvSpPr>
        <p:spPr/>
        <p:txBody>
          <a:bodyPr/>
          <a:lstStyle/>
          <a:p>
            <a:r>
              <a:rPr lang="en-IN" dirty="0"/>
              <a:t>Python Source Code</a:t>
            </a:r>
          </a:p>
        </p:txBody>
      </p:sp>
      <p:sp>
        <p:nvSpPr>
          <p:cNvPr id="3" name="Content Placeholder 2">
            <a:extLst>
              <a:ext uri="{FF2B5EF4-FFF2-40B4-BE49-F238E27FC236}">
                <a16:creationId xmlns:a16="http://schemas.microsoft.com/office/drawing/2014/main" id="{E8C2CBFB-B365-87D6-57CA-DD3CC7806876}"/>
              </a:ext>
            </a:extLst>
          </p:cNvPr>
          <p:cNvSpPr>
            <a:spLocks noGrp="1"/>
          </p:cNvSpPr>
          <p:nvPr>
            <p:ph idx="1"/>
          </p:nvPr>
        </p:nvSpPr>
        <p:spPr/>
        <p:txBody>
          <a:bodyPr>
            <a:normAutofit fontScale="25000" lnSpcReduction="20000"/>
          </a:bodyPr>
          <a:lstStyle/>
          <a:p>
            <a:pPr marL="0" indent="0">
              <a:buNone/>
            </a:pPr>
            <a:endParaRPr lang="en-US" dirty="0"/>
          </a:p>
          <a:p>
            <a:r>
              <a:rPr lang="en-US" dirty="0"/>
              <a:t>courses = [</a:t>
            </a:r>
          </a:p>
          <a:p>
            <a:r>
              <a:rPr lang="en-US" dirty="0"/>
              <a:t>    ("Python", 55),</a:t>
            </a:r>
          </a:p>
          <a:p>
            <a:r>
              <a:rPr lang="en-US" dirty="0"/>
              <a:t>    ("Mathematics", 40),</a:t>
            </a:r>
          </a:p>
          <a:p>
            <a:r>
              <a:rPr lang="en-US" dirty="0"/>
              <a:t>    ("Physics", 65),</a:t>
            </a:r>
          </a:p>
          <a:p>
            <a:r>
              <a:rPr lang="en-US" dirty="0"/>
              <a:t>    ("English", 30)</a:t>
            </a:r>
          </a:p>
          <a:p>
            <a:r>
              <a:rPr lang="en-US" dirty="0"/>
              <a:t>]</a:t>
            </a:r>
          </a:p>
          <a:p>
            <a:endParaRPr lang="en-US" dirty="0"/>
          </a:p>
          <a:p>
            <a:r>
              <a:rPr lang="en-US" dirty="0"/>
              <a:t>rooms = [</a:t>
            </a:r>
          </a:p>
          <a:p>
            <a:r>
              <a:rPr lang="en-US" dirty="0"/>
              <a:t>    ("Room A", 40),</a:t>
            </a:r>
          </a:p>
          <a:p>
            <a:r>
              <a:rPr lang="en-US" dirty="0"/>
              <a:t>    ("Room B", 60),</a:t>
            </a:r>
          </a:p>
          <a:p>
            <a:r>
              <a:rPr lang="en-US" dirty="0"/>
              <a:t>    ("Room C", 80)</a:t>
            </a:r>
          </a:p>
          <a:p>
            <a:r>
              <a:rPr lang="en-US" dirty="0"/>
              <a:t>]</a:t>
            </a:r>
          </a:p>
          <a:p>
            <a:endParaRPr lang="en-US" dirty="0"/>
          </a:p>
          <a:p>
            <a:r>
              <a:rPr lang="en-US" dirty="0"/>
              <a:t>periods = ["9 AM", "10 AM", "11 AM"]</a:t>
            </a:r>
          </a:p>
          <a:p>
            <a:endParaRPr lang="en-US" dirty="0"/>
          </a:p>
          <a:p>
            <a:r>
              <a:rPr lang="en-US" dirty="0"/>
              <a:t># Each timetable entry is (course, room, period)</a:t>
            </a:r>
          </a:p>
          <a:p>
            <a:r>
              <a:rPr lang="en-US" dirty="0"/>
              <a:t>timetable = []</a:t>
            </a:r>
          </a:p>
          <a:p>
            <a:r>
              <a:rPr lang="en-US" dirty="0"/>
              <a:t>unallocated = []</a:t>
            </a:r>
          </a:p>
          <a:p>
            <a:endParaRPr lang="en-US" dirty="0"/>
          </a:p>
          <a:p>
            <a:r>
              <a:rPr lang="en-US" dirty="0"/>
              <a:t># Validate whether every course has a suitable room</a:t>
            </a:r>
          </a:p>
          <a:p>
            <a:r>
              <a:rPr lang="en-US" dirty="0"/>
              <a:t>for course, students in courses:</a:t>
            </a:r>
          </a:p>
          <a:p>
            <a:r>
              <a:rPr lang="en-US" dirty="0"/>
              <a:t>    suitable = [</a:t>
            </a:r>
          </a:p>
          <a:p>
            <a:r>
              <a:rPr lang="en-US" dirty="0"/>
              <a:t>        room for room, capacity in rooms</a:t>
            </a:r>
          </a:p>
          <a:p>
            <a:r>
              <a:rPr lang="en-US" dirty="0"/>
              <a:t>        if capacity &gt;= students</a:t>
            </a:r>
          </a:p>
          <a:p>
            <a:r>
              <a:rPr lang="en-US" dirty="0"/>
              <a:t>    ]</a:t>
            </a:r>
          </a:p>
          <a:p>
            <a:endParaRPr lang="en-US" dirty="0"/>
          </a:p>
          <a:p>
            <a:r>
              <a:rPr lang="en-US" dirty="0"/>
              <a:t>    if not suitable:</a:t>
            </a:r>
          </a:p>
          <a:p>
            <a:r>
              <a:rPr lang="en-US" dirty="0"/>
              <a:t>        print(course, "has no suitable classroom.")</a:t>
            </a:r>
          </a:p>
          <a:p>
            <a:endParaRPr lang="en-US" dirty="0"/>
          </a:p>
          <a:p>
            <a:r>
              <a:rPr lang="en-US" dirty="0"/>
              <a:t># Allocate courses using available room-period slots</a:t>
            </a:r>
          </a:p>
          <a:p>
            <a:r>
              <a:rPr lang="en-US" dirty="0"/>
              <a:t>for course, students in courses:</a:t>
            </a:r>
          </a:p>
          <a:p>
            <a:r>
              <a:rPr lang="en-US" dirty="0"/>
              <a:t>    assigned = False</a:t>
            </a:r>
          </a:p>
          <a:p>
            <a:endParaRPr lang="en-US" dirty="0"/>
          </a:p>
          <a:p>
            <a:r>
              <a:rPr lang="en-US" dirty="0"/>
              <a:t>    # Try smaller suitable rooms first</a:t>
            </a:r>
          </a:p>
          <a:p>
            <a:r>
              <a:rPr lang="en-US" dirty="0"/>
              <a:t>    </a:t>
            </a:r>
            <a:r>
              <a:rPr lang="en-US" dirty="0" err="1"/>
              <a:t>suitable_rooms</a:t>
            </a:r>
            <a:r>
              <a:rPr lang="en-US" dirty="0"/>
              <a:t> = sorted(</a:t>
            </a:r>
          </a:p>
          <a:p>
            <a:r>
              <a:rPr lang="en-US" dirty="0"/>
              <a:t>        [r for r in rooms if r[1] &gt;= students],</a:t>
            </a:r>
          </a:p>
          <a:p>
            <a:r>
              <a:rPr lang="en-US" dirty="0"/>
              <a:t>        key=lambda r: r[1]</a:t>
            </a:r>
          </a:p>
          <a:p>
            <a:r>
              <a:rPr lang="en-US" dirty="0"/>
              <a:t>    )</a:t>
            </a:r>
          </a:p>
          <a:p>
            <a:endParaRPr lang="en-US" dirty="0"/>
          </a:p>
          <a:p>
            <a:r>
              <a:rPr lang="en-US" dirty="0"/>
              <a:t>    for room, capacity in </a:t>
            </a:r>
            <a:r>
              <a:rPr lang="en-US" dirty="0" err="1"/>
              <a:t>suitable_rooms</a:t>
            </a:r>
            <a:r>
              <a:rPr lang="en-US" dirty="0"/>
              <a:t>:</a:t>
            </a:r>
          </a:p>
          <a:p>
            <a:r>
              <a:rPr lang="en-US" dirty="0"/>
              <a:t>        for period in periods:</a:t>
            </a:r>
          </a:p>
          <a:p>
            <a:r>
              <a:rPr lang="en-US" dirty="0"/>
              <a:t>            clash = any(</a:t>
            </a:r>
          </a:p>
          <a:p>
            <a:r>
              <a:rPr lang="en-US" dirty="0"/>
              <a:t>                entry[1] == room and entry[2] == period</a:t>
            </a:r>
          </a:p>
          <a:p>
            <a:r>
              <a:rPr lang="en-US" dirty="0"/>
              <a:t>                for entry in timetable</a:t>
            </a:r>
          </a:p>
          <a:p>
            <a:r>
              <a:rPr lang="en-US" dirty="0"/>
              <a:t>            )</a:t>
            </a:r>
          </a:p>
          <a:p>
            <a:endParaRPr lang="en-US" dirty="0"/>
          </a:p>
          <a:p>
            <a:r>
              <a:rPr lang="en-US" dirty="0"/>
              <a:t>            if not clash:</a:t>
            </a:r>
          </a:p>
          <a:p>
            <a:r>
              <a:rPr lang="en-US" dirty="0"/>
              <a:t>                </a:t>
            </a:r>
            <a:r>
              <a:rPr lang="en-US" dirty="0" err="1"/>
              <a:t>timetable.append</a:t>
            </a:r>
            <a:r>
              <a:rPr lang="en-US" dirty="0"/>
              <a:t>(</a:t>
            </a:r>
          </a:p>
          <a:p>
            <a:r>
              <a:rPr lang="en-US" dirty="0"/>
              <a:t>                    (course, room, period)</a:t>
            </a:r>
          </a:p>
          <a:p>
            <a:r>
              <a:rPr lang="en-US" dirty="0"/>
              <a:t>                )</a:t>
            </a:r>
          </a:p>
          <a:p>
            <a:r>
              <a:rPr lang="en-US" dirty="0"/>
              <a:t>                assigned = True</a:t>
            </a:r>
          </a:p>
          <a:p>
            <a:r>
              <a:rPr lang="en-US" dirty="0"/>
              <a:t>                break</a:t>
            </a:r>
          </a:p>
          <a:p>
            <a:endParaRPr lang="en-US" dirty="0"/>
          </a:p>
          <a:p>
            <a:r>
              <a:rPr lang="en-US" dirty="0"/>
              <a:t>        if assigned:</a:t>
            </a:r>
          </a:p>
          <a:p>
            <a:r>
              <a:rPr lang="en-US" dirty="0"/>
              <a:t>            break</a:t>
            </a:r>
          </a:p>
          <a:p>
            <a:endParaRPr lang="en-US" dirty="0"/>
          </a:p>
          <a:p>
            <a:r>
              <a:rPr lang="en-US" dirty="0"/>
              <a:t>    if not assigned:</a:t>
            </a:r>
          </a:p>
          <a:p>
            <a:r>
              <a:rPr lang="en-US" dirty="0"/>
              <a:t>        </a:t>
            </a:r>
            <a:r>
              <a:rPr lang="en-US" dirty="0" err="1"/>
              <a:t>unallocated.append</a:t>
            </a:r>
            <a:r>
              <a:rPr lang="en-US" dirty="0"/>
              <a:t>(course)</a:t>
            </a:r>
          </a:p>
          <a:p>
            <a:endParaRPr lang="en-US" dirty="0"/>
          </a:p>
          <a:p>
            <a:r>
              <a:rPr lang="en-US" dirty="0"/>
              <a:t># Display final timetable</a:t>
            </a:r>
          </a:p>
          <a:p>
            <a:r>
              <a:rPr lang="en-US" dirty="0"/>
              <a:t>print("\n--- FINAL TIMETABLE ---")</a:t>
            </a:r>
          </a:p>
          <a:p>
            <a:r>
              <a:rPr lang="en-US" dirty="0"/>
              <a:t>for course, room, period in timetable:</a:t>
            </a:r>
          </a:p>
          <a:p>
            <a:r>
              <a:rPr lang="en-US" dirty="0"/>
              <a:t>    print(course, "-&gt;", room, "-&gt;", period)</a:t>
            </a:r>
          </a:p>
          <a:p>
            <a:endParaRPr lang="en-US" dirty="0"/>
          </a:p>
          <a:p>
            <a:r>
              <a:rPr lang="en-US" dirty="0"/>
              <a:t># Detect any clashes in the final timetable</a:t>
            </a:r>
          </a:p>
          <a:p>
            <a:r>
              <a:rPr lang="en-US" dirty="0"/>
              <a:t>print("\n--- CLASH CHECK ---")</a:t>
            </a:r>
          </a:p>
          <a:p>
            <a:r>
              <a:rPr lang="en-US" dirty="0"/>
              <a:t>clashes = []</a:t>
            </a:r>
          </a:p>
          <a:p>
            <a:endParaRPr lang="en-US" dirty="0"/>
          </a:p>
          <a:p>
            <a:r>
              <a:rPr lang="en-US" dirty="0"/>
              <a:t>for </a:t>
            </a:r>
            <a:r>
              <a:rPr lang="en-US" dirty="0" err="1"/>
              <a:t>i</a:t>
            </a:r>
            <a:r>
              <a:rPr lang="en-US" dirty="0"/>
              <a:t> in range(</a:t>
            </a:r>
            <a:r>
              <a:rPr lang="en-US" dirty="0" err="1"/>
              <a:t>len</a:t>
            </a:r>
            <a:r>
              <a:rPr lang="en-US" dirty="0"/>
              <a:t>(timetable)):</a:t>
            </a:r>
          </a:p>
          <a:p>
            <a:r>
              <a:rPr lang="en-US" dirty="0"/>
              <a:t>    for j in range(</a:t>
            </a:r>
            <a:r>
              <a:rPr lang="en-US" dirty="0" err="1"/>
              <a:t>i</a:t>
            </a:r>
            <a:r>
              <a:rPr lang="en-US" dirty="0"/>
              <a:t> + 1, </a:t>
            </a:r>
            <a:r>
              <a:rPr lang="en-US" dirty="0" err="1"/>
              <a:t>len</a:t>
            </a:r>
            <a:r>
              <a:rPr lang="en-US" dirty="0"/>
              <a:t>(timetable)):</a:t>
            </a:r>
          </a:p>
          <a:p>
            <a:r>
              <a:rPr lang="en-US" dirty="0"/>
              <a:t>        if (timetable[</a:t>
            </a:r>
            <a:r>
              <a:rPr lang="en-US" dirty="0" err="1"/>
              <a:t>i</a:t>
            </a:r>
            <a:r>
              <a:rPr lang="en-US" dirty="0"/>
              <a:t>][1] == timetable[j][1]</a:t>
            </a:r>
          </a:p>
          <a:p>
            <a:r>
              <a:rPr lang="en-US" dirty="0"/>
              <a:t>                and timetable[</a:t>
            </a:r>
            <a:r>
              <a:rPr lang="en-US" dirty="0" err="1"/>
              <a:t>i</a:t>
            </a:r>
            <a:r>
              <a:rPr lang="en-US" dirty="0"/>
              <a:t>][2] == timetable[j][2]):</a:t>
            </a:r>
          </a:p>
          <a:p>
            <a:r>
              <a:rPr lang="en-US" dirty="0"/>
              <a:t>            </a:t>
            </a:r>
            <a:r>
              <a:rPr lang="en-US" dirty="0" err="1"/>
              <a:t>clashes.append</a:t>
            </a:r>
            <a:r>
              <a:rPr lang="en-US" dirty="0"/>
              <a:t>((timetable[</a:t>
            </a:r>
            <a:r>
              <a:rPr lang="en-US" dirty="0" err="1"/>
              <a:t>i</a:t>
            </a:r>
            <a:r>
              <a:rPr lang="en-US" dirty="0"/>
              <a:t>], timetable[j]))</a:t>
            </a:r>
          </a:p>
          <a:p>
            <a:endParaRPr lang="en-US" dirty="0"/>
          </a:p>
          <a:p>
            <a:r>
              <a:rPr lang="en-US" dirty="0"/>
              <a:t>if clashes:</a:t>
            </a:r>
          </a:p>
          <a:p>
            <a:r>
              <a:rPr lang="en-US" dirty="0"/>
              <a:t>    for clash in clashes:</a:t>
            </a:r>
          </a:p>
          <a:p>
            <a:r>
              <a:rPr lang="en-US" dirty="0"/>
              <a:t>        print("Clash detected:", clash)</a:t>
            </a:r>
          </a:p>
          <a:p>
            <a:r>
              <a:rPr lang="en-US" dirty="0"/>
              <a:t>else:</a:t>
            </a:r>
          </a:p>
          <a:p>
            <a:r>
              <a:rPr lang="en-US" dirty="0"/>
              <a:t>    print("No classroom clashes detected.")</a:t>
            </a:r>
          </a:p>
          <a:p>
            <a:endParaRPr lang="en-US" dirty="0"/>
          </a:p>
          <a:p>
            <a:r>
              <a:rPr lang="en-US" dirty="0"/>
              <a:t># Check overall feasibility</a:t>
            </a:r>
          </a:p>
          <a:p>
            <a:r>
              <a:rPr lang="en-US" dirty="0"/>
              <a:t>print("\n--- ALLOCATION RESULT ---")</a:t>
            </a:r>
          </a:p>
          <a:p>
            <a:r>
              <a:rPr lang="en-US" dirty="0"/>
              <a:t>if not unallocated:</a:t>
            </a:r>
          </a:p>
          <a:p>
            <a:r>
              <a:rPr lang="en-US" dirty="0"/>
              <a:t>    print("All courses accommodated successfully.")</a:t>
            </a:r>
          </a:p>
          <a:p>
            <a:r>
              <a:rPr lang="en-US" dirty="0"/>
              <a:t>else:</a:t>
            </a:r>
          </a:p>
          <a:p>
            <a:r>
              <a:rPr lang="en-US" dirty="0"/>
              <a:t>    print("Unallocated courses:", unallocated)</a:t>
            </a:r>
          </a:p>
          <a:p>
            <a:r>
              <a:rPr lang="en-US" dirty="0"/>
              <a:t>    print("All courses could not be accommodated.")</a:t>
            </a:r>
            <a:endParaRPr lang="en-IN" dirty="0"/>
          </a:p>
        </p:txBody>
      </p:sp>
    </p:spTree>
    <p:extLst>
      <p:ext uri="{BB962C8B-B14F-4D97-AF65-F5344CB8AC3E}">
        <p14:creationId xmlns:p14="http://schemas.microsoft.com/office/powerpoint/2010/main" val="19409602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BE862-1D5E-1674-B3F2-8CF527302D3D}"/>
              </a:ext>
            </a:extLst>
          </p:cNvPr>
          <p:cNvSpPr>
            <a:spLocks noGrp="1"/>
          </p:cNvSpPr>
          <p:nvPr>
            <p:ph type="title"/>
          </p:nvPr>
        </p:nvSpPr>
        <p:spPr/>
        <p:txBody>
          <a:bodyPr/>
          <a:lstStyle/>
          <a:p>
            <a:r>
              <a:rPr lang="en-IN" dirty="0"/>
              <a:t>Test Cases</a:t>
            </a:r>
          </a:p>
        </p:txBody>
      </p:sp>
      <p:graphicFrame>
        <p:nvGraphicFramePr>
          <p:cNvPr id="4" name="Content Placeholder 3">
            <a:extLst>
              <a:ext uri="{FF2B5EF4-FFF2-40B4-BE49-F238E27FC236}">
                <a16:creationId xmlns:a16="http://schemas.microsoft.com/office/drawing/2014/main" id="{C4D1467F-90B3-2F1C-803E-AEAB09A4A6E5}"/>
              </a:ext>
            </a:extLst>
          </p:cNvPr>
          <p:cNvGraphicFramePr>
            <a:graphicFrameLocks noGrp="1"/>
          </p:cNvGraphicFramePr>
          <p:nvPr>
            <p:ph idx="1"/>
            <p:extLst>
              <p:ext uri="{D42A27DB-BD31-4B8C-83A1-F6EECF244321}">
                <p14:modId xmlns:p14="http://schemas.microsoft.com/office/powerpoint/2010/main" val="2020011096"/>
              </p:ext>
            </p:extLst>
          </p:nvPr>
        </p:nvGraphicFramePr>
        <p:xfrm>
          <a:off x="211014" y="1207477"/>
          <a:ext cx="11142786" cy="5285397"/>
        </p:xfrm>
        <a:graphic>
          <a:graphicData uri="http://schemas.openxmlformats.org/drawingml/2006/table">
            <a:tbl>
              <a:tblPr/>
              <a:tblGrid>
                <a:gridCol w="3714262">
                  <a:extLst>
                    <a:ext uri="{9D8B030D-6E8A-4147-A177-3AD203B41FA5}">
                      <a16:colId xmlns:a16="http://schemas.microsoft.com/office/drawing/2014/main" val="1118734613"/>
                    </a:ext>
                  </a:extLst>
                </a:gridCol>
                <a:gridCol w="3714262">
                  <a:extLst>
                    <a:ext uri="{9D8B030D-6E8A-4147-A177-3AD203B41FA5}">
                      <a16:colId xmlns:a16="http://schemas.microsoft.com/office/drawing/2014/main" val="1144510623"/>
                    </a:ext>
                  </a:extLst>
                </a:gridCol>
                <a:gridCol w="3714262">
                  <a:extLst>
                    <a:ext uri="{9D8B030D-6E8A-4147-A177-3AD203B41FA5}">
                      <a16:colId xmlns:a16="http://schemas.microsoft.com/office/drawing/2014/main" val="1153257260"/>
                    </a:ext>
                  </a:extLst>
                </a:gridCol>
              </a:tblGrid>
              <a:tr h="640654">
                <a:tc>
                  <a:txBody>
                    <a:bodyPr/>
                    <a:lstStyle/>
                    <a:p>
                      <a:pPr>
                        <a:buNone/>
                      </a:pPr>
                      <a:r>
                        <a:rPr lang="en-IN"/>
                        <a:t>Test case</a:t>
                      </a:r>
                    </a:p>
                  </a:txBody>
                  <a:tcPr anchor="ctr">
                    <a:lnL>
                      <a:noFill/>
                    </a:lnL>
                    <a:lnR>
                      <a:noFill/>
                    </a:lnR>
                    <a:lnT>
                      <a:noFill/>
                    </a:lnT>
                    <a:lnB>
                      <a:noFill/>
                    </a:lnB>
                    <a:noFill/>
                  </a:tcPr>
                </a:tc>
                <a:tc>
                  <a:txBody>
                    <a:bodyPr/>
                    <a:lstStyle/>
                    <a:p>
                      <a:pPr>
                        <a:buNone/>
                      </a:pPr>
                      <a:r>
                        <a:rPr lang="en-IN"/>
                        <a:t>Input condition</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3036458079"/>
                  </a:ext>
                </a:extLst>
              </a:tr>
              <a:tr h="640654">
                <a:tc>
                  <a:txBody>
                    <a:bodyPr/>
                    <a:lstStyle/>
                    <a:p>
                      <a:pPr>
                        <a:buNone/>
                      </a:pPr>
                      <a:r>
                        <a:rPr lang="en-IN"/>
                        <a:t>1</a:t>
                      </a:r>
                    </a:p>
                  </a:txBody>
                  <a:tcPr anchor="ctr">
                    <a:lnL>
                      <a:noFill/>
                    </a:lnL>
                    <a:lnR>
                      <a:noFill/>
                    </a:lnR>
                    <a:lnT>
                      <a:noFill/>
                    </a:lnT>
                    <a:lnB>
                      <a:noFill/>
                    </a:lnB>
                    <a:noFill/>
                  </a:tcPr>
                </a:tc>
                <a:tc>
                  <a:txBody>
                    <a:bodyPr/>
                    <a:lstStyle/>
                    <a:p>
                      <a:pPr>
                        <a:buNone/>
                      </a:pPr>
                      <a:r>
                        <a:rPr lang="en-US"/>
                        <a:t>Every course fits in a room</a:t>
                      </a:r>
                    </a:p>
                  </a:txBody>
                  <a:tcPr anchor="ctr">
                    <a:lnL>
                      <a:noFill/>
                    </a:lnL>
                    <a:lnR>
                      <a:noFill/>
                    </a:lnR>
                    <a:lnT>
                      <a:noFill/>
                    </a:lnT>
                    <a:lnB>
                      <a:noFill/>
                    </a:lnB>
                    <a:noFill/>
                  </a:tcPr>
                </a:tc>
                <a:tc>
                  <a:txBody>
                    <a:bodyPr/>
                    <a:lstStyle/>
                    <a:p>
                      <a:pPr>
                        <a:buNone/>
                      </a:pPr>
                      <a:r>
                        <a:rPr lang="en-IN"/>
                        <a:t>Allocate all courses</a:t>
                      </a:r>
                    </a:p>
                  </a:txBody>
                  <a:tcPr anchor="ctr">
                    <a:lnL>
                      <a:noFill/>
                    </a:lnL>
                    <a:lnR>
                      <a:noFill/>
                    </a:lnR>
                    <a:lnT>
                      <a:noFill/>
                    </a:lnT>
                    <a:lnB>
                      <a:noFill/>
                    </a:lnB>
                    <a:noFill/>
                  </a:tcPr>
                </a:tc>
                <a:extLst>
                  <a:ext uri="{0D108BD9-81ED-4DB2-BD59-A6C34878D82A}">
                    <a16:rowId xmlns:a16="http://schemas.microsoft.com/office/drawing/2014/main" val="917573207"/>
                  </a:ext>
                </a:extLst>
              </a:tr>
              <a:tr h="1121145">
                <a:tc>
                  <a:txBody>
                    <a:bodyPr/>
                    <a:lstStyle/>
                    <a:p>
                      <a:pPr>
                        <a:buNone/>
                      </a:pPr>
                      <a:r>
                        <a:rPr lang="en-IN"/>
                        <a:t>2</a:t>
                      </a:r>
                    </a:p>
                  </a:txBody>
                  <a:tcPr anchor="ctr">
                    <a:lnL>
                      <a:noFill/>
                    </a:lnL>
                    <a:lnR>
                      <a:noFill/>
                    </a:lnR>
                    <a:lnT>
                      <a:noFill/>
                    </a:lnT>
                    <a:lnB>
                      <a:noFill/>
                    </a:lnB>
                    <a:noFill/>
                  </a:tcPr>
                </a:tc>
                <a:tc>
                  <a:txBody>
                    <a:bodyPr/>
                    <a:lstStyle/>
                    <a:p>
                      <a:pPr>
                        <a:buNone/>
                      </a:pPr>
                      <a:r>
                        <a:rPr lang="en-US"/>
                        <a:t>Course enrollment exceeds every room capacity</a:t>
                      </a:r>
                    </a:p>
                  </a:txBody>
                  <a:tcPr anchor="ctr">
                    <a:lnL>
                      <a:noFill/>
                    </a:lnL>
                    <a:lnR>
                      <a:noFill/>
                    </a:lnR>
                    <a:lnT>
                      <a:noFill/>
                    </a:lnT>
                    <a:lnB>
                      <a:noFill/>
                    </a:lnB>
                    <a:noFill/>
                  </a:tcPr>
                </a:tc>
                <a:tc>
                  <a:txBody>
                    <a:bodyPr/>
                    <a:lstStyle/>
                    <a:p>
                      <a:pPr>
                        <a:buNone/>
                      </a:pPr>
                      <a:r>
                        <a:rPr lang="en-IN"/>
                        <a:t>Mark course unallocated</a:t>
                      </a:r>
                    </a:p>
                  </a:txBody>
                  <a:tcPr anchor="ctr">
                    <a:lnL>
                      <a:noFill/>
                    </a:lnL>
                    <a:lnR>
                      <a:noFill/>
                    </a:lnR>
                    <a:lnT>
                      <a:noFill/>
                    </a:lnT>
                    <a:lnB>
                      <a:noFill/>
                    </a:lnB>
                    <a:noFill/>
                  </a:tcPr>
                </a:tc>
                <a:extLst>
                  <a:ext uri="{0D108BD9-81ED-4DB2-BD59-A6C34878D82A}">
                    <a16:rowId xmlns:a16="http://schemas.microsoft.com/office/drawing/2014/main" val="2155126448"/>
                  </a:ext>
                </a:extLst>
              </a:tr>
              <a:tr h="1121145">
                <a:tc>
                  <a:txBody>
                    <a:bodyPr/>
                    <a:lstStyle/>
                    <a:p>
                      <a:pPr>
                        <a:buNone/>
                      </a:pPr>
                      <a:r>
                        <a:rPr lang="en-IN"/>
                        <a:t>3</a:t>
                      </a:r>
                    </a:p>
                  </a:txBody>
                  <a:tcPr anchor="ctr">
                    <a:lnL>
                      <a:noFill/>
                    </a:lnL>
                    <a:lnR>
                      <a:noFill/>
                    </a:lnR>
                    <a:lnT>
                      <a:noFill/>
                    </a:lnT>
                    <a:lnB>
                      <a:noFill/>
                    </a:lnB>
                    <a:noFill/>
                  </a:tcPr>
                </a:tc>
                <a:tc>
                  <a:txBody>
                    <a:bodyPr/>
                    <a:lstStyle/>
                    <a:p>
                      <a:pPr>
                        <a:buNone/>
                      </a:pPr>
                      <a:r>
                        <a:rPr lang="en-US"/>
                        <a:t>A room is already occupied in a period</a:t>
                      </a:r>
                    </a:p>
                  </a:txBody>
                  <a:tcPr anchor="ctr">
                    <a:lnL>
                      <a:noFill/>
                    </a:lnL>
                    <a:lnR>
                      <a:noFill/>
                    </a:lnR>
                    <a:lnT>
                      <a:noFill/>
                    </a:lnT>
                    <a:lnB>
                      <a:noFill/>
                    </a:lnB>
                    <a:noFill/>
                  </a:tcPr>
                </a:tc>
                <a:tc>
                  <a:txBody>
                    <a:bodyPr/>
                    <a:lstStyle/>
                    <a:p>
                      <a:pPr>
                        <a:buNone/>
                      </a:pPr>
                      <a:r>
                        <a:rPr lang="en-US"/>
                        <a:t>Assign a different free room or period</a:t>
                      </a:r>
                    </a:p>
                  </a:txBody>
                  <a:tcPr anchor="ctr">
                    <a:lnL>
                      <a:noFill/>
                    </a:lnL>
                    <a:lnR>
                      <a:noFill/>
                    </a:lnR>
                    <a:lnT>
                      <a:noFill/>
                    </a:lnT>
                    <a:lnB>
                      <a:noFill/>
                    </a:lnB>
                    <a:noFill/>
                  </a:tcPr>
                </a:tc>
                <a:extLst>
                  <a:ext uri="{0D108BD9-81ED-4DB2-BD59-A6C34878D82A}">
                    <a16:rowId xmlns:a16="http://schemas.microsoft.com/office/drawing/2014/main" val="525594179"/>
                  </a:ext>
                </a:extLst>
              </a:tr>
              <a:tr h="1121145">
                <a:tc>
                  <a:txBody>
                    <a:bodyPr/>
                    <a:lstStyle/>
                    <a:p>
                      <a:pPr>
                        <a:buNone/>
                      </a:pPr>
                      <a:r>
                        <a:rPr lang="en-IN"/>
                        <a:t>4</a:t>
                      </a:r>
                    </a:p>
                  </a:txBody>
                  <a:tcPr anchor="ctr">
                    <a:lnL>
                      <a:noFill/>
                    </a:lnL>
                    <a:lnR>
                      <a:noFill/>
                    </a:lnR>
                    <a:lnT>
                      <a:noFill/>
                    </a:lnT>
                    <a:lnB>
                      <a:noFill/>
                    </a:lnB>
                    <a:noFill/>
                  </a:tcPr>
                </a:tc>
                <a:tc>
                  <a:txBody>
                    <a:bodyPr/>
                    <a:lstStyle/>
                    <a:p>
                      <a:pPr>
                        <a:buNone/>
                      </a:pPr>
                      <a:r>
                        <a:rPr lang="en-US"/>
                        <a:t>More courses than available room-period slots</a:t>
                      </a:r>
                    </a:p>
                  </a:txBody>
                  <a:tcPr anchor="ctr">
                    <a:lnL>
                      <a:noFill/>
                    </a:lnL>
                    <a:lnR>
                      <a:noFill/>
                    </a:lnR>
                    <a:lnT>
                      <a:noFill/>
                    </a:lnT>
                    <a:lnB>
                      <a:noFill/>
                    </a:lnB>
                    <a:noFill/>
                  </a:tcPr>
                </a:tc>
                <a:tc>
                  <a:txBody>
                    <a:bodyPr/>
                    <a:lstStyle/>
                    <a:p>
                      <a:pPr>
                        <a:buNone/>
                      </a:pPr>
                      <a:r>
                        <a:rPr lang="en-IN"/>
                        <a:t>Some courses remain unallocated</a:t>
                      </a:r>
                    </a:p>
                  </a:txBody>
                  <a:tcPr anchor="ctr">
                    <a:lnL>
                      <a:noFill/>
                    </a:lnL>
                    <a:lnR>
                      <a:noFill/>
                    </a:lnR>
                    <a:lnT>
                      <a:noFill/>
                    </a:lnT>
                    <a:lnB>
                      <a:noFill/>
                    </a:lnB>
                    <a:noFill/>
                  </a:tcPr>
                </a:tc>
                <a:extLst>
                  <a:ext uri="{0D108BD9-81ED-4DB2-BD59-A6C34878D82A}">
                    <a16:rowId xmlns:a16="http://schemas.microsoft.com/office/drawing/2014/main" val="88002681"/>
                  </a:ext>
                </a:extLst>
              </a:tr>
              <a:tr h="640654">
                <a:tc>
                  <a:txBody>
                    <a:bodyPr/>
                    <a:lstStyle/>
                    <a:p>
                      <a:pPr>
                        <a:buNone/>
                      </a:pPr>
                      <a:r>
                        <a:rPr lang="en-IN"/>
                        <a:t>5</a:t>
                      </a:r>
                    </a:p>
                  </a:txBody>
                  <a:tcPr anchor="ctr">
                    <a:lnL>
                      <a:noFill/>
                    </a:lnL>
                    <a:lnR>
                      <a:noFill/>
                    </a:lnR>
                    <a:lnT>
                      <a:noFill/>
                    </a:lnT>
                    <a:lnB>
                      <a:noFill/>
                    </a:lnB>
                    <a:noFill/>
                  </a:tcPr>
                </a:tc>
                <a:tc>
                  <a:txBody>
                    <a:bodyPr/>
                    <a:lstStyle/>
                    <a:p>
                      <a:pPr>
                        <a:buNone/>
                      </a:pPr>
                      <a:r>
                        <a:rPr lang="en-IN"/>
                        <a:t>No courses are provided</a:t>
                      </a:r>
                    </a:p>
                  </a:txBody>
                  <a:tcPr anchor="ctr">
                    <a:lnL>
                      <a:noFill/>
                    </a:lnL>
                    <a:lnR>
                      <a:noFill/>
                    </a:lnR>
                    <a:lnT>
                      <a:noFill/>
                    </a:lnT>
                    <a:lnB>
                      <a:noFill/>
                    </a:lnB>
                    <a:noFill/>
                  </a:tcPr>
                </a:tc>
                <a:tc>
                  <a:txBody>
                    <a:bodyPr/>
                    <a:lstStyle/>
                    <a:p>
                      <a:pPr>
                        <a:buNone/>
                      </a:pPr>
                      <a:r>
                        <a:rPr lang="en-IN" dirty="0"/>
                        <a:t>Display an empty timetable</a:t>
                      </a:r>
                    </a:p>
                  </a:txBody>
                  <a:tcPr anchor="ctr">
                    <a:lnL>
                      <a:noFill/>
                    </a:lnL>
                    <a:lnR>
                      <a:noFill/>
                    </a:lnR>
                    <a:lnT>
                      <a:noFill/>
                    </a:lnT>
                    <a:lnB>
                      <a:noFill/>
                    </a:lnB>
                    <a:noFill/>
                  </a:tcPr>
                </a:tc>
                <a:extLst>
                  <a:ext uri="{0D108BD9-81ED-4DB2-BD59-A6C34878D82A}">
                    <a16:rowId xmlns:a16="http://schemas.microsoft.com/office/drawing/2014/main" val="1554833199"/>
                  </a:ext>
                </a:extLst>
              </a:tr>
            </a:tbl>
          </a:graphicData>
        </a:graphic>
      </p:graphicFrame>
      <p:sp>
        <p:nvSpPr>
          <p:cNvPr id="5" name="Rectangle 1">
            <a:extLst>
              <a:ext uri="{FF2B5EF4-FFF2-40B4-BE49-F238E27FC236}">
                <a16:creationId xmlns:a16="http://schemas.microsoft.com/office/drawing/2014/main" id="{307D30AA-E49A-A2CD-4205-1F1D8CED57FC}"/>
              </a:ext>
            </a:extLst>
          </p:cNvPr>
          <p:cNvSpPr>
            <a:spLocks noChangeArrowheads="1"/>
          </p:cNvSpPr>
          <p:nvPr/>
        </p:nvSpPr>
        <p:spPr bwMode="auto">
          <a:xfrm>
            <a:off x="111029" y="2421769"/>
            <a:ext cx="129191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5834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7A4B1-B930-77A3-12B1-F018D48EA254}"/>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F5ED896C-2FCD-A7D3-1B15-FFE4FA6E0B37}"/>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08B0FFDE-180F-178E-9933-1C4F56695B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28092" y="1929220"/>
            <a:ext cx="2450025" cy="4260443"/>
          </a:xfrm>
        </p:spPr>
      </p:pic>
      <p:sp>
        <p:nvSpPr>
          <p:cNvPr id="5" name="Text Placeholder 4">
            <a:extLst>
              <a:ext uri="{FF2B5EF4-FFF2-40B4-BE49-F238E27FC236}">
                <a16:creationId xmlns:a16="http://schemas.microsoft.com/office/drawing/2014/main" id="{EC7C711F-B650-D5B0-9E05-F42E8B6B0DC1}"/>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784BF182-575F-1028-A709-607B501DDE1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74348" y="3006726"/>
            <a:ext cx="3637395" cy="2040828"/>
          </a:xfrm>
        </p:spPr>
      </p:pic>
    </p:spTree>
    <p:extLst>
      <p:ext uri="{BB962C8B-B14F-4D97-AF65-F5344CB8AC3E}">
        <p14:creationId xmlns:p14="http://schemas.microsoft.com/office/powerpoint/2010/main" val="3999498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3C14-F1DA-07F6-FB2A-49DBDB0ABC8B}"/>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D3077682-C6CD-BA51-6972-083C9DD772D5}"/>
              </a:ext>
            </a:extLst>
          </p:cNvPr>
          <p:cNvSpPr>
            <a:spLocks noGrp="1"/>
          </p:cNvSpPr>
          <p:nvPr>
            <p:ph idx="1"/>
          </p:nvPr>
        </p:nvSpPr>
        <p:spPr/>
        <p:txBody>
          <a:bodyPr/>
          <a:lstStyle/>
          <a:p>
            <a:r>
              <a:rPr lang="en-US" dirty="0"/>
              <a:t>The Smart Classroom Timetable Allocation project demonstrates how Python can be used to organize classroom schedules efficiently. Lists and tuples are used to represent courses, classrooms, periods, and timetable assignments.</a:t>
            </a:r>
          </a:p>
          <a:p>
            <a:r>
              <a:rPr lang="en-US" dirty="0"/>
              <a:t>The program validates room capacities, detects classroom clashes, and determines whether all courses can be accommodated under the specified constraints. This approach helps reduce scheduling conflicts and improves classroom utilization. More advanced scheduling algorithms can be used to handle complex institutional timetables.</a:t>
            </a:r>
          </a:p>
          <a:p>
            <a:endParaRPr lang="en-IN" dirty="0"/>
          </a:p>
        </p:txBody>
      </p:sp>
    </p:spTree>
    <p:extLst>
      <p:ext uri="{BB962C8B-B14F-4D97-AF65-F5344CB8AC3E}">
        <p14:creationId xmlns:p14="http://schemas.microsoft.com/office/powerpoint/2010/main" val="28124283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068A6-BE8D-90B8-7337-CEA14CC4B0AD}"/>
              </a:ext>
            </a:extLst>
          </p:cNvPr>
          <p:cNvSpPr>
            <a:spLocks noGrp="1"/>
          </p:cNvSpPr>
          <p:nvPr>
            <p:ph type="ctrTitle"/>
          </p:nvPr>
        </p:nvSpPr>
        <p:spPr/>
        <p:txBody>
          <a:bodyPr/>
          <a:lstStyle/>
          <a:p>
            <a:r>
              <a:rPr lang="en-US" dirty="0"/>
              <a:t>CASE-86: Multi-Stage ATM Transaction Audit</a:t>
            </a:r>
            <a:endParaRPr lang="en-IN" dirty="0"/>
          </a:p>
        </p:txBody>
      </p:sp>
      <p:sp>
        <p:nvSpPr>
          <p:cNvPr id="3" name="Subtitle 2">
            <a:extLst>
              <a:ext uri="{FF2B5EF4-FFF2-40B4-BE49-F238E27FC236}">
                <a16:creationId xmlns:a16="http://schemas.microsoft.com/office/drawing/2014/main" id="{901E90C3-E4A4-18F1-7EB0-D1D70F0B5E86}"/>
              </a:ext>
            </a:extLst>
          </p:cNvPr>
          <p:cNvSpPr>
            <a:spLocks noGrp="1"/>
          </p:cNvSpPr>
          <p:nvPr>
            <p:ph type="subTitle" idx="1"/>
          </p:nvPr>
        </p:nvSpPr>
        <p:spPr>
          <a:xfrm>
            <a:off x="1066800" y="3602038"/>
            <a:ext cx="9601200" cy="2646362"/>
          </a:xfrm>
        </p:spPr>
        <p:txBody>
          <a:bodyPr>
            <a:normAutofit fontScale="92500" lnSpcReduction="10000"/>
          </a:bodyPr>
          <a:lstStyle/>
          <a:p>
            <a:r>
              <a:rPr lang="en-US" b="1" dirty="0"/>
              <a:t>Problem Statement</a:t>
            </a:r>
          </a:p>
          <a:p>
            <a:r>
              <a:rPr lang="en-US" dirty="0"/>
              <a:t>ATM systems process different types of financial transactions, including deposits, withdrawals, and transfers. Each transaction must be validated to ensure that account balances remain correct and that invalid operations are rejected.</a:t>
            </a:r>
          </a:p>
          <a:p>
            <a:r>
              <a:rPr lang="en-US" dirty="0"/>
              <a:t>The objective of this project is to develop a Python program that processes a sequence of ATM transactions in multiple stages, maintains account balances, detects invalid operations such as insufficient funds or invalid amounts, and identifies suspicious repeated transaction patterns for further review.</a:t>
            </a:r>
          </a:p>
          <a:p>
            <a:endParaRPr lang="en-IN" dirty="0"/>
          </a:p>
        </p:txBody>
      </p:sp>
    </p:spTree>
    <p:extLst>
      <p:ext uri="{BB962C8B-B14F-4D97-AF65-F5344CB8AC3E}">
        <p14:creationId xmlns:p14="http://schemas.microsoft.com/office/powerpoint/2010/main" val="28630027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5628B-6072-F8F1-35B6-DC079F8AA0C0}"/>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ED59E56F-E059-7D16-D69F-16D3C695CA62}"/>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Simulate bank accounts with initial balances.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Process deposits, withdrawals, and transfers.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Validate every transaction before processing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Maintain accurate balances after each valid transaction.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Detect insufficient funds and invalid transaction amounts.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Record transaction details and audit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repeated transactions that may require review.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Generate a final transaction audit report.</a:t>
            </a:r>
          </a:p>
        </p:txBody>
      </p:sp>
    </p:spTree>
    <p:extLst>
      <p:ext uri="{BB962C8B-B14F-4D97-AF65-F5344CB8AC3E}">
        <p14:creationId xmlns:p14="http://schemas.microsoft.com/office/powerpoint/2010/main" val="24910779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B74D1-E7FC-66E7-3F70-A110BF4E8CEC}"/>
              </a:ext>
            </a:extLst>
          </p:cNvPr>
          <p:cNvSpPr>
            <a:spLocks noGrp="1"/>
          </p:cNvSpPr>
          <p:nvPr>
            <p:ph type="title"/>
          </p:nvPr>
        </p:nvSpPr>
        <p:spPr/>
        <p:txBody>
          <a:bodyPr/>
          <a:lstStyle/>
          <a:p>
            <a:r>
              <a:rPr lang="en-IN" dirty="0"/>
              <a:t>Assumptions</a:t>
            </a:r>
          </a:p>
        </p:txBody>
      </p:sp>
      <p:sp>
        <p:nvSpPr>
          <p:cNvPr id="4" name="Rectangle 1">
            <a:extLst>
              <a:ext uri="{FF2B5EF4-FFF2-40B4-BE49-F238E27FC236}">
                <a16:creationId xmlns:a16="http://schemas.microsoft.com/office/drawing/2014/main" id="{996DF091-D512-AA6A-A289-DFDAE4349E33}"/>
              </a:ext>
            </a:extLst>
          </p:cNvPr>
          <p:cNvSpPr>
            <a:spLocks noGrp="1" noChangeArrowheads="1"/>
          </p:cNvSpPr>
          <p:nvPr>
            <p:ph idx="1"/>
          </p:nvPr>
        </p:nvSpPr>
        <p:spPr bwMode="auto">
          <a:xfrm>
            <a:off x="222739" y="2825357"/>
            <a:ext cx="1283677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account has a unique account ID and an initial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All transaction amounts must be positive.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Deposits increase the account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Withdrawals decrease the balance only when sufficient funds are 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Transfers debit the sender and credit the receiver only when the transfer is valid.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Invalid transactions do not change any account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Repeated transactions of the same type and amount on the same account within the transaction sequence are flagged for review.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suspicious-pattern alert is an indicator for manual review, not proof of fraud.</a:t>
            </a:r>
          </a:p>
        </p:txBody>
      </p:sp>
    </p:spTree>
    <p:extLst>
      <p:ext uri="{BB962C8B-B14F-4D97-AF65-F5344CB8AC3E}">
        <p14:creationId xmlns:p14="http://schemas.microsoft.com/office/powerpoint/2010/main" val="37656798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0BC97-C046-D569-4F68-C56AE1EA35CC}"/>
              </a:ext>
            </a:extLst>
          </p:cNvPr>
          <p:cNvSpPr>
            <a:spLocks noGrp="1"/>
          </p:cNvSpPr>
          <p:nvPr>
            <p:ph type="title"/>
          </p:nvPr>
        </p:nvSpPr>
        <p:spPr/>
        <p:txBody>
          <a:bodyPr/>
          <a:lstStyle/>
          <a:p>
            <a:r>
              <a:rPr lang="en-IN" dirty="0"/>
              <a:t>Algorithm</a:t>
            </a:r>
          </a:p>
        </p:txBody>
      </p:sp>
      <p:sp>
        <p:nvSpPr>
          <p:cNvPr id="4" name="Rectangle 1">
            <a:extLst>
              <a:ext uri="{FF2B5EF4-FFF2-40B4-BE49-F238E27FC236}">
                <a16:creationId xmlns:a16="http://schemas.microsoft.com/office/drawing/2014/main" id="{8964A5B0-F7E8-9C8D-0DC8-6A516470BC2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Initialize account balances and transaction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Input the number of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Read the transaction type, account IDs, and amount.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Validate the transaction amount and account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For a deposit, add the amount to the account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For a withdrawal, check the available balance before deducting the amount.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For a transfer, validate both accounts and the sender's balance before updating either account.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Record the transaction result and updated balance.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Check the transaction history for repeated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invalid transactions, suspicious-pattern alerts, and final balances.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16771280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031E-FB41-F7B7-9E51-64ABF390DE32}"/>
              </a:ext>
            </a:extLst>
          </p:cNvPr>
          <p:cNvSpPr>
            <a:spLocks noGrp="1"/>
          </p:cNvSpPr>
          <p:nvPr>
            <p:ph type="title"/>
          </p:nvPr>
        </p:nvSpPr>
        <p:spPr/>
        <p:txBody>
          <a:bodyPr/>
          <a:lstStyle/>
          <a:p>
            <a:r>
              <a:rPr lang="en-US" dirty="0"/>
              <a:t>Flow chart</a:t>
            </a:r>
            <a:endParaRPr lang="en-IN" dirty="0"/>
          </a:p>
        </p:txBody>
      </p:sp>
      <p:pic>
        <p:nvPicPr>
          <p:cNvPr id="5" name="Content Placeholder 4">
            <a:extLst>
              <a:ext uri="{FF2B5EF4-FFF2-40B4-BE49-F238E27FC236}">
                <a16:creationId xmlns:a16="http://schemas.microsoft.com/office/drawing/2014/main" id="{A13395B7-EDC3-FF2C-D2FD-C0E203F421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27055" y="597876"/>
            <a:ext cx="4062576" cy="6093863"/>
          </a:xfrm>
        </p:spPr>
      </p:pic>
    </p:spTree>
    <p:extLst>
      <p:ext uri="{BB962C8B-B14F-4D97-AF65-F5344CB8AC3E}">
        <p14:creationId xmlns:p14="http://schemas.microsoft.com/office/powerpoint/2010/main" val="898599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D13F9-8857-E8C0-6FD8-7EF2DC8F49DB}"/>
              </a:ext>
            </a:extLst>
          </p:cNvPr>
          <p:cNvSpPr>
            <a:spLocks noGrp="1"/>
          </p:cNvSpPr>
          <p:nvPr>
            <p:ph type="title"/>
          </p:nvPr>
        </p:nvSpPr>
        <p:spPr/>
        <p:txBody>
          <a:bodyPr/>
          <a:lstStyle/>
          <a:p>
            <a:r>
              <a:rPr lang="en-US" dirty="0"/>
              <a:t>Python source code</a:t>
            </a:r>
            <a:endParaRPr lang="en-IN" dirty="0"/>
          </a:p>
        </p:txBody>
      </p:sp>
      <p:sp>
        <p:nvSpPr>
          <p:cNvPr id="3" name="Content Placeholder 2">
            <a:extLst>
              <a:ext uri="{FF2B5EF4-FFF2-40B4-BE49-F238E27FC236}">
                <a16:creationId xmlns:a16="http://schemas.microsoft.com/office/drawing/2014/main" id="{35AAC9AD-435F-6045-0071-DF51140CA801}"/>
              </a:ext>
            </a:extLst>
          </p:cNvPr>
          <p:cNvSpPr>
            <a:spLocks noGrp="1"/>
          </p:cNvSpPr>
          <p:nvPr>
            <p:ph idx="1"/>
          </p:nvPr>
        </p:nvSpPr>
        <p:spPr/>
        <p:txBody>
          <a:bodyPr>
            <a:normAutofit fontScale="25000" lnSpcReduction="20000"/>
          </a:bodyPr>
          <a:lstStyle/>
          <a:p>
            <a:pPr marL="0" indent="0">
              <a:buNone/>
            </a:pPr>
            <a:r>
              <a:rPr lang="en-US" dirty="0"/>
              <a:t>t</a:t>
            </a:r>
          </a:p>
          <a:p>
            <a:endParaRPr lang="en-US" dirty="0"/>
          </a:p>
          <a:p>
            <a:r>
              <a:rPr lang="en-US" dirty="0"/>
              <a:t>accounts = {</a:t>
            </a:r>
          </a:p>
          <a:p>
            <a:r>
              <a:rPr lang="en-US" dirty="0"/>
              <a:t>    "A101": 1000.0,</a:t>
            </a:r>
          </a:p>
          <a:p>
            <a:r>
              <a:rPr lang="en-US" dirty="0"/>
              <a:t>    "A102": 500.0</a:t>
            </a:r>
          </a:p>
          <a:p>
            <a:r>
              <a:rPr lang="en-US" dirty="0"/>
              <a:t>}</a:t>
            </a:r>
          </a:p>
          <a:p>
            <a:endParaRPr lang="en-US" dirty="0"/>
          </a:p>
          <a:p>
            <a:r>
              <a:rPr lang="en-US" dirty="0"/>
              <a:t>transactions = [</a:t>
            </a:r>
          </a:p>
          <a:p>
            <a:r>
              <a:rPr lang="en-US" dirty="0"/>
              <a:t>    ("DEPOSIT", "A101", 200),</a:t>
            </a:r>
          </a:p>
          <a:p>
            <a:r>
              <a:rPr lang="en-US" dirty="0"/>
              <a:t>    ("WITHDRAW", "A101", 100),</a:t>
            </a:r>
          </a:p>
          <a:p>
            <a:r>
              <a:rPr lang="en-US" dirty="0"/>
              <a:t>    ("TRANSFER", "A101", "A102", 150),</a:t>
            </a:r>
          </a:p>
          <a:p>
            <a:r>
              <a:rPr lang="en-US" dirty="0"/>
              <a:t>    ("WITHDRAW", "A101", 100),</a:t>
            </a:r>
          </a:p>
          <a:p>
            <a:r>
              <a:rPr lang="en-US" dirty="0"/>
              <a:t>    ("WITHDRAW", "A101", 100),</a:t>
            </a:r>
          </a:p>
          <a:p>
            <a:r>
              <a:rPr lang="en-US" dirty="0"/>
              <a:t>    ("WITHDRAW", "A101", 5000),</a:t>
            </a:r>
          </a:p>
          <a:p>
            <a:r>
              <a:rPr lang="en-US" dirty="0"/>
              <a:t>    ("DEPOSIT", "A102", -50)</a:t>
            </a:r>
          </a:p>
          <a:p>
            <a:r>
              <a:rPr lang="en-US" dirty="0"/>
              <a:t>]</a:t>
            </a:r>
          </a:p>
          <a:p>
            <a:endParaRPr lang="en-US" dirty="0"/>
          </a:p>
          <a:p>
            <a:r>
              <a:rPr lang="en-US" dirty="0"/>
              <a:t>history = []</a:t>
            </a:r>
          </a:p>
          <a:p>
            <a:r>
              <a:rPr lang="en-US" dirty="0" err="1"/>
              <a:t>pattern_count</a:t>
            </a:r>
            <a:r>
              <a:rPr lang="en-US" dirty="0"/>
              <a:t> = {}</a:t>
            </a:r>
          </a:p>
          <a:p>
            <a:r>
              <a:rPr lang="en-US" dirty="0"/>
              <a:t>suspicious = []</a:t>
            </a:r>
          </a:p>
          <a:p>
            <a:endParaRPr lang="en-US" dirty="0"/>
          </a:p>
          <a:p>
            <a:r>
              <a:rPr lang="en-US" dirty="0"/>
              <a:t>for </a:t>
            </a:r>
            <a:r>
              <a:rPr lang="en-US" dirty="0" err="1"/>
              <a:t>txn</a:t>
            </a:r>
            <a:r>
              <a:rPr lang="en-US" dirty="0"/>
              <a:t> in transactions:</a:t>
            </a:r>
          </a:p>
          <a:p>
            <a:r>
              <a:rPr lang="en-US" dirty="0"/>
              <a:t>    action = </a:t>
            </a:r>
            <a:r>
              <a:rPr lang="en-US" dirty="0" err="1"/>
              <a:t>txn</a:t>
            </a:r>
            <a:r>
              <a:rPr lang="en-US" dirty="0"/>
              <a:t>[0]</a:t>
            </a:r>
          </a:p>
          <a:p>
            <a:r>
              <a:rPr lang="en-US" dirty="0"/>
              <a:t>    valid = False</a:t>
            </a:r>
          </a:p>
          <a:p>
            <a:r>
              <a:rPr lang="en-US" dirty="0"/>
              <a:t>    pattern = None</a:t>
            </a:r>
          </a:p>
          <a:p>
            <a:endParaRPr lang="en-US" dirty="0"/>
          </a:p>
          <a:p>
            <a:r>
              <a:rPr lang="en-US" dirty="0"/>
              <a:t>    if action == "DEPOSIT":</a:t>
            </a:r>
          </a:p>
          <a:p>
            <a:r>
              <a:rPr lang="en-US" dirty="0"/>
              <a:t>        _, account, amount = </a:t>
            </a:r>
            <a:r>
              <a:rPr lang="en-US" dirty="0" err="1"/>
              <a:t>txn</a:t>
            </a:r>
            <a:endParaRPr lang="en-US" dirty="0"/>
          </a:p>
          <a:p>
            <a:r>
              <a:rPr lang="en-US" dirty="0"/>
              <a:t>        pattern = (action, account, amount)</a:t>
            </a:r>
          </a:p>
          <a:p>
            <a:endParaRPr lang="en-US" dirty="0"/>
          </a:p>
          <a:p>
            <a:r>
              <a:rPr lang="en-US" dirty="0"/>
              <a:t>        if account in accounts and amount &gt; 0:</a:t>
            </a:r>
          </a:p>
          <a:p>
            <a:r>
              <a:rPr lang="en-US" dirty="0"/>
              <a:t>            accounts[account] += amount</a:t>
            </a:r>
          </a:p>
          <a:p>
            <a:r>
              <a:rPr lang="en-US" dirty="0"/>
              <a:t>            valid = True</a:t>
            </a:r>
          </a:p>
          <a:p>
            <a:endParaRPr lang="en-US" dirty="0"/>
          </a:p>
          <a:p>
            <a:r>
              <a:rPr lang="en-US" dirty="0"/>
              <a:t>    </a:t>
            </a:r>
            <a:r>
              <a:rPr lang="en-US" dirty="0" err="1"/>
              <a:t>elif</a:t>
            </a:r>
            <a:r>
              <a:rPr lang="en-US" dirty="0"/>
              <a:t> action == "WITHDRAW":</a:t>
            </a:r>
          </a:p>
          <a:p>
            <a:r>
              <a:rPr lang="en-US" dirty="0"/>
              <a:t>        _, account, amount = </a:t>
            </a:r>
            <a:r>
              <a:rPr lang="en-US" dirty="0" err="1"/>
              <a:t>txn</a:t>
            </a:r>
            <a:endParaRPr lang="en-US" dirty="0"/>
          </a:p>
          <a:p>
            <a:r>
              <a:rPr lang="en-US" dirty="0"/>
              <a:t>        pattern = (action, account, amount)</a:t>
            </a:r>
          </a:p>
          <a:p>
            <a:endParaRPr lang="en-US" dirty="0"/>
          </a:p>
          <a:p>
            <a:r>
              <a:rPr lang="en-US" dirty="0"/>
              <a:t>        if account not in accounts or amount &lt;= 0:</a:t>
            </a:r>
          </a:p>
          <a:p>
            <a:r>
              <a:rPr lang="en-US" dirty="0"/>
              <a:t>            pass</a:t>
            </a:r>
          </a:p>
          <a:p>
            <a:r>
              <a:rPr lang="en-US" dirty="0"/>
              <a:t>        </a:t>
            </a:r>
            <a:r>
              <a:rPr lang="en-US" dirty="0" err="1"/>
              <a:t>elif</a:t>
            </a:r>
            <a:r>
              <a:rPr lang="en-US" dirty="0"/>
              <a:t> accounts[account] &gt;= amount:</a:t>
            </a:r>
          </a:p>
          <a:p>
            <a:r>
              <a:rPr lang="en-US" dirty="0"/>
              <a:t>            accounts[account] -= amount</a:t>
            </a:r>
          </a:p>
          <a:p>
            <a:r>
              <a:rPr lang="en-US" dirty="0"/>
              <a:t>            valid = True</a:t>
            </a:r>
          </a:p>
          <a:p>
            <a:endParaRPr lang="en-US" dirty="0"/>
          </a:p>
          <a:p>
            <a:r>
              <a:rPr lang="en-US" dirty="0"/>
              <a:t>    </a:t>
            </a:r>
            <a:r>
              <a:rPr lang="en-US" dirty="0" err="1"/>
              <a:t>elif</a:t>
            </a:r>
            <a:r>
              <a:rPr lang="en-US" dirty="0"/>
              <a:t> action == "TRANSFER":</a:t>
            </a:r>
          </a:p>
          <a:p>
            <a:r>
              <a:rPr lang="en-US" dirty="0"/>
              <a:t>        _, source, target, amount = </a:t>
            </a:r>
            <a:r>
              <a:rPr lang="en-US" dirty="0" err="1"/>
              <a:t>txn</a:t>
            </a:r>
            <a:endParaRPr lang="en-US" dirty="0"/>
          </a:p>
          <a:p>
            <a:r>
              <a:rPr lang="en-US" dirty="0"/>
              <a:t>        pattern = (action, source, target, amount)</a:t>
            </a:r>
          </a:p>
          <a:p>
            <a:endParaRPr lang="en-US" dirty="0"/>
          </a:p>
          <a:p>
            <a:r>
              <a:rPr lang="en-US" dirty="0"/>
              <a:t>        if (source in accounts and target in accounts</a:t>
            </a:r>
          </a:p>
          <a:p>
            <a:r>
              <a:rPr lang="en-US" dirty="0"/>
              <a:t>                and source != target and amount &gt; 0</a:t>
            </a:r>
          </a:p>
          <a:p>
            <a:r>
              <a:rPr lang="en-US" dirty="0"/>
              <a:t>                and accounts[source] &gt;= amount):</a:t>
            </a:r>
          </a:p>
          <a:p>
            <a:r>
              <a:rPr lang="en-US" dirty="0"/>
              <a:t>            accounts[source] -= amount</a:t>
            </a:r>
          </a:p>
          <a:p>
            <a:r>
              <a:rPr lang="en-US" dirty="0"/>
              <a:t>            accounts[target] += amount</a:t>
            </a:r>
          </a:p>
          <a:p>
            <a:r>
              <a:rPr lang="en-US" dirty="0"/>
              <a:t>            valid = True</a:t>
            </a:r>
          </a:p>
          <a:p>
            <a:endParaRPr lang="en-US" dirty="0"/>
          </a:p>
          <a:p>
            <a:r>
              <a:rPr lang="en-US" dirty="0"/>
              <a:t>    else:</a:t>
            </a:r>
          </a:p>
          <a:p>
            <a:r>
              <a:rPr lang="en-US" dirty="0"/>
              <a:t>        print("Unknown transaction type:", action)</a:t>
            </a:r>
          </a:p>
          <a:p>
            <a:endParaRPr lang="en-US" dirty="0"/>
          </a:p>
          <a:p>
            <a:r>
              <a:rPr lang="en-US" dirty="0"/>
              <a:t>    if pattern is not None:</a:t>
            </a:r>
          </a:p>
          <a:p>
            <a:r>
              <a:rPr lang="en-US" dirty="0"/>
              <a:t>        </a:t>
            </a:r>
            <a:r>
              <a:rPr lang="en-US" dirty="0" err="1"/>
              <a:t>pattern_count</a:t>
            </a:r>
            <a:r>
              <a:rPr lang="en-US" dirty="0"/>
              <a:t>[pattern] = (</a:t>
            </a:r>
          </a:p>
          <a:p>
            <a:r>
              <a:rPr lang="en-US" dirty="0"/>
              <a:t>            </a:t>
            </a:r>
            <a:r>
              <a:rPr lang="en-US" dirty="0" err="1"/>
              <a:t>pattern_count.get</a:t>
            </a:r>
            <a:r>
              <a:rPr lang="en-US" dirty="0"/>
              <a:t>(pattern, 0) + 1</a:t>
            </a:r>
          </a:p>
          <a:p>
            <a:r>
              <a:rPr lang="en-US" dirty="0"/>
              <a:t>        )</a:t>
            </a:r>
          </a:p>
          <a:p>
            <a:endParaRPr lang="en-US" dirty="0"/>
          </a:p>
          <a:p>
            <a:r>
              <a:rPr lang="en-US" dirty="0"/>
              <a:t>        if </a:t>
            </a:r>
            <a:r>
              <a:rPr lang="en-US" dirty="0" err="1"/>
              <a:t>pattern_count</a:t>
            </a:r>
            <a:r>
              <a:rPr lang="en-US" dirty="0"/>
              <a:t>[pattern] == 3:</a:t>
            </a:r>
          </a:p>
          <a:p>
            <a:r>
              <a:rPr lang="en-US" dirty="0"/>
              <a:t>            </a:t>
            </a:r>
            <a:r>
              <a:rPr lang="en-US" dirty="0" err="1"/>
              <a:t>suspicious.append</a:t>
            </a:r>
            <a:r>
              <a:rPr lang="en-US" dirty="0"/>
              <a:t>(pattern)</a:t>
            </a:r>
          </a:p>
          <a:p>
            <a:endParaRPr lang="en-US" dirty="0"/>
          </a:p>
          <a:p>
            <a:r>
              <a:rPr lang="en-US" dirty="0"/>
              <a:t>    </a:t>
            </a:r>
            <a:r>
              <a:rPr lang="en-US" dirty="0" err="1"/>
              <a:t>history.append</a:t>
            </a:r>
            <a:r>
              <a:rPr lang="en-US" dirty="0"/>
              <a:t>((</a:t>
            </a:r>
            <a:r>
              <a:rPr lang="en-US" dirty="0" err="1"/>
              <a:t>txn</a:t>
            </a:r>
            <a:r>
              <a:rPr lang="en-US" dirty="0"/>
              <a:t>, "Valid" if valid else "Invalid"))</a:t>
            </a:r>
          </a:p>
          <a:p>
            <a:endParaRPr lang="en-US" dirty="0"/>
          </a:p>
          <a:p>
            <a:r>
              <a:rPr lang="en-US" dirty="0"/>
              <a:t>    print(</a:t>
            </a:r>
            <a:r>
              <a:rPr lang="en-US" dirty="0" err="1"/>
              <a:t>txn</a:t>
            </a:r>
            <a:r>
              <a:rPr lang="en-US" dirty="0"/>
              <a:t>, "-&gt;", "Accepted" if valid else "Rejected")</a:t>
            </a:r>
          </a:p>
          <a:p>
            <a:endParaRPr lang="en-US" dirty="0"/>
          </a:p>
          <a:p>
            <a:r>
              <a:rPr lang="en-US" dirty="0"/>
              <a:t>print("\n--- TRANSACTION AUDIT REPORT ---")</a:t>
            </a:r>
          </a:p>
          <a:p>
            <a:endParaRPr lang="en-US" dirty="0"/>
          </a:p>
          <a:p>
            <a:r>
              <a:rPr lang="en-US" dirty="0"/>
              <a:t>for </a:t>
            </a:r>
            <a:r>
              <a:rPr lang="en-US" dirty="0" err="1"/>
              <a:t>txn</a:t>
            </a:r>
            <a:r>
              <a:rPr lang="en-US" dirty="0"/>
              <a:t>, status in history:</a:t>
            </a:r>
          </a:p>
          <a:p>
            <a:r>
              <a:rPr lang="en-US" dirty="0"/>
              <a:t>    print(</a:t>
            </a:r>
            <a:r>
              <a:rPr lang="en-US" dirty="0" err="1"/>
              <a:t>txn</a:t>
            </a:r>
            <a:r>
              <a:rPr lang="en-US" dirty="0"/>
              <a:t>, ":", status)</a:t>
            </a:r>
          </a:p>
          <a:p>
            <a:endParaRPr lang="en-US" dirty="0"/>
          </a:p>
          <a:p>
            <a:r>
              <a:rPr lang="en-US" dirty="0"/>
              <a:t>print("\n--- FINAL ACCOUNT BALANCES ---")</a:t>
            </a:r>
          </a:p>
          <a:p>
            <a:r>
              <a:rPr lang="en-US" dirty="0"/>
              <a:t>for account, balance in </a:t>
            </a:r>
            <a:r>
              <a:rPr lang="en-US" dirty="0" err="1"/>
              <a:t>accounts.items</a:t>
            </a:r>
            <a:r>
              <a:rPr lang="en-US" dirty="0"/>
              <a:t>():</a:t>
            </a:r>
          </a:p>
          <a:p>
            <a:r>
              <a:rPr lang="en-US" dirty="0"/>
              <a:t>    print(account, ":", round(balance, 2))</a:t>
            </a:r>
          </a:p>
          <a:p>
            <a:endParaRPr lang="en-US" dirty="0"/>
          </a:p>
          <a:p>
            <a:r>
              <a:rPr lang="en-US" dirty="0"/>
              <a:t>print("\n--- SUSPICIOUS PATTERN REPORT ---")</a:t>
            </a:r>
          </a:p>
          <a:p>
            <a:r>
              <a:rPr lang="en-US" dirty="0"/>
              <a:t>if suspicious:</a:t>
            </a:r>
          </a:p>
          <a:p>
            <a:r>
              <a:rPr lang="en-US" dirty="0"/>
              <a:t>    for pattern in suspicious:</a:t>
            </a:r>
          </a:p>
          <a:p>
            <a:r>
              <a:rPr lang="en-US" dirty="0"/>
              <a:t>        print("Repeated pattern (3 or more attempts):", pattern)</a:t>
            </a:r>
          </a:p>
          <a:p>
            <a:r>
              <a:rPr lang="en-US" dirty="0"/>
              <a:t>else:</a:t>
            </a:r>
          </a:p>
          <a:p>
            <a:r>
              <a:rPr lang="en-US" dirty="0"/>
              <a:t>    print("No repeated patterns detected.")</a:t>
            </a:r>
            <a:endParaRPr lang="en-IN" dirty="0"/>
          </a:p>
        </p:txBody>
      </p:sp>
    </p:spTree>
    <p:extLst>
      <p:ext uri="{BB962C8B-B14F-4D97-AF65-F5344CB8AC3E}">
        <p14:creationId xmlns:p14="http://schemas.microsoft.com/office/powerpoint/2010/main" val="236045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BAF71-2D88-4076-DDA6-3C6F79571585}"/>
              </a:ext>
            </a:extLst>
          </p:cNvPr>
          <p:cNvSpPr>
            <a:spLocks noGrp="1"/>
          </p:cNvSpPr>
          <p:nvPr>
            <p:ph type="title"/>
          </p:nvPr>
        </p:nvSpPr>
        <p:spPr/>
        <p:txBody>
          <a:bodyPr/>
          <a:lstStyle/>
          <a:p>
            <a:r>
              <a:rPr lang="en-IN" dirty="0"/>
              <a:t>Test Cases</a:t>
            </a:r>
          </a:p>
        </p:txBody>
      </p:sp>
      <p:graphicFrame>
        <p:nvGraphicFramePr>
          <p:cNvPr id="4" name="Content Placeholder 3">
            <a:extLst>
              <a:ext uri="{FF2B5EF4-FFF2-40B4-BE49-F238E27FC236}">
                <a16:creationId xmlns:a16="http://schemas.microsoft.com/office/drawing/2014/main" id="{3CEF0119-6311-A3B5-7FCC-2A969441A942}"/>
              </a:ext>
            </a:extLst>
          </p:cNvPr>
          <p:cNvGraphicFramePr>
            <a:graphicFrameLocks noGrp="1"/>
          </p:cNvGraphicFramePr>
          <p:nvPr>
            <p:ph idx="1"/>
            <p:extLst>
              <p:ext uri="{D42A27DB-BD31-4B8C-83A1-F6EECF244321}">
                <p14:modId xmlns:p14="http://schemas.microsoft.com/office/powerpoint/2010/main" val="759605230"/>
              </p:ext>
            </p:extLst>
          </p:nvPr>
        </p:nvGraphicFramePr>
        <p:xfrm>
          <a:off x="246185" y="1465385"/>
          <a:ext cx="11107614" cy="5027491"/>
        </p:xfrm>
        <a:graphic>
          <a:graphicData uri="http://schemas.openxmlformats.org/drawingml/2006/table">
            <a:tbl>
              <a:tblPr/>
              <a:tblGrid>
                <a:gridCol w="3702538">
                  <a:extLst>
                    <a:ext uri="{9D8B030D-6E8A-4147-A177-3AD203B41FA5}">
                      <a16:colId xmlns:a16="http://schemas.microsoft.com/office/drawing/2014/main" val="3728516460"/>
                    </a:ext>
                  </a:extLst>
                </a:gridCol>
                <a:gridCol w="3702538">
                  <a:extLst>
                    <a:ext uri="{9D8B030D-6E8A-4147-A177-3AD203B41FA5}">
                      <a16:colId xmlns:a16="http://schemas.microsoft.com/office/drawing/2014/main" val="711147809"/>
                    </a:ext>
                  </a:extLst>
                </a:gridCol>
                <a:gridCol w="3702538">
                  <a:extLst>
                    <a:ext uri="{9D8B030D-6E8A-4147-A177-3AD203B41FA5}">
                      <a16:colId xmlns:a16="http://schemas.microsoft.com/office/drawing/2014/main" val="2100203230"/>
                    </a:ext>
                  </a:extLst>
                </a:gridCol>
              </a:tblGrid>
              <a:tr h="490487">
                <a:tc>
                  <a:txBody>
                    <a:bodyPr/>
                    <a:lstStyle/>
                    <a:p>
                      <a:pPr>
                        <a:buNone/>
                      </a:pPr>
                      <a:r>
                        <a:rPr lang="en-IN"/>
                        <a:t>Test case</a:t>
                      </a:r>
                    </a:p>
                  </a:txBody>
                  <a:tcPr anchor="ctr">
                    <a:lnL>
                      <a:noFill/>
                    </a:lnL>
                    <a:lnR>
                      <a:noFill/>
                    </a:lnR>
                    <a:lnT>
                      <a:noFill/>
                    </a:lnT>
                    <a:lnB>
                      <a:noFill/>
                    </a:lnB>
                    <a:noFill/>
                  </a:tcPr>
                </a:tc>
                <a:tc>
                  <a:txBody>
                    <a:bodyPr/>
                    <a:lstStyle/>
                    <a:p>
                      <a:pPr>
                        <a:buNone/>
                      </a:pPr>
                      <a:r>
                        <a:rPr lang="en-IN"/>
                        <a:t>Input condition</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2307288222"/>
                  </a:ext>
                </a:extLst>
              </a:tr>
              <a:tr h="490487">
                <a:tc>
                  <a:txBody>
                    <a:bodyPr/>
                    <a:lstStyle/>
                    <a:p>
                      <a:pPr>
                        <a:buNone/>
                      </a:pPr>
                      <a:r>
                        <a:rPr lang="en-IN"/>
                        <a:t>1</a:t>
                      </a:r>
                    </a:p>
                  </a:txBody>
                  <a:tcPr anchor="ctr">
                    <a:lnL>
                      <a:noFill/>
                    </a:lnL>
                    <a:lnR>
                      <a:noFill/>
                    </a:lnR>
                    <a:lnT>
                      <a:noFill/>
                    </a:lnT>
                    <a:lnB>
                      <a:noFill/>
                    </a:lnB>
                    <a:noFill/>
                  </a:tcPr>
                </a:tc>
                <a:tc>
                  <a:txBody>
                    <a:bodyPr/>
                    <a:lstStyle/>
                    <a:p>
                      <a:pPr>
                        <a:buNone/>
                      </a:pPr>
                      <a:r>
                        <a:rPr lang="en-IN"/>
                        <a:t>Deposit a positive amount</a:t>
                      </a:r>
                    </a:p>
                  </a:txBody>
                  <a:tcPr anchor="ctr">
                    <a:lnL>
                      <a:noFill/>
                    </a:lnL>
                    <a:lnR>
                      <a:noFill/>
                    </a:lnR>
                    <a:lnT>
                      <a:noFill/>
                    </a:lnT>
                    <a:lnB>
                      <a:noFill/>
                    </a:lnB>
                    <a:noFill/>
                  </a:tcPr>
                </a:tc>
                <a:tc>
                  <a:txBody>
                    <a:bodyPr/>
                    <a:lstStyle/>
                    <a:p>
                      <a:pPr>
                        <a:buNone/>
                      </a:pPr>
                      <a:r>
                        <a:rPr lang="en-IN"/>
                        <a:t>Balance increases</a:t>
                      </a:r>
                    </a:p>
                  </a:txBody>
                  <a:tcPr anchor="ctr">
                    <a:lnL>
                      <a:noFill/>
                    </a:lnL>
                    <a:lnR>
                      <a:noFill/>
                    </a:lnR>
                    <a:lnT>
                      <a:noFill/>
                    </a:lnT>
                    <a:lnB>
                      <a:noFill/>
                    </a:lnB>
                    <a:noFill/>
                  </a:tcPr>
                </a:tc>
                <a:extLst>
                  <a:ext uri="{0D108BD9-81ED-4DB2-BD59-A6C34878D82A}">
                    <a16:rowId xmlns:a16="http://schemas.microsoft.com/office/drawing/2014/main" val="520686795"/>
                  </a:ext>
                </a:extLst>
              </a:tr>
              <a:tr h="490487">
                <a:tc>
                  <a:txBody>
                    <a:bodyPr/>
                    <a:lstStyle/>
                    <a:p>
                      <a:pPr>
                        <a:buNone/>
                      </a:pPr>
                      <a:r>
                        <a:rPr lang="en-IN"/>
                        <a:t>2</a:t>
                      </a:r>
                    </a:p>
                  </a:txBody>
                  <a:tcPr anchor="ctr">
                    <a:lnL>
                      <a:noFill/>
                    </a:lnL>
                    <a:lnR>
                      <a:noFill/>
                    </a:lnR>
                    <a:lnT>
                      <a:noFill/>
                    </a:lnT>
                    <a:lnB>
                      <a:noFill/>
                    </a:lnB>
                    <a:noFill/>
                  </a:tcPr>
                </a:tc>
                <a:tc>
                  <a:txBody>
                    <a:bodyPr/>
                    <a:lstStyle/>
                    <a:p>
                      <a:pPr>
                        <a:buNone/>
                      </a:pPr>
                      <a:r>
                        <a:rPr lang="en-IN"/>
                        <a:t>Withdraw within available balance</a:t>
                      </a:r>
                    </a:p>
                  </a:txBody>
                  <a:tcPr anchor="ctr">
                    <a:lnL>
                      <a:noFill/>
                    </a:lnL>
                    <a:lnR>
                      <a:noFill/>
                    </a:lnR>
                    <a:lnT>
                      <a:noFill/>
                    </a:lnT>
                    <a:lnB>
                      <a:noFill/>
                    </a:lnB>
                    <a:noFill/>
                  </a:tcPr>
                </a:tc>
                <a:tc>
                  <a:txBody>
                    <a:bodyPr/>
                    <a:lstStyle/>
                    <a:p>
                      <a:pPr>
                        <a:buNone/>
                      </a:pPr>
                      <a:r>
                        <a:rPr lang="en-IN"/>
                        <a:t>Balance decreases</a:t>
                      </a:r>
                    </a:p>
                  </a:txBody>
                  <a:tcPr anchor="ctr">
                    <a:lnL>
                      <a:noFill/>
                    </a:lnL>
                    <a:lnR>
                      <a:noFill/>
                    </a:lnR>
                    <a:lnT>
                      <a:noFill/>
                    </a:lnT>
                    <a:lnB>
                      <a:noFill/>
                    </a:lnB>
                    <a:noFill/>
                  </a:tcPr>
                </a:tc>
                <a:extLst>
                  <a:ext uri="{0D108BD9-81ED-4DB2-BD59-A6C34878D82A}">
                    <a16:rowId xmlns:a16="http://schemas.microsoft.com/office/drawing/2014/main" val="631861814"/>
                  </a:ext>
                </a:extLst>
              </a:tr>
              <a:tr h="858352">
                <a:tc>
                  <a:txBody>
                    <a:bodyPr/>
                    <a:lstStyle/>
                    <a:p>
                      <a:pPr>
                        <a:buNone/>
                      </a:pPr>
                      <a:r>
                        <a:rPr lang="en-IN"/>
                        <a:t>3</a:t>
                      </a:r>
                    </a:p>
                  </a:txBody>
                  <a:tcPr anchor="ctr">
                    <a:lnL>
                      <a:noFill/>
                    </a:lnL>
                    <a:lnR>
                      <a:noFill/>
                    </a:lnR>
                    <a:lnT>
                      <a:noFill/>
                    </a:lnT>
                    <a:lnB>
                      <a:noFill/>
                    </a:lnB>
                    <a:noFill/>
                  </a:tcPr>
                </a:tc>
                <a:tc>
                  <a:txBody>
                    <a:bodyPr/>
                    <a:lstStyle/>
                    <a:p>
                      <a:pPr>
                        <a:buNone/>
                      </a:pPr>
                      <a:r>
                        <a:rPr lang="en-US"/>
                        <a:t>Withdraw more than available balance</a:t>
                      </a:r>
                    </a:p>
                  </a:txBody>
                  <a:tcPr anchor="ctr">
                    <a:lnL>
                      <a:noFill/>
                    </a:lnL>
                    <a:lnR>
                      <a:noFill/>
                    </a:lnR>
                    <a:lnT>
                      <a:noFill/>
                    </a:lnT>
                    <a:lnB>
                      <a:noFill/>
                    </a:lnB>
                    <a:noFill/>
                  </a:tcPr>
                </a:tc>
                <a:tc>
                  <a:txBody>
                    <a:bodyPr/>
                    <a:lstStyle/>
                    <a:p>
                      <a:pPr>
                        <a:buNone/>
                      </a:pPr>
                      <a:r>
                        <a:rPr lang="en-IN"/>
                        <a:t>Transaction rejected</a:t>
                      </a:r>
                    </a:p>
                  </a:txBody>
                  <a:tcPr anchor="ctr">
                    <a:lnL>
                      <a:noFill/>
                    </a:lnL>
                    <a:lnR>
                      <a:noFill/>
                    </a:lnR>
                    <a:lnT>
                      <a:noFill/>
                    </a:lnT>
                    <a:lnB>
                      <a:noFill/>
                    </a:lnB>
                    <a:noFill/>
                  </a:tcPr>
                </a:tc>
                <a:extLst>
                  <a:ext uri="{0D108BD9-81ED-4DB2-BD59-A6C34878D82A}">
                    <a16:rowId xmlns:a16="http://schemas.microsoft.com/office/drawing/2014/main" val="3111508703"/>
                  </a:ext>
                </a:extLst>
              </a:tr>
              <a:tr h="490487">
                <a:tc>
                  <a:txBody>
                    <a:bodyPr/>
                    <a:lstStyle/>
                    <a:p>
                      <a:pPr>
                        <a:buNone/>
                      </a:pPr>
                      <a:r>
                        <a:rPr lang="en-IN"/>
                        <a:t>4</a:t>
                      </a:r>
                    </a:p>
                  </a:txBody>
                  <a:tcPr anchor="ctr">
                    <a:lnL>
                      <a:noFill/>
                    </a:lnL>
                    <a:lnR>
                      <a:noFill/>
                    </a:lnR>
                    <a:lnT>
                      <a:noFill/>
                    </a:lnT>
                    <a:lnB>
                      <a:noFill/>
                    </a:lnB>
                    <a:noFill/>
                  </a:tcPr>
                </a:tc>
                <a:tc>
                  <a:txBody>
                    <a:bodyPr/>
                    <a:lstStyle/>
                    <a:p>
                      <a:pPr>
                        <a:buNone/>
                      </a:pPr>
                      <a:r>
                        <a:rPr lang="en-IN"/>
                        <a:t>Deposit a negative amount</a:t>
                      </a:r>
                    </a:p>
                  </a:txBody>
                  <a:tcPr anchor="ctr">
                    <a:lnL>
                      <a:noFill/>
                    </a:lnL>
                    <a:lnR>
                      <a:noFill/>
                    </a:lnR>
                    <a:lnT>
                      <a:noFill/>
                    </a:lnT>
                    <a:lnB>
                      <a:noFill/>
                    </a:lnB>
                    <a:noFill/>
                  </a:tcPr>
                </a:tc>
                <a:tc>
                  <a:txBody>
                    <a:bodyPr/>
                    <a:lstStyle/>
                    <a:p>
                      <a:pPr>
                        <a:buNone/>
                      </a:pPr>
                      <a:r>
                        <a:rPr lang="en-IN"/>
                        <a:t>Transaction rejected</a:t>
                      </a:r>
                    </a:p>
                  </a:txBody>
                  <a:tcPr anchor="ctr">
                    <a:lnL>
                      <a:noFill/>
                    </a:lnL>
                    <a:lnR>
                      <a:noFill/>
                    </a:lnR>
                    <a:lnT>
                      <a:noFill/>
                    </a:lnT>
                    <a:lnB>
                      <a:noFill/>
                    </a:lnB>
                    <a:noFill/>
                  </a:tcPr>
                </a:tc>
                <a:extLst>
                  <a:ext uri="{0D108BD9-81ED-4DB2-BD59-A6C34878D82A}">
                    <a16:rowId xmlns:a16="http://schemas.microsoft.com/office/drawing/2014/main" val="3775173700"/>
                  </a:ext>
                </a:extLst>
              </a:tr>
              <a:tr h="858352">
                <a:tc>
                  <a:txBody>
                    <a:bodyPr/>
                    <a:lstStyle/>
                    <a:p>
                      <a:pPr>
                        <a:buNone/>
                      </a:pPr>
                      <a:r>
                        <a:rPr lang="en-IN"/>
                        <a:t>5</a:t>
                      </a:r>
                    </a:p>
                  </a:txBody>
                  <a:tcPr anchor="ctr">
                    <a:lnL>
                      <a:noFill/>
                    </a:lnL>
                    <a:lnR>
                      <a:noFill/>
                    </a:lnR>
                    <a:lnT>
                      <a:noFill/>
                    </a:lnT>
                    <a:lnB>
                      <a:noFill/>
                    </a:lnB>
                    <a:noFill/>
                  </a:tcPr>
                </a:tc>
                <a:tc>
                  <a:txBody>
                    <a:bodyPr/>
                    <a:lstStyle/>
                    <a:p>
                      <a:pPr>
                        <a:buNone/>
                      </a:pPr>
                      <a:r>
                        <a:rPr lang="en-US"/>
                        <a:t>Transfer between two valid accounts with sufficient funds</a:t>
                      </a:r>
                    </a:p>
                  </a:txBody>
                  <a:tcPr anchor="ctr">
                    <a:lnL>
                      <a:noFill/>
                    </a:lnL>
                    <a:lnR>
                      <a:noFill/>
                    </a:lnR>
                    <a:lnT>
                      <a:noFill/>
                    </a:lnT>
                    <a:lnB>
                      <a:noFill/>
                    </a:lnB>
                    <a:noFill/>
                  </a:tcPr>
                </a:tc>
                <a:tc>
                  <a:txBody>
                    <a:bodyPr/>
                    <a:lstStyle/>
                    <a:p>
                      <a:pPr>
                        <a:buNone/>
                      </a:pPr>
                      <a:r>
                        <a:rPr lang="en-IN"/>
                        <a:t>Both balances update</a:t>
                      </a:r>
                    </a:p>
                  </a:txBody>
                  <a:tcPr anchor="ctr">
                    <a:lnL>
                      <a:noFill/>
                    </a:lnL>
                    <a:lnR>
                      <a:noFill/>
                    </a:lnR>
                    <a:lnT>
                      <a:noFill/>
                    </a:lnT>
                    <a:lnB>
                      <a:noFill/>
                    </a:lnB>
                    <a:noFill/>
                  </a:tcPr>
                </a:tc>
                <a:extLst>
                  <a:ext uri="{0D108BD9-81ED-4DB2-BD59-A6C34878D82A}">
                    <a16:rowId xmlns:a16="http://schemas.microsoft.com/office/drawing/2014/main" val="2596150042"/>
                  </a:ext>
                </a:extLst>
              </a:tr>
              <a:tr h="490487">
                <a:tc>
                  <a:txBody>
                    <a:bodyPr/>
                    <a:lstStyle/>
                    <a:p>
                      <a:pPr>
                        <a:buNone/>
                      </a:pPr>
                      <a:r>
                        <a:rPr lang="en-IN"/>
                        <a:t>6</a:t>
                      </a:r>
                    </a:p>
                  </a:txBody>
                  <a:tcPr anchor="ctr">
                    <a:lnL>
                      <a:noFill/>
                    </a:lnL>
                    <a:lnR>
                      <a:noFill/>
                    </a:lnR>
                    <a:lnT>
                      <a:noFill/>
                    </a:lnT>
                    <a:lnB>
                      <a:noFill/>
                    </a:lnB>
                    <a:noFill/>
                  </a:tcPr>
                </a:tc>
                <a:tc>
                  <a:txBody>
                    <a:bodyPr/>
                    <a:lstStyle/>
                    <a:p>
                      <a:pPr>
                        <a:buNone/>
                      </a:pPr>
                      <a:r>
                        <a:rPr lang="en-US"/>
                        <a:t>Transfer to an unknown account</a:t>
                      </a:r>
                    </a:p>
                  </a:txBody>
                  <a:tcPr anchor="ctr">
                    <a:lnL>
                      <a:noFill/>
                    </a:lnL>
                    <a:lnR>
                      <a:noFill/>
                    </a:lnR>
                    <a:lnT>
                      <a:noFill/>
                    </a:lnT>
                    <a:lnB>
                      <a:noFill/>
                    </a:lnB>
                    <a:noFill/>
                  </a:tcPr>
                </a:tc>
                <a:tc>
                  <a:txBody>
                    <a:bodyPr/>
                    <a:lstStyle/>
                    <a:p>
                      <a:pPr>
                        <a:buNone/>
                      </a:pPr>
                      <a:r>
                        <a:rPr lang="en-IN"/>
                        <a:t>Transaction rejected</a:t>
                      </a:r>
                    </a:p>
                  </a:txBody>
                  <a:tcPr anchor="ctr">
                    <a:lnL>
                      <a:noFill/>
                    </a:lnL>
                    <a:lnR>
                      <a:noFill/>
                    </a:lnR>
                    <a:lnT>
                      <a:noFill/>
                    </a:lnT>
                    <a:lnB>
                      <a:noFill/>
                    </a:lnB>
                    <a:noFill/>
                  </a:tcPr>
                </a:tc>
                <a:extLst>
                  <a:ext uri="{0D108BD9-81ED-4DB2-BD59-A6C34878D82A}">
                    <a16:rowId xmlns:a16="http://schemas.microsoft.com/office/drawing/2014/main" val="1882116877"/>
                  </a:ext>
                </a:extLst>
              </a:tr>
              <a:tr h="858352">
                <a:tc>
                  <a:txBody>
                    <a:bodyPr/>
                    <a:lstStyle/>
                    <a:p>
                      <a:pPr>
                        <a:buNone/>
                      </a:pPr>
                      <a:r>
                        <a:rPr lang="en-IN"/>
                        <a:t>7</a:t>
                      </a:r>
                    </a:p>
                  </a:txBody>
                  <a:tcPr anchor="ctr">
                    <a:lnL>
                      <a:noFill/>
                    </a:lnL>
                    <a:lnR>
                      <a:noFill/>
                    </a:lnR>
                    <a:lnT>
                      <a:noFill/>
                    </a:lnT>
                    <a:lnB>
                      <a:noFill/>
                    </a:lnB>
                    <a:noFill/>
                  </a:tcPr>
                </a:tc>
                <a:tc>
                  <a:txBody>
                    <a:bodyPr/>
                    <a:lstStyle/>
                    <a:p>
                      <a:pPr>
                        <a:buNone/>
                      </a:pPr>
                      <a:r>
                        <a:rPr lang="en-US"/>
                        <a:t>Repeat the same transaction pattern three times</a:t>
                      </a:r>
                    </a:p>
                  </a:txBody>
                  <a:tcPr anchor="ctr">
                    <a:lnL>
                      <a:noFill/>
                    </a:lnL>
                    <a:lnR>
                      <a:noFill/>
                    </a:lnR>
                    <a:lnT>
                      <a:noFill/>
                    </a:lnT>
                    <a:lnB>
                      <a:noFill/>
                    </a:lnB>
                    <a:noFill/>
                  </a:tcPr>
                </a:tc>
                <a:tc>
                  <a:txBody>
                    <a:bodyPr/>
                    <a:lstStyle/>
                    <a:p>
                      <a:pPr>
                        <a:buNone/>
                      </a:pPr>
                      <a:r>
                        <a:rPr lang="en-IN" dirty="0"/>
                        <a:t>Suspicious-pattern alert</a:t>
                      </a:r>
                    </a:p>
                  </a:txBody>
                  <a:tcPr anchor="ctr">
                    <a:lnL>
                      <a:noFill/>
                    </a:lnL>
                    <a:lnR>
                      <a:noFill/>
                    </a:lnR>
                    <a:lnT>
                      <a:noFill/>
                    </a:lnT>
                    <a:lnB>
                      <a:noFill/>
                    </a:lnB>
                    <a:noFill/>
                  </a:tcPr>
                </a:tc>
                <a:extLst>
                  <a:ext uri="{0D108BD9-81ED-4DB2-BD59-A6C34878D82A}">
                    <a16:rowId xmlns:a16="http://schemas.microsoft.com/office/drawing/2014/main" val="1259087514"/>
                  </a:ext>
                </a:extLst>
              </a:tr>
            </a:tbl>
          </a:graphicData>
        </a:graphic>
      </p:graphicFrame>
    </p:spTree>
    <p:extLst>
      <p:ext uri="{BB962C8B-B14F-4D97-AF65-F5344CB8AC3E}">
        <p14:creationId xmlns:p14="http://schemas.microsoft.com/office/powerpoint/2010/main" val="2384218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5532C-23B6-41BE-60CC-81CAD8F6D0F2}"/>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2330BB85-F23B-AFBA-83E0-EF5A95D97FD5}"/>
              </a:ext>
            </a:extLst>
          </p:cNvPr>
          <p:cNvSpPr>
            <a:spLocks noGrp="1"/>
          </p:cNvSpPr>
          <p:nvPr>
            <p:ph type="body" idx="1"/>
          </p:nvPr>
        </p:nvSpPr>
        <p:spPr/>
        <p:txBody>
          <a:bodyPr/>
          <a:lstStyle/>
          <a:p>
            <a:r>
              <a:rPr lang="en-US" dirty="0"/>
              <a:t>Code </a:t>
            </a:r>
            <a:endParaRPr lang="en-IN" dirty="0"/>
          </a:p>
        </p:txBody>
      </p:sp>
      <p:pic>
        <p:nvPicPr>
          <p:cNvPr id="8" name="Content Placeholder 7">
            <a:extLst>
              <a:ext uri="{FF2B5EF4-FFF2-40B4-BE49-F238E27FC236}">
                <a16:creationId xmlns:a16="http://schemas.microsoft.com/office/drawing/2014/main" id="{3D822DE2-A97F-F43A-39CA-B167A28C750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039815" y="1984871"/>
            <a:ext cx="2719754" cy="4659924"/>
          </a:xfrm>
        </p:spPr>
      </p:pic>
      <p:sp>
        <p:nvSpPr>
          <p:cNvPr id="5" name="Text Placeholder 4">
            <a:extLst>
              <a:ext uri="{FF2B5EF4-FFF2-40B4-BE49-F238E27FC236}">
                <a16:creationId xmlns:a16="http://schemas.microsoft.com/office/drawing/2014/main" id="{B200FE79-6310-EAEA-5FA7-EF9DF70BAC34}"/>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914B437F-17A4-1840-07C8-0124463325D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259595" y="2505075"/>
            <a:ext cx="6095793" cy="3987800"/>
          </a:xfrm>
        </p:spPr>
      </p:pic>
    </p:spTree>
    <p:extLst>
      <p:ext uri="{BB962C8B-B14F-4D97-AF65-F5344CB8AC3E}">
        <p14:creationId xmlns:p14="http://schemas.microsoft.com/office/powerpoint/2010/main" val="282011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49057-BDE9-7A37-19AC-BEC272E55B75}"/>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2FE7AE79-DD23-65ED-673D-0A202F4B2F04}"/>
              </a:ext>
            </a:extLst>
          </p:cNvPr>
          <p:cNvSpPr>
            <a:spLocks noGrp="1"/>
          </p:cNvSpPr>
          <p:nvPr>
            <p:ph idx="1"/>
          </p:nvPr>
        </p:nvSpPr>
        <p:spPr/>
        <p:txBody>
          <a:bodyPr/>
          <a:lstStyle/>
          <a:p>
            <a:r>
              <a:rPr lang="en-US" dirty="0"/>
              <a:t>The Multi-Stage ATM Transaction Audit project demonstrates how Python can simulate basic banking operations and maintain accurate account balances. The program processes deposits, withdrawals, and transfers while validating transaction amounts, account details, and available funds.</a:t>
            </a:r>
          </a:p>
          <a:p>
            <a:r>
              <a:rPr lang="en-US" dirty="0"/>
              <a:t>It also maintains transaction history and identifies repeated transaction patterns for further review. This project demonstrates the practical application of lists, tuples, dictionaries, loops, conditional statements, and basic auditing techniques in Python.</a:t>
            </a:r>
          </a:p>
          <a:p>
            <a:endParaRPr lang="en-IN" dirty="0"/>
          </a:p>
        </p:txBody>
      </p:sp>
    </p:spTree>
    <p:extLst>
      <p:ext uri="{BB962C8B-B14F-4D97-AF65-F5344CB8AC3E}">
        <p14:creationId xmlns:p14="http://schemas.microsoft.com/office/powerpoint/2010/main" val="42516968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50414-8A0C-9368-E1B7-B7CFF4B69F73}"/>
              </a:ext>
            </a:extLst>
          </p:cNvPr>
          <p:cNvSpPr>
            <a:spLocks noGrp="1"/>
          </p:cNvSpPr>
          <p:nvPr>
            <p:ph type="ctrTitle"/>
          </p:nvPr>
        </p:nvSpPr>
        <p:spPr/>
        <p:txBody>
          <a:bodyPr>
            <a:normAutofit fontScale="90000"/>
          </a:bodyPr>
          <a:lstStyle/>
          <a:p>
            <a:r>
              <a:rPr lang="en-US" dirty="0"/>
              <a:t>CASE-87:Examination Question Difficulty and Performance Analysis</a:t>
            </a:r>
            <a:endParaRPr lang="en-IN" dirty="0"/>
          </a:p>
        </p:txBody>
      </p:sp>
      <p:sp>
        <p:nvSpPr>
          <p:cNvPr id="3" name="Subtitle 2">
            <a:extLst>
              <a:ext uri="{FF2B5EF4-FFF2-40B4-BE49-F238E27FC236}">
                <a16:creationId xmlns:a16="http://schemas.microsoft.com/office/drawing/2014/main" id="{8E6E91FF-CB18-46DA-11DC-FD2B7B908C09}"/>
              </a:ext>
            </a:extLst>
          </p:cNvPr>
          <p:cNvSpPr>
            <a:spLocks noGrp="1"/>
          </p:cNvSpPr>
          <p:nvPr>
            <p:ph type="subTitle" idx="1"/>
          </p:nvPr>
        </p:nvSpPr>
        <p:spPr>
          <a:xfrm>
            <a:off x="750277" y="3602037"/>
            <a:ext cx="9917723" cy="2962885"/>
          </a:xfrm>
        </p:spPr>
        <p:txBody>
          <a:bodyPr>
            <a:normAutofit fontScale="92500"/>
          </a:bodyPr>
          <a:lstStyle/>
          <a:p>
            <a:r>
              <a:rPr lang="en-US" b="1" dirty="0"/>
              <a:t>Problem Statement</a:t>
            </a:r>
          </a:p>
          <a:p>
            <a:r>
              <a:rPr lang="en-US" dirty="0"/>
              <a:t>Examination performance analysis helps teachers understand how students perform on individual questions and identify topics that may require additional attention.</a:t>
            </a:r>
          </a:p>
          <a:p>
            <a:r>
              <a:rPr lang="en-US" dirty="0"/>
              <a:t>The objective of this project is to develop a Python program that compares student answer strings against an answer key, calculates question-wise success rates, identifies the most frequently missed questions, and classifies question performance based on user-defined thresholds. The program provides a summary that helps evaluate question difficulty and overall student performance.</a:t>
            </a:r>
          </a:p>
          <a:p>
            <a:endParaRPr lang="en-IN" dirty="0"/>
          </a:p>
        </p:txBody>
      </p:sp>
    </p:spTree>
    <p:extLst>
      <p:ext uri="{BB962C8B-B14F-4D97-AF65-F5344CB8AC3E}">
        <p14:creationId xmlns:p14="http://schemas.microsoft.com/office/powerpoint/2010/main" val="5495551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FA663-BDF7-0C3D-48B2-2E42BED4E25B}"/>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88BCE93A-9DF6-FAC5-63D6-95AB0A1A4E0B}"/>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the correct answers in an answer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student responses using nested lists.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Compare each student's answer with the corresponding correct answer.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number of correct and incorrect answers per question.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success rate for every question.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the most frequently missed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Classify questions as Easy, Moderate, or Difficult.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a question-wise performance report.</a:t>
            </a:r>
          </a:p>
        </p:txBody>
      </p:sp>
    </p:spTree>
    <p:extLst>
      <p:ext uri="{BB962C8B-B14F-4D97-AF65-F5344CB8AC3E}">
        <p14:creationId xmlns:p14="http://schemas.microsoft.com/office/powerpoint/2010/main" val="3614072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A08CC-E65E-E1FC-E7DF-41C62BDC92E7}"/>
              </a:ext>
            </a:extLst>
          </p:cNvPr>
          <p:cNvSpPr>
            <a:spLocks noGrp="1"/>
          </p:cNvSpPr>
          <p:nvPr>
            <p:ph type="title"/>
          </p:nvPr>
        </p:nvSpPr>
        <p:spPr/>
        <p:txBody>
          <a:bodyPr/>
          <a:lstStyle/>
          <a:p>
            <a:r>
              <a:rPr lang="en-IN" dirty="0"/>
              <a:t>Assumptions</a:t>
            </a:r>
          </a:p>
        </p:txBody>
      </p:sp>
      <p:sp>
        <p:nvSpPr>
          <p:cNvPr id="4" name="Rectangle 1">
            <a:extLst>
              <a:ext uri="{FF2B5EF4-FFF2-40B4-BE49-F238E27FC236}">
                <a16:creationId xmlns:a16="http://schemas.microsoft.com/office/drawing/2014/main" id="{9C475AD3-773C-1F4C-E608-B1B614EF4150}"/>
              </a:ext>
            </a:extLst>
          </p:cNvPr>
          <p:cNvSpPr>
            <a:spLocks noGrp="1" noChangeArrowheads="1"/>
          </p:cNvSpPr>
          <p:nvPr>
            <p:ph idx="1"/>
          </p:nvPr>
        </p:nvSpPr>
        <p:spPr bwMode="auto">
          <a:xfrm>
            <a:off x="117231" y="2100088"/>
            <a:ext cx="1252024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question has one correct answer stored in the answer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 responses are represented as strings.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Answers are compared without distinguishing uppercase and lowercase letters.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blank or incorrect response is counted as an incorrect answer.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 students are evaluated against the same answer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Success rate is calculated as the percentage of students who answered a question correctly.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Difficulty categories are based on configurable success-rate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analysis measures observed student performance, which may indicate question difficulty but does not prove it by itself.</a:t>
            </a:r>
          </a:p>
        </p:txBody>
      </p:sp>
    </p:spTree>
    <p:extLst>
      <p:ext uri="{BB962C8B-B14F-4D97-AF65-F5344CB8AC3E}">
        <p14:creationId xmlns:p14="http://schemas.microsoft.com/office/powerpoint/2010/main" val="30064428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4A4A9-6708-026C-C2BC-3B7E9A54DB41}"/>
              </a:ext>
            </a:extLst>
          </p:cNvPr>
          <p:cNvSpPr>
            <a:spLocks noGrp="1"/>
          </p:cNvSpPr>
          <p:nvPr>
            <p:ph type="title"/>
          </p:nvPr>
        </p:nvSpPr>
        <p:spPr/>
        <p:txBody>
          <a:bodyPr/>
          <a:lstStyle/>
          <a:p>
            <a:r>
              <a:rPr lang="en-IN" dirty="0"/>
              <a:t>Algorithm</a:t>
            </a:r>
          </a:p>
        </p:txBody>
      </p:sp>
      <p:sp>
        <p:nvSpPr>
          <p:cNvPr id="4" name="Rectangle 1">
            <a:extLst>
              <a:ext uri="{FF2B5EF4-FFF2-40B4-BE49-F238E27FC236}">
                <a16:creationId xmlns:a16="http://schemas.microsoft.com/office/drawing/2014/main" id="{6FC3F9A7-9AE5-631D-6546-1193CA475290}"/>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Input the number of students, questions, and the correct answer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Initialize the correct-answer count for each question.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Read each student's answer string.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Compare each response with the corresponding answer key.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Update the correct and incorrect counts for every question.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success rate for each question.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the question with the highest number of incorrect answers.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Classify question performance based on the success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success rates, most frequently missed questions, and classifications.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6049606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E8387-7F68-47D1-A5E7-E4840D0F9547}"/>
              </a:ext>
            </a:extLst>
          </p:cNvPr>
          <p:cNvSpPr>
            <a:spLocks noGrp="1"/>
          </p:cNvSpPr>
          <p:nvPr>
            <p:ph type="title"/>
          </p:nvPr>
        </p:nvSpPr>
        <p:spPr/>
        <p:txBody>
          <a:bodyPr/>
          <a:lstStyle/>
          <a:p>
            <a:r>
              <a:rPr lang="en-US" dirty="0"/>
              <a:t>Flowchart</a:t>
            </a:r>
            <a:endParaRPr lang="en-IN" dirty="0"/>
          </a:p>
        </p:txBody>
      </p:sp>
      <p:pic>
        <p:nvPicPr>
          <p:cNvPr id="5" name="Content Placeholder 4">
            <a:extLst>
              <a:ext uri="{FF2B5EF4-FFF2-40B4-BE49-F238E27FC236}">
                <a16:creationId xmlns:a16="http://schemas.microsoft.com/office/drawing/2014/main" id="{80EC56C9-918C-427B-7AAB-BD560CD7FF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1483" y="730556"/>
            <a:ext cx="4084963" cy="6127444"/>
          </a:xfrm>
        </p:spPr>
      </p:pic>
    </p:spTree>
    <p:extLst>
      <p:ext uri="{BB962C8B-B14F-4D97-AF65-F5344CB8AC3E}">
        <p14:creationId xmlns:p14="http://schemas.microsoft.com/office/powerpoint/2010/main" val="894092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6BFC-881D-699D-3E20-A802C92DE761}"/>
              </a:ext>
            </a:extLst>
          </p:cNvPr>
          <p:cNvSpPr>
            <a:spLocks noGrp="1"/>
          </p:cNvSpPr>
          <p:nvPr>
            <p:ph type="title"/>
          </p:nvPr>
        </p:nvSpPr>
        <p:spPr/>
        <p:txBody>
          <a:bodyPr/>
          <a:lstStyle/>
          <a:p>
            <a:r>
              <a:rPr lang="en-US" dirty="0"/>
              <a:t>Python code</a:t>
            </a:r>
            <a:endParaRPr lang="en-IN" dirty="0"/>
          </a:p>
        </p:txBody>
      </p:sp>
      <p:sp>
        <p:nvSpPr>
          <p:cNvPr id="3" name="Content Placeholder 2">
            <a:extLst>
              <a:ext uri="{FF2B5EF4-FFF2-40B4-BE49-F238E27FC236}">
                <a16:creationId xmlns:a16="http://schemas.microsoft.com/office/drawing/2014/main" id="{A8D3C239-908D-75D3-0AE1-5142B15F46FC}"/>
              </a:ext>
            </a:extLst>
          </p:cNvPr>
          <p:cNvSpPr>
            <a:spLocks noGrp="1"/>
          </p:cNvSpPr>
          <p:nvPr>
            <p:ph idx="1"/>
          </p:nvPr>
        </p:nvSpPr>
        <p:spPr/>
        <p:txBody>
          <a:bodyPr>
            <a:normAutofit fontScale="25000" lnSpcReduction="20000"/>
          </a:bodyPr>
          <a:lstStyle/>
          <a:p>
            <a:r>
              <a:rPr lang="en-US" dirty="0"/>
              <a:t># Examination Question Difficulty and Performance Analysis</a:t>
            </a:r>
          </a:p>
          <a:p>
            <a:endParaRPr lang="en-US" dirty="0"/>
          </a:p>
          <a:p>
            <a:r>
              <a:rPr lang="en-US" dirty="0"/>
              <a:t>key = [</a:t>
            </a:r>
          </a:p>
          <a:p>
            <a:r>
              <a:rPr lang="en-US" dirty="0"/>
              <a:t>    </a:t>
            </a:r>
            <a:r>
              <a:rPr lang="en-US" dirty="0" err="1"/>
              <a:t>x.strip</a:t>
            </a:r>
            <a:r>
              <a:rPr lang="en-US" dirty="0"/>
              <a:t>().upper()</a:t>
            </a:r>
          </a:p>
          <a:p>
            <a:r>
              <a:rPr lang="en-US" dirty="0"/>
              <a:t>    for x in input(</a:t>
            </a:r>
          </a:p>
          <a:p>
            <a:r>
              <a:rPr lang="en-US" dirty="0"/>
              <a:t>        "Enter answer key separated by commas: "</a:t>
            </a:r>
          </a:p>
          <a:p>
            <a:r>
              <a:rPr lang="en-US" dirty="0"/>
              <a:t>    ).split(",")</a:t>
            </a:r>
          </a:p>
          <a:p>
            <a:r>
              <a:rPr lang="en-US" dirty="0"/>
              <a:t>]</a:t>
            </a:r>
          </a:p>
          <a:p>
            <a:endParaRPr lang="en-US" dirty="0"/>
          </a:p>
          <a:p>
            <a:r>
              <a:rPr lang="en-US" dirty="0"/>
              <a:t>if not key or any(x == "" for x in key):</a:t>
            </a:r>
          </a:p>
          <a:p>
            <a:r>
              <a:rPr lang="en-US" dirty="0"/>
              <a:t>    print("Invalid answer key.")</a:t>
            </a:r>
          </a:p>
          <a:p>
            <a:r>
              <a:rPr lang="en-US" dirty="0"/>
              <a:t>else:</a:t>
            </a:r>
          </a:p>
          <a:p>
            <a:r>
              <a:rPr lang="en-US" dirty="0"/>
              <a:t>    students = int(input("Enter number of students: "))</a:t>
            </a:r>
          </a:p>
          <a:p>
            <a:endParaRPr lang="en-US" dirty="0"/>
          </a:p>
          <a:p>
            <a:r>
              <a:rPr lang="en-US" dirty="0"/>
              <a:t>    if students &lt;= 0:</a:t>
            </a:r>
          </a:p>
          <a:p>
            <a:r>
              <a:rPr lang="en-US" dirty="0"/>
              <a:t>        print("Number of students must be positive.")</a:t>
            </a:r>
          </a:p>
          <a:p>
            <a:r>
              <a:rPr lang="en-US" dirty="0"/>
              <a:t>    else:</a:t>
            </a:r>
          </a:p>
          <a:p>
            <a:r>
              <a:rPr lang="en-US" dirty="0"/>
              <a:t>        correct = [0] * </a:t>
            </a:r>
            <a:r>
              <a:rPr lang="en-US" dirty="0" err="1"/>
              <a:t>len</a:t>
            </a:r>
            <a:r>
              <a:rPr lang="en-US" dirty="0"/>
              <a:t>(key)</a:t>
            </a:r>
          </a:p>
          <a:p>
            <a:r>
              <a:rPr lang="en-US" dirty="0"/>
              <a:t>        total = [0] * </a:t>
            </a:r>
            <a:r>
              <a:rPr lang="en-US" dirty="0" err="1"/>
              <a:t>len</a:t>
            </a:r>
            <a:r>
              <a:rPr lang="en-US" dirty="0"/>
              <a:t>(key)</a:t>
            </a:r>
          </a:p>
          <a:p>
            <a:endParaRPr lang="en-US" dirty="0"/>
          </a:p>
          <a:p>
            <a:r>
              <a:rPr lang="en-US" dirty="0"/>
              <a:t>        for </a:t>
            </a:r>
            <a:r>
              <a:rPr lang="en-US" dirty="0" err="1"/>
              <a:t>i</a:t>
            </a:r>
            <a:r>
              <a:rPr lang="en-US" dirty="0"/>
              <a:t> in range(students):</a:t>
            </a:r>
          </a:p>
          <a:p>
            <a:r>
              <a:rPr lang="en-US" dirty="0"/>
              <a:t>            while True:</a:t>
            </a:r>
          </a:p>
          <a:p>
            <a:r>
              <a:rPr lang="en-US" dirty="0"/>
              <a:t>                answers = [</a:t>
            </a:r>
          </a:p>
          <a:p>
            <a:r>
              <a:rPr lang="en-US" dirty="0"/>
              <a:t>                    </a:t>
            </a:r>
            <a:r>
              <a:rPr lang="en-US" dirty="0" err="1"/>
              <a:t>x.strip</a:t>
            </a:r>
            <a:r>
              <a:rPr lang="en-US" dirty="0"/>
              <a:t>().upper()</a:t>
            </a:r>
          </a:p>
          <a:p>
            <a:r>
              <a:rPr lang="en-US" dirty="0"/>
              <a:t>                    for x in input(</a:t>
            </a:r>
          </a:p>
          <a:p>
            <a:r>
              <a:rPr lang="en-US" dirty="0"/>
              <a:t>                        </a:t>
            </a:r>
            <a:r>
              <a:rPr lang="en-US" dirty="0" err="1"/>
              <a:t>f"Student</a:t>
            </a:r>
            <a:r>
              <a:rPr lang="en-US" dirty="0"/>
              <a:t> {</a:t>
            </a:r>
            <a:r>
              <a:rPr lang="en-US" dirty="0" err="1"/>
              <a:t>i</a:t>
            </a:r>
            <a:r>
              <a:rPr lang="en-US" dirty="0"/>
              <a:t> + 1} answers: "</a:t>
            </a:r>
          </a:p>
          <a:p>
            <a:r>
              <a:rPr lang="en-US" dirty="0"/>
              <a:t>                    ).split(",")</a:t>
            </a:r>
          </a:p>
          <a:p>
            <a:r>
              <a:rPr lang="en-US" dirty="0"/>
              <a:t>                ]</a:t>
            </a:r>
          </a:p>
          <a:p>
            <a:endParaRPr lang="en-US" dirty="0"/>
          </a:p>
          <a:p>
            <a:r>
              <a:rPr lang="en-US" dirty="0"/>
              <a:t>                if </a:t>
            </a:r>
            <a:r>
              <a:rPr lang="en-US" dirty="0" err="1"/>
              <a:t>len</a:t>
            </a:r>
            <a:r>
              <a:rPr lang="en-US" dirty="0"/>
              <a:t>(answers) == </a:t>
            </a:r>
            <a:r>
              <a:rPr lang="en-US" dirty="0" err="1"/>
              <a:t>len</a:t>
            </a:r>
            <a:r>
              <a:rPr lang="en-US" dirty="0"/>
              <a:t>(key):</a:t>
            </a:r>
          </a:p>
          <a:p>
            <a:r>
              <a:rPr lang="en-US" dirty="0"/>
              <a:t>                    break</a:t>
            </a:r>
          </a:p>
          <a:p>
            <a:endParaRPr lang="en-US" dirty="0"/>
          </a:p>
          <a:p>
            <a:r>
              <a:rPr lang="en-US" dirty="0"/>
              <a:t>                print("Enter exactly", </a:t>
            </a:r>
            <a:r>
              <a:rPr lang="en-US" dirty="0" err="1"/>
              <a:t>len</a:t>
            </a:r>
            <a:r>
              <a:rPr lang="en-US" dirty="0"/>
              <a:t>(key), "answers.")</a:t>
            </a:r>
          </a:p>
          <a:p>
            <a:endParaRPr lang="en-US" dirty="0"/>
          </a:p>
          <a:p>
            <a:r>
              <a:rPr lang="en-US" dirty="0"/>
              <a:t>            for j in range(</a:t>
            </a:r>
            <a:r>
              <a:rPr lang="en-US" dirty="0" err="1"/>
              <a:t>len</a:t>
            </a:r>
            <a:r>
              <a:rPr lang="en-US" dirty="0"/>
              <a:t>(key)):</a:t>
            </a:r>
          </a:p>
          <a:p>
            <a:r>
              <a:rPr lang="en-US" dirty="0"/>
              <a:t>                total[j] += 1</a:t>
            </a:r>
          </a:p>
          <a:p>
            <a:r>
              <a:rPr lang="en-US" dirty="0"/>
              <a:t>                if answers[j] == key[j]:</a:t>
            </a:r>
          </a:p>
          <a:p>
            <a:r>
              <a:rPr lang="en-US" dirty="0"/>
              <a:t>                    correct[j] += 1</a:t>
            </a:r>
          </a:p>
          <a:p>
            <a:endParaRPr lang="en-US" dirty="0"/>
          </a:p>
          <a:p>
            <a:r>
              <a:rPr lang="en-US" dirty="0"/>
              <a:t>        rates = []</a:t>
            </a:r>
          </a:p>
          <a:p>
            <a:endParaRPr lang="en-US" dirty="0"/>
          </a:p>
          <a:p>
            <a:r>
              <a:rPr lang="en-US" dirty="0"/>
              <a:t>        print("\n--- QUESTION-WISE ANALYSIS ---")</a:t>
            </a:r>
          </a:p>
          <a:p>
            <a:endParaRPr lang="en-US" dirty="0"/>
          </a:p>
          <a:p>
            <a:r>
              <a:rPr lang="en-US" dirty="0"/>
              <a:t>        for j in range(</a:t>
            </a:r>
            <a:r>
              <a:rPr lang="en-US" dirty="0" err="1"/>
              <a:t>len</a:t>
            </a:r>
            <a:r>
              <a:rPr lang="en-US" dirty="0"/>
              <a:t>(key)):</a:t>
            </a:r>
          </a:p>
          <a:p>
            <a:r>
              <a:rPr lang="en-US" dirty="0"/>
              <a:t>            rate = correct[j] / total[j] * 100</a:t>
            </a:r>
          </a:p>
          <a:p>
            <a:r>
              <a:rPr lang="en-US" dirty="0"/>
              <a:t>            missed = total[j] - correct[j]</a:t>
            </a:r>
          </a:p>
          <a:p>
            <a:r>
              <a:rPr lang="en-US" dirty="0"/>
              <a:t>            </a:t>
            </a:r>
            <a:r>
              <a:rPr lang="en-US" dirty="0" err="1"/>
              <a:t>rates.append</a:t>
            </a:r>
            <a:r>
              <a:rPr lang="en-US" dirty="0"/>
              <a:t>(rate)</a:t>
            </a:r>
          </a:p>
          <a:p>
            <a:endParaRPr lang="en-US" dirty="0"/>
          </a:p>
          <a:p>
            <a:r>
              <a:rPr lang="en-US" dirty="0"/>
              <a:t>            if rate &gt;= 80:</a:t>
            </a:r>
          </a:p>
          <a:p>
            <a:r>
              <a:rPr lang="en-US" dirty="0"/>
              <a:t>                category = "Excellent"</a:t>
            </a:r>
          </a:p>
          <a:p>
            <a:r>
              <a:rPr lang="en-US" dirty="0"/>
              <a:t>            </a:t>
            </a:r>
            <a:r>
              <a:rPr lang="en-US" dirty="0" err="1"/>
              <a:t>elif</a:t>
            </a:r>
            <a:r>
              <a:rPr lang="en-US" dirty="0"/>
              <a:t> rate &gt;= 60:</a:t>
            </a:r>
          </a:p>
          <a:p>
            <a:r>
              <a:rPr lang="en-US" dirty="0"/>
              <a:t>                category = "Good"</a:t>
            </a:r>
          </a:p>
          <a:p>
            <a:r>
              <a:rPr lang="en-US" dirty="0"/>
              <a:t>            </a:t>
            </a:r>
            <a:r>
              <a:rPr lang="en-US" dirty="0" err="1"/>
              <a:t>elif</a:t>
            </a:r>
            <a:r>
              <a:rPr lang="en-US" dirty="0"/>
              <a:t> rate &gt;= 40:</a:t>
            </a:r>
          </a:p>
          <a:p>
            <a:r>
              <a:rPr lang="en-US" dirty="0"/>
              <a:t>                category = "Average"</a:t>
            </a:r>
          </a:p>
          <a:p>
            <a:r>
              <a:rPr lang="en-US" dirty="0"/>
              <a:t>            else:</a:t>
            </a:r>
          </a:p>
          <a:p>
            <a:r>
              <a:rPr lang="en-US" dirty="0"/>
              <a:t>                category = "Poor"</a:t>
            </a:r>
          </a:p>
          <a:p>
            <a:endParaRPr lang="en-US" dirty="0"/>
          </a:p>
          <a:p>
            <a:r>
              <a:rPr lang="en-US" dirty="0"/>
              <a:t>            print(f"\</a:t>
            </a:r>
            <a:r>
              <a:rPr lang="en-US" dirty="0" err="1"/>
              <a:t>nQuestion</a:t>
            </a:r>
            <a:r>
              <a:rPr lang="en-US" dirty="0"/>
              <a:t> {j + 1}")</a:t>
            </a:r>
          </a:p>
          <a:p>
            <a:r>
              <a:rPr lang="en-US" dirty="0"/>
              <a:t>            print("Correct:", correct[j])</a:t>
            </a:r>
          </a:p>
          <a:p>
            <a:r>
              <a:rPr lang="en-US" dirty="0"/>
              <a:t>            print("Incorrect:", missed)</a:t>
            </a:r>
          </a:p>
          <a:p>
            <a:r>
              <a:rPr lang="en-US" dirty="0"/>
              <a:t>            print("Success rate:", round(rate, 2), "%")</a:t>
            </a:r>
          </a:p>
          <a:p>
            <a:r>
              <a:rPr lang="en-US" dirty="0"/>
              <a:t>            print("Classification:", category)</a:t>
            </a:r>
          </a:p>
          <a:p>
            <a:endParaRPr lang="en-US" dirty="0"/>
          </a:p>
          <a:p>
            <a:r>
              <a:rPr lang="en-US" dirty="0"/>
              <a:t>        </a:t>
            </a:r>
            <a:r>
              <a:rPr lang="en-US" dirty="0" err="1"/>
              <a:t>most_missed</a:t>
            </a:r>
            <a:r>
              <a:rPr lang="en-US" dirty="0"/>
              <a:t> = max(</a:t>
            </a:r>
          </a:p>
          <a:p>
            <a:r>
              <a:rPr lang="en-US" dirty="0"/>
              <a:t>            total[j] - correct[j]</a:t>
            </a:r>
          </a:p>
          <a:p>
            <a:r>
              <a:rPr lang="en-US" dirty="0"/>
              <a:t>            for j in range(</a:t>
            </a:r>
            <a:r>
              <a:rPr lang="en-US" dirty="0" err="1"/>
              <a:t>len</a:t>
            </a:r>
            <a:r>
              <a:rPr lang="en-US" dirty="0"/>
              <a:t>(key))</a:t>
            </a:r>
          </a:p>
          <a:p>
            <a:r>
              <a:rPr lang="en-US" dirty="0"/>
              <a:t>        )</a:t>
            </a:r>
          </a:p>
          <a:p>
            <a:endParaRPr lang="en-US" dirty="0"/>
          </a:p>
          <a:p>
            <a:r>
              <a:rPr lang="en-US" dirty="0"/>
              <a:t>        print("\n--- MOST FREQUENTLY MISSED ---")</a:t>
            </a:r>
          </a:p>
          <a:p>
            <a:r>
              <a:rPr lang="en-US" dirty="0"/>
              <a:t>        for j in range(</a:t>
            </a:r>
            <a:r>
              <a:rPr lang="en-US" dirty="0" err="1"/>
              <a:t>len</a:t>
            </a:r>
            <a:r>
              <a:rPr lang="en-US" dirty="0"/>
              <a:t>(key)):</a:t>
            </a:r>
          </a:p>
          <a:p>
            <a:r>
              <a:rPr lang="en-US" dirty="0"/>
              <a:t>            missed = total[j] - correct[j]</a:t>
            </a:r>
          </a:p>
          <a:p>
            <a:r>
              <a:rPr lang="en-US" dirty="0"/>
              <a:t>            if missed == </a:t>
            </a:r>
            <a:r>
              <a:rPr lang="en-US" dirty="0" err="1"/>
              <a:t>most_missed</a:t>
            </a:r>
            <a:r>
              <a:rPr lang="en-US" dirty="0"/>
              <a:t>:</a:t>
            </a:r>
          </a:p>
          <a:p>
            <a:r>
              <a:rPr lang="en-US" dirty="0"/>
              <a:t>                print(</a:t>
            </a:r>
            <a:r>
              <a:rPr lang="en-US" dirty="0" err="1"/>
              <a:t>f"Question</a:t>
            </a:r>
            <a:r>
              <a:rPr lang="en-US" dirty="0"/>
              <a:t> {j + 1}: {missed} missed")</a:t>
            </a:r>
          </a:p>
          <a:p>
            <a:endParaRPr lang="en-US" dirty="0"/>
          </a:p>
          <a:p>
            <a:r>
              <a:rPr lang="en-US" dirty="0"/>
              <a:t>        print("\</a:t>
            </a:r>
            <a:r>
              <a:rPr lang="en-US" dirty="0" err="1"/>
              <a:t>nAnalysis</a:t>
            </a:r>
            <a:r>
              <a:rPr lang="en-US" dirty="0"/>
              <a:t> completed.")</a:t>
            </a:r>
            <a:endParaRPr lang="en-IN" dirty="0"/>
          </a:p>
        </p:txBody>
      </p:sp>
    </p:spTree>
    <p:extLst>
      <p:ext uri="{BB962C8B-B14F-4D97-AF65-F5344CB8AC3E}">
        <p14:creationId xmlns:p14="http://schemas.microsoft.com/office/powerpoint/2010/main" val="15275492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F98E5-2641-4232-91B1-2BEE4CBA3E3F}"/>
              </a:ext>
            </a:extLst>
          </p:cNvPr>
          <p:cNvSpPr>
            <a:spLocks noGrp="1"/>
          </p:cNvSpPr>
          <p:nvPr>
            <p:ph type="title"/>
          </p:nvPr>
        </p:nvSpPr>
        <p:spPr/>
        <p:txBody>
          <a:bodyPr/>
          <a:lstStyle/>
          <a:p>
            <a:r>
              <a:rPr lang="en-US" dirty="0"/>
              <a:t>Test cases</a:t>
            </a:r>
            <a:endParaRPr lang="en-IN" dirty="0"/>
          </a:p>
        </p:txBody>
      </p:sp>
      <p:graphicFrame>
        <p:nvGraphicFramePr>
          <p:cNvPr id="4" name="Content Placeholder 3">
            <a:extLst>
              <a:ext uri="{FF2B5EF4-FFF2-40B4-BE49-F238E27FC236}">
                <a16:creationId xmlns:a16="http://schemas.microsoft.com/office/drawing/2014/main" id="{3CE435F6-7C91-D364-D8E7-9ED4F5AC6C66}"/>
              </a:ext>
            </a:extLst>
          </p:cNvPr>
          <p:cNvGraphicFramePr>
            <a:graphicFrameLocks noGrp="1"/>
          </p:cNvGraphicFramePr>
          <p:nvPr>
            <p:ph idx="1"/>
            <p:extLst>
              <p:ext uri="{D42A27DB-BD31-4B8C-83A1-F6EECF244321}">
                <p14:modId xmlns:p14="http://schemas.microsoft.com/office/powerpoint/2010/main" val="2877360538"/>
              </p:ext>
            </p:extLst>
          </p:nvPr>
        </p:nvGraphicFramePr>
        <p:xfrm>
          <a:off x="339969" y="1512277"/>
          <a:ext cx="11013832" cy="4220310"/>
        </p:xfrm>
        <a:graphic>
          <a:graphicData uri="http://schemas.openxmlformats.org/drawingml/2006/table">
            <a:tbl>
              <a:tblPr/>
              <a:tblGrid>
                <a:gridCol w="2753458">
                  <a:extLst>
                    <a:ext uri="{9D8B030D-6E8A-4147-A177-3AD203B41FA5}">
                      <a16:colId xmlns:a16="http://schemas.microsoft.com/office/drawing/2014/main" val="2556305720"/>
                    </a:ext>
                  </a:extLst>
                </a:gridCol>
                <a:gridCol w="2753458">
                  <a:extLst>
                    <a:ext uri="{9D8B030D-6E8A-4147-A177-3AD203B41FA5}">
                      <a16:colId xmlns:a16="http://schemas.microsoft.com/office/drawing/2014/main" val="3152766697"/>
                    </a:ext>
                  </a:extLst>
                </a:gridCol>
                <a:gridCol w="2753458">
                  <a:extLst>
                    <a:ext uri="{9D8B030D-6E8A-4147-A177-3AD203B41FA5}">
                      <a16:colId xmlns:a16="http://schemas.microsoft.com/office/drawing/2014/main" val="2815747878"/>
                    </a:ext>
                  </a:extLst>
                </a:gridCol>
                <a:gridCol w="2753458">
                  <a:extLst>
                    <a:ext uri="{9D8B030D-6E8A-4147-A177-3AD203B41FA5}">
                      <a16:colId xmlns:a16="http://schemas.microsoft.com/office/drawing/2014/main" val="2931059629"/>
                    </a:ext>
                  </a:extLst>
                </a:gridCol>
              </a:tblGrid>
              <a:tr h="844062">
                <a:tc>
                  <a:txBody>
                    <a:bodyPr/>
                    <a:lstStyle/>
                    <a:p>
                      <a:pPr>
                        <a:buNone/>
                      </a:pPr>
                      <a:r>
                        <a:rPr lang="en-IN"/>
                        <a:t>Question</a:t>
                      </a:r>
                    </a:p>
                  </a:txBody>
                  <a:tcPr anchor="ctr">
                    <a:lnL>
                      <a:noFill/>
                    </a:lnL>
                    <a:lnR>
                      <a:noFill/>
                    </a:lnR>
                    <a:lnT>
                      <a:noFill/>
                    </a:lnT>
                    <a:lnB>
                      <a:noFill/>
                    </a:lnB>
                    <a:noFill/>
                  </a:tcPr>
                </a:tc>
                <a:tc>
                  <a:txBody>
                    <a:bodyPr/>
                    <a:lstStyle/>
                    <a:p>
                      <a:pPr>
                        <a:buNone/>
                      </a:pPr>
                      <a:r>
                        <a:rPr lang="en-IN"/>
                        <a:t>Student answers</a:t>
                      </a:r>
                    </a:p>
                  </a:txBody>
                  <a:tcPr anchor="ctr">
                    <a:lnL>
                      <a:noFill/>
                    </a:lnL>
                    <a:lnR>
                      <a:noFill/>
                    </a:lnR>
                    <a:lnT>
                      <a:noFill/>
                    </a:lnT>
                    <a:lnB>
                      <a:noFill/>
                    </a:lnB>
                    <a:noFill/>
                  </a:tcPr>
                </a:tc>
                <a:tc>
                  <a:txBody>
                    <a:bodyPr/>
                    <a:lstStyle/>
                    <a:p>
                      <a:pPr>
                        <a:buNone/>
                      </a:pPr>
                      <a:r>
                        <a:rPr lang="en-IN"/>
                        <a:t>Expected correct</a:t>
                      </a:r>
                    </a:p>
                  </a:txBody>
                  <a:tcPr anchor="ctr">
                    <a:lnL>
                      <a:noFill/>
                    </a:lnL>
                    <a:lnR>
                      <a:noFill/>
                    </a:lnR>
                    <a:lnT>
                      <a:noFill/>
                    </a:lnT>
                    <a:lnB>
                      <a:noFill/>
                    </a:lnB>
                    <a:noFill/>
                  </a:tcPr>
                </a:tc>
                <a:tc>
                  <a:txBody>
                    <a:bodyPr/>
                    <a:lstStyle/>
                    <a:p>
                      <a:pPr>
                        <a:buNone/>
                      </a:pPr>
                      <a:r>
                        <a:rPr lang="en-IN"/>
                        <a:t>Expected missed</a:t>
                      </a:r>
                    </a:p>
                  </a:txBody>
                  <a:tcPr anchor="ctr">
                    <a:lnL>
                      <a:noFill/>
                    </a:lnL>
                    <a:lnR>
                      <a:noFill/>
                    </a:lnR>
                    <a:lnT>
                      <a:noFill/>
                    </a:lnT>
                    <a:lnB>
                      <a:noFill/>
                    </a:lnB>
                    <a:noFill/>
                  </a:tcPr>
                </a:tc>
                <a:extLst>
                  <a:ext uri="{0D108BD9-81ED-4DB2-BD59-A6C34878D82A}">
                    <a16:rowId xmlns:a16="http://schemas.microsoft.com/office/drawing/2014/main" val="2381419358"/>
                  </a:ext>
                </a:extLst>
              </a:tr>
              <a:tr h="844062">
                <a:tc>
                  <a:txBody>
                    <a:bodyPr/>
                    <a:lstStyle/>
                    <a:p>
                      <a:pPr>
                        <a:buNone/>
                      </a:pPr>
                      <a:r>
                        <a:rPr lang="en-IN"/>
                        <a:t>Q1</a:t>
                      </a:r>
                    </a:p>
                  </a:txBody>
                  <a:tcPr anchor="ctr">
                    <a:lnL>
                      <a:noFill/>
                    </a:lnL>
                    <a:lnR>
                      <a:noFill/>
                    </a:lnR>
                    <a:lnT>
                      <a:noFill/>
                    </a:lnT>
                    <a:lnB>
                      <a:noFill/>
                    </a:lnB>
                    <a:noFill/>
                  </a:tcPr>
                </a:tc>
                <a:tc>
                  <a:txBody>
                    <a:bodyPr/>
                    <a:lstStyle/>
                    <a:p>
                      <a:pPr>
                        <a:buNone/>
                      </a:pPr>
                      <a:r>
                        <a:rPr lang="en-IN"/>
                        <a:t>A, A, A, B</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1368924812"/>
                  </a:ext>
                </a:extLst>
              </a:tr>
              <a:tr h="844062">
                <a:tc>
                  <a:txBody>
                    <a:bodyPr/>
                    <a:lstStyle/>
                    <a:p>
                      <a:pPr>
                        <a:buNone/>
                      </a:pPr>
                      <a:r>
                        <a:rPr lang="en-IN"/>
                        <a:t>Q2</a:t>
                      </a:r>
                    </a:p>
                  </a:txBody>
                  <a:tcPr anchor="ctr">
                    <a:lnL>
                      <a:noFill/>
                    </a:lnL>
                    <a:lnR>
                      <a:noFill/>
                    </a:lnR>
                    <a:lnT>
                      <a:noFill/>
                    </a:lnT>
                    <a:lnB>
                      <a:noFill/>
                    </a:lnB>
                    <a:noFill/>
                  </a:tcPr>
                </a:tc>
                <a:tc>
                  <a:txBody>
                    <a:bodyPr/>
                    <a:lstStyle/>
                    <a:p>
                      <a:pPr>
                        <a:buNone/>
                      </a:pPr>
                      <a:r>
                        <a:rPr lang="en-IN"/>
                        <a:t>B, C, A, D</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extLst>
                  <a:ext uri="{0D108BD9-81ED-4DB2-BD59-A6C34878D82A}">
                    <a16:rowId xmlns:a16="http://schemas.microsoft.com/office/drawing/2014/main" val="306147093"/>
                  </a:ext>
                </a:extLst>
              </a:tr>
              <a:tr h="844062">
                <a:tc>
                  <a:txBody>
                    <a:bodyPr/>
                    <a:lstStyle/>
                    <a:p>
                      <a:pPr>
                        <a:buNone/>
                      </a:pPr>
                      <a:r>
                        <a:rPr lang="en-IN"/>
                        <a:t>Q3</a:t>
                      </a:r>
                    </a:p>
                  </a:txBody>
                  <a:tcPr anchor="ctr">
                    <a:lnL>
                      <a:noFill/>
                    </a:lnL>
                    <a:lnR>
                      <a:noFill/>
                    </a:lnR>
                    <a:lnT>
                      <a:noFill/>
                    </a:lnT>
                    <a:lnB>
                      <a:noFill/>
                    </a:lnB>
                    <a:noFill/>
                  </a:tcPr>
                </a:tc>
                <a:tc>
                  <a:txBody>
                    <a:bodyPr/>
                    <a:lstStyle/>
                    <a:p>
                      <a:pPr>
                        <a:buNone/>
                      </a:pPr>
                      <a:r>
                        <a:rPr lang="en-IN"/>
                        <a:t>C, C, C, C</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extLst>
                  <a:ext uri="{0D108BD9-81ED-4DB2-BD59-A6C34878D82A}">
                    <a16:rowId xmlns:a16="http://schemas.microsoft.com/office/drawing/2014/main" val="3559702705"/>
                  </a:ext>
                </a:extLst>
              </a:tr>
              <a:tr h="844062">
                <a:tc>
                  <a:txBody>
                    <a:bodyPr/>
                    <a:lstStyle/>
                    <a:p>
                      <a:pPr>
                        <a:buNone/>
                      </a:pPr>
                      <a:r>
                        <a:rPr lang="en-IN"/>
                        <a:t>Q4</a:t>
                      </a:r>
                    </a:p>
                  </a:txBody>
                  <a:tcPr anchor="ctr">
                    <a:lnL>
                      <a:noFill/>
                    </a:lnL>
                    <a:lnR>
                      <a:noFill/>
                    </a:lnR>
                    <a:lnT>
                      <a:noFill/>
                    </a:lnT>
                    <a:lnB>
                      <a:noFill/>
                    </a:lnB>
                    <a:noFill/>
                  </a:tcPr>
                </a:tc>
                <a:tc>
                  <a:txBody>
                    <a:bodyPr/>
                    <a:lstStyle/>
                    <a:p>
                      <a:pPr>
                        <a:buNone/>
                      </a:pPr>
                      <a:r>
                        <a:rPr lang="en-IN"/>
                        <a:t>D, D, B, A</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tc>
                  <a:txBody>
                    <a:bodyPr/>
                    <a:lstStyle/>
                    <a:p>
                      <a:pPr>
                        <a:buNone/>
                      </a:pPr>
                      <a:r>
                        <a:rPr lang="en-IN" dirty="0"/>
                        <a:t>2</a:t>
                      </a:r>
                    </a:p>
                  </a:txBody>
                  <a:tcPr anchor="ctr">
                    <a:lnL>
                      <a:noFill/>
                    </a:lnL>
                    <a:lnR>
                      <a:noFill/>
                    </a:lnR>
                    <a:lnT>
                      <a:noFill/>
                    </a:lnT>
                    <a:lnB>
                      <a:noFill/>
                    </a:lnB>
                    <a:noFill/>
                  </a:tcPr>
                </a:tc>
                <a:extLst>
                  <a:ext uri="{0D108BD9-81ED-4DB2-BD59-A6C34878D82A}">
                    <a16:rowId xmlns:a16="http://schemas.microsoft.com/office/drawing/2014/main" val="2933728159"/>
                  </a:ext>
                </a:extLst>
              </a:tr>
            </a:tbl>
          </a:graphicData>
        </a:graphic>
      </p:graphicFrame>
    </p:spTree>
    <p:extLst>
      <p:ext uri="{BB962C8B-B14F-4D97-AF65-F5344CB8AC3E}">
        <p14:creationId xmlns:p14="http://schemas.microsoft.com/office/powerpoint/2010/main" val="32305414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02910-3956-2D5C-FE2E-37C729456798}"/>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4DAD8AEC-9946-75B8-4954-28CCB1D5F8D8}"/>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9745D5EB-845D-C31E-9A82-F9020A46490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883272" y="2063262"/>
            <a:ext cx="2773828" cy="4126401"/>
          </a:xfrm>
        </p:spPr>
      </p:pic>
      <p:sp>
        <p:nvSpPr>
          <p:cNvPr id="5" name="Text Placeholder 4">
            <a:extLst>
              <a:ext uri="{FF2B5EF4-FFF2-40B4-BE49-F238E27FC236}">
                <a16:creationId xmlns:a16="http://schemas.microsoft.com/office/drawing/2014/main" id="{69F311EF-2C0E-BA33-6DD6-CC010CD1E9DA}"/>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B691CA6A-E01F-A124-913C-F5E06D3C931E}"/>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94427" y="2470789"/>
            <a:ext cx="4388896" cy="3205503"/>
          </a:xfrm>
        </p:spPr>
      </p:pic>
    </p:spTree>
    <p:extLst>
      <p:ext uri="{BB962C8B-B14F-4D97-AF65-F5344CB8AC3E}">
        <p14:creationId xmlns:p14="http://schemas.microsoft.com/office/powerpoint/2010/main" val="42564350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9ED37-234A-A789-1EF7-29580A5160B5}"/>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FEF27107-CCF0-74C8-C5E3-6571CADA98AE}"/>
              </a:ext>
            </a:extLst>
          </p:cNvPr>
          <p:cNvSpPr>
            <a:spLocks noGrp="1"/>
          </p:cNvSpPr>
          <p:nvPr>
            <p:ph idx="1"/>
          </p:nvPr>
        </p:nvSpPr>
        <p:spPr/>
        <p:txBody>
          <a:bodyPr/>
          <a:lstStyle/>
          <a:p>
            <a:r>
              <a:rPr lang="en-US" dirty="0"/>
              <a:t>The Examination Question Difficulty and Performance Analysis project demonstrates how Python can be used to evaluate student responses systematically. By comparing answer strings against an answer key, the program calculates question-wise success rates, counts incorrect responses, identifies the most frequently missed questions, and classifies question performance.</a:t>
            </a:r>
          </a:p>
          <a:p>
            <a:r>
              <a:rPr lang="en-US" dirty="0"/>
              <a:t>This analysis helps teachers identify questions that may require review and topics where students may need additional support. The project demonstrates the practical application of lists, strings, loops, conditional statements, and arithmetic operations in Python.</a:t>
            </a:r>
          </a:p>
          <a:p>
            <a:endParaRPr lang="en-IN" dirty="0"/>
          </a:p>
        </p:txBody>
      </p:sp>
    </p:spTree>
    <p:extLst>
      <p:ext uri="{BB962C8B-B14F-4D97-AF65-F5344CB8AC3E}">
        <p14:creationId xmlns:p14="http://schemas.microsoft.com/office/powerpoint/2010/main" val="42251831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3ECD3-AF1B-E49A-8ACD-B75840B2FBE2}"/>
              </a:ext>
            </a:extLst>
          </p:cNvPr>
          <p:cNvSpPr>
            <a:spLocks noGrp="1"/>
          </p:cNvSpPr>
          <p:nvPr>
            <p:ph type="ctrTitle"/>
          </p:nvPr>
        </p:nvSpPr>
        <p:spPr/>
        <p:txBody>
          <a:bodyPr/>
          <a:lstStyle/>
          <a:p>
            <a:r>
              <a:rPr lang="en-US" dirty="0"/>
              <a:t>CASE-88:Multi-Branch Retail Inventory Transfer</a:t>
            </a:r>
            <a:endParaRPr lang="en-IN" dirty="0"/>
          </a:p>
        </p:txBody>
      </p:sp>
      <p:sp>
        <p:nvSpPr>
          <p:cNvPr id="3" name="Subtitle 2">
            <a:extLst>
              <a:ext uri="{FF2B5EF4-FFF2-40B4-BE49-F238E27FC236}">
                <a16:creationId xmlns:a16="http://schemas.microsoft.com/office/drawing/2014/main" id="{9FF050E6-FFF9-DC85-185A-D567DC9677EF}"/>
              </a:ext>
            </a:extLst>
          </p:cNvPr>
          <p:cNvSpPr>
            <a:spLocks noGrp="1"/>
          </p:cNvSpPr>
          <p:nvPr>
            <p:ph type="subTitle" idx="1"/>
          </p:nvPr>
        </p:nvSpPr>
        <p:spPr/>
        <p:txBody>
          <a:bodyPr>
            <a:normAutofit fontScale="70000" lnSpcReduction="20000"/>
          </a:bodyPr>
          <a:lstStyle/>
          <a:p>
            <a:r>
              <a:rPr lang="en-IN" dirty="0"/>
              <a:t>Problem Statement</a:t>
            </a:r>
          </a:p>
          <a:p>
            <a:r>
              <a:rPr lang="en-US" dirty="0"/>
              <a:t>Retail businesses operate multiple branches that maintain different stock levels for the same products. Some branches may have excess stock, while others may experience shortages compared with their target stock levels.</a:t>
            </a:r>
          </a:p>
          <a:p>
            <a:r>
              <a:rPr lang="en-US" dirty="0"/>
              <a:t>The objective of this project is to develop a Python program that compares branch-level stock lists with target stock levels, calculates surpluses and shortages, and generates stock transfer recommendations between branches while respecting the specified transfer constraints.</a:t>
            </a:r>
          </a:p>
          <a:p>
            <a:endParaRPr lang="en-IN" dirty="0"/>
          </a:p>
        </p:txBody>
      </p:sp>
    </p:spTree>
    <p:extLst>
      <p:ext uri="{BB962C8B-B14F-4D97-AF65-F5344CB8AC3E}">
        <p14:creationId xmlns:p14="http://schemas.microsoft.com/office/powerpoint/2010/main" val="32759432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A9393-2212-4A6D-3965-CC6A90AE7EAE}"/>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3F1EDA30-8DEA-9A00-8BFE-7163485A6ECF}"/>
              </a:ext>
            </a:extLst>
          </p:cNvPr>
          <p:cNvSpPr>
            <a:spLocks noGrp="1"/>
          </p:cNvSpPr>
          <p:nvPr>
            <p:ph idx="1"/>
          </p:nvPr>
        </p:nvSpPr>
        <p:spPr/>
        <p:txBody>
          <a:bodyPr>
            <a:normAutofit lnSpcReduction="10000"/>
          </a:bodyPr>
          <a:lstStyle/>
          <a:p>
            <a:r>
              <a:rPr lang="en-US" dirty="0"/>
              <a:t>Store inventory details for multiple retail branches.</a:t>
            </a:r>
          </a:p>
          <a:p>
            <a:r>
              <a:rPr lang="en-US" dirty="0"/>
              <a:t>Define target stock levels for each product.</a:t>
            </a:r>
          </a:p>
          <a:p>
            <a:r>
              <a:rPr lang="en-US" dirty="0"/>
              <a:t>Calculate surplus and shortage quantities.</a:t>
            </a:r>
          </a:p>
          <a:p>
            <a:r>
              <a:rPr lang="en-US" dirty="0"/>
              <a:t>Identify branches with excess stock.</a:t>
            </a:r>
          </a:p>
          <a:p>
            <a:r>
              <a:rPr lang="en-US" dirty="0"/>
              <a:t>Identify branches requiring additional stock.</a:t>
            </a:r>
          </a:p>
          <a:p>
            <a:r>
              <a:rPr lang="en-US" dirty="0"/>
              <a:t>Generate suitable stock transfers between branches.</a:t>
            </a:r>
          </a:p>
          <a:p>
            <a:r>
              <a:rPr lang="en-US" dirty="0"/>
              <a:t>Respect the maximum transfer quantity.</a:t>
            </a:r>
          </a:p>
          <a:p>
            <a:r>
              <a:rPr lang="en-US" dirty="0"/>
              <a:t>Update inventory balances after each transfer.</a:t>
            </a:r>
          </a:p>
          <a:p>
            <a:r>
              <a:rPr lang="en-US" dirty="0"/>
              <a:t>Display the final inventory and transfer report.</a:t>
            </a:r>
          </a:p>
          <a:p>
            <a:endParaRPr lang="en-IN" dirty="0"/>
          </a:p>
        </p:txBody>
      </p:sp>
    </p:spTree>
    <p:extLst>
      <p:ext uri="{BB962C8B-B14F-4D97-AF65-F5344CB8AC3E}">
        <p14:creationId xmlns:p14="http://schemas.microsoft.com/office/powerpoint/2010/main" val="35198271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F946-E99B-172C-E623-3289AE61B1D4}"/>
              </a:ext>
            </a:extLst>
          </p:cNvPr>
          <p:cNvSpPr>
            <a:spLocks noGrp="1"/>
          </p:cNvSpPr>
          <p:nvPr>
            <p:ph type="title"/>
          </p:nvPr>
        </p:nvSpPr>
        <p:spPr/>
        <p:txBody>
          <a:bodyPr/>
          <a:lstStyle/>
          <a:p>
            <a:r>
              <a:rPr lang="en-IN" dirty="0"/>
              <a:t>Assumptions</a:t>
            </a:r>
          </a:p>
        </p:txBody>
      </p:sp>
      <p:sp>
        <p:nvSpPr>
          <p:cNvPr id="3" name="Content Placeholder 2">
            <a:extLst>
              <a:ext uri="{FF2B5EF4-FFF2-40B4-BE49-F238E27FC236}">
                <a16:creationId xmlns:a16="http://schemas.microsoft.com/office/drawing/2014/main" id="{13133E9A-BC3B-2CA4-CBD0-8C65D24292C1}"/>
              </a:ext>
            </a:extLst>
          </p:cNvPr>
          <p:cNvSpPr>
            <a:spLocks noGrp="1"/>
          </p:cNvSpPr>
          <p:nvPr>
            <p:ph idx="1"/>
          </p:nvPr>
        </p:nvSpPr>
        <p:spPr/>
        <p:txBody>
          <a:bodyPr>
            <a:normAutofit fontScale="92500" lnSpcReduction="20000"/>
          </a:bodyPr>
          <a:lstStyle/>
          <a:p>
            <a:r>
              <a:rPr lang="en-US" dirty="0"/>
              <a:t>Each branch maintains stock quantities for different products.</a:t>
            </a:r>
          </a:p>
          <a:p>
            <a:r>
              <a:rPr lang="en-US" dirty="0"/>
              <a:t>Each product has a predefined target stock level.</a:t>
            </a:r>
          </a:p>
          <a:p>
            <a:r>
              <a:rPr lang="en-US" dirty="0"/>
              <a:t>Inventory quantities are non-negative integers.</a:t>
            </a:r>
          </a:p>
          <a:p>
            <a:r>
              <a:rPr lang="en-US" dirty="0"/>
              <a:t>Surplus occurs when current stock exceeds target stock.</a:t>
            </a:r>
          </a:p>
          <a:p>
            <a:r>
              <a:rPr lang="en-US" dirty="0"/>
              <a:t>Shortage occurs when current stock is below target stock.</a:t>
            </a:r>
          </a:p>
          <a:p>
            <a:r>
              <a:rPr lang="en-US" dirty="0"/>
              <a:t>Transfers are made only between different branches for the same product.</a:t>
            </a:r>
          </a:p>
          <a:p>
            <a:r>
              <a:rPr lang="en-US" dirty="0"/>
              <a:t>A branch cannot transfer more than its available surplus.</a:t>
            </a:r>
          </a:p>
          <a:p>
            <a:r>
              <a:rPr lang="en-US" dirty="0"/>
              <a:t>A receiving branch cannot receive more than its shortage.</a:t>
            </a:r>
          </a:p>
          <a:p>
            <a:r>
              <a:rPr lang="en-US" dirty="0"/>
              <a:t>Each individual transfer must not exceed the specified maximum quantity.</a:t>
            </a:r>
          </a:p>
          <a:p>
            <a:r>
              <a:rPr lang="en-US" dirty="0"/>
              <a:t>Stock balances are updated after every valid transfer.</a:t>
            </a:r>
          </a:p>
          <a:p>
            <a:endParaRPr lang="en-IN" dirty="0"/>
          </a:p>
        </p:txBody>
      </p:sp>
    </p:spTree>
    <p:extLst>
      <p:ext uri="{BB962C8B-B14F-4D97-AF65-F5344CB8AC3E}">
        <p14:creationId xmlns:p14="http://schemas.microsoft.com/office/powerpoint/2010/main" val="42797256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02EA-327C-3790-19E6-EB51EE861D96}"/>
              </a:ext>
            </a:extLst>
          </p:cNvPr>
          <p:cNvSpPr>
            <a:spLocks noGrp="1"/>
          </p:cNvSpPr>
          <p:nvPr>
            <p:ph type="title"/>
          </p:nvPr>
        </p:nvSpPr>
        <p:spPr/>
        <p:txBody>
          <a:bodyPr/>
          <a:lstStyle/>
          <a:p>
            <a:r>
              <a:rPr lang="en-IN" dirty="0"/>
              <a:t>Algorithm</a:t>
            </a:r>
          </a:p>
        </p:txBody>
      </p:sp>
      <p:sp>
        <p:nvSpPr>
          <p:cNvPr id="3" name="Content Placeholder 2">
            <a:extLst>
              <a:ext uri="{FF2B5EF4-FFF2-40B4-BE49-F238E27FC236}">
                <a16:creationId xmlns:a16="http://schemas.microsoft.com/office/drawing/2014/main" id="{3EE0BE57-1646-B851-950D-66AB946EDC2E}"/>
              </a:ext>
            </a:extLst>
          </p:cNvPr>
          <p:cNvSpPr>
            <a:spLocks noGrp="1"/>
          </p:cNvSpPr>
          <p:nvPr>
            <p:ph idx="1"/>
          </p:nvPr>
        </p:nvSpPr>
        <p:spPr/>
        <p:txBody>
          <a:bodyPr>
            <a:normAutofit fontScale="62500" lnSpcReduction="20000"/>
          </a:bodyPr>
          <a:lstStyle/>
          <a:p>
            <a:r>
              <a:rPr lang="en-US" dirty="0"/>
              <a:t>Start the program.</a:t>
            </a:r>
          </a:p>
          <a:p>
            <a:r>
              <a:rPr lang="en-US" dirty="0"/>
              <a:t>Input branch inventories, target stock levels, and the maximum transfer quantity.</a:t>
            </a:r>
          </a:p>
          <a:p>
            <a:r>
              <a:rPr lang="en-US" dirty="0"/>
              <a:t>Compare current stock with target stock for each product.</a:t>
            </a:r>
          </a:p>
          <a:p>
            <a:r>
              <a:rPr lang="en-US" dirty="0"/>
              <a:t>Calculate surpluses and shortages.</a:t>
            </a:r>
          </a:p>
          <a:p>
            <a:r>
              <a:rPr lang="en-US" dirty="0"/>
              <a:t>Select a branch with surplus stock.</a:t>
            </a:r>
          </a:p>
          <a:p>
            <a:r>
              <a:rPr lang="en-US" dirty="0"/>
              <a:t>Find a branch with a shortage of the same product.</a:t>
            </a:r>
          </a:p>
          <a:p>
            <a:r>
              <a:rPr lang="en-US" dirty="0"/>
              <a:t>Calculate the transfer quantity.</a:t>
            </a:r>
          </a:p>
          <a:p>
            <a:r>
              <a:rPr lang="en-US" dirty="0"/>
              <a:t>Validate the transfer constraints.</a:t>
            </a:r>
          </a:p>
          <a:p>
            <a:r>
              <a:rPr lang="en-US" dirty="0"/>
              <a:t>Update the stock balances of both branches.</a:t>
            </a:r>
          </a:p>
          <a:p>
            <a:r>
              <a:rPr lang="en-US" dirty="0"/>
              <a:t>Record the transfer details.</a:t>
            </a:r>
          </a:p>
          <a:p>
            <a:r>
              <a:rPr lang="en-US" dirty="0"/>
              <a:t>Repeat until no eligible transfers remain.</a:t>
            </a:r>
          </a:p>
          <a:p>
            <a:r>
              <a:rPr lang="en-US" dirty="0"/>
              <a:t>Display the transfer report and final inventory.</a:t>
            </a:r>
          </a:p>
          <a:p>
            <a:r>
              <a:rPr lang="en-US" dirty="0"/>
              <a:t>Stop the program.</a:t>
            </a:r>
          </a:p>
          <a:p>
            <a:endParaRPr lang="en-IN" dirty="0"/>
          </a:p>
        </p:txBody>
      </p:sp>
    </p:spTree>
    <p:extLst>
      <p:ext uri="{BB962C8B-B14F-4D97-AF65-F5344CB8AC3E}">
        <p14:creationId xmlns:p14="http://schemas.microsoft.com/office/powerpoint/2010/main" val="32820501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9165-7D0E-B4B1-B10E-7DAB24D98295}"/>
              </a:ext>
            </a:extLst>
          </p:cNvPr>
          <p:cNvSpPr>
            <a:spLocks noGrp="1"/>
          </p:cNvSpPr>
          <p:nvPr>
            <p:ph type="title"/>
          </p:nvPr>
        </p:nvSpPr>
        <p:spPr/>
        <p:txBody>
          <a:bodyPr/>
          <a:lstStyle/>
          <a:p>
            <a:r>
              <a:rPr lang="en-US" dirty="0"/>
              <a:t>Python code</a:t>
            </a:r>
            <a:endParaRPr lang="en-IN" dirty="0"/>
          </a:p>
        </p:txBody>
      </p:sp>
      <p:sp>
        <p:nvSpPr>
          <p:cNvPr id="3" name="Content Placeholder 2">
            <a:extLst>
              <a:ext uri="{FF2B5EF4-FFF2-40B4-BE49-F238E27FC236}">
                <a16:creationId xmlns:a16="http://schemas.microsoft.com/office/drawing/2014/main" id="{D1FCCDC8-C2B7-8FEE-DF85-5743B2F1B88A}"/>
              </a:ext>
            </a:extLst>
          </p:cNvPr>
          <p:cNvSpPr>
            <a:spLocks noGrp="1"/>
          </p:cNvSpPr>
          <p:nvPr>
            <p:ph idx="1"/>
          </p:nvPr>
        </p:nvSpPr>
        <p:spPr/>
        <p:txBody>
          <a:bodyPr>
            <a:normAutofit fontScale="25000" lnSpcReduction="20000"/>
          </a:bodyPr>
          <a:lstStyle/>
          <a:p>
            <a:endParaRPr lang="en-IN" dirty="0"/>
          </a:p>
          <a:p>
            <a:r>
              <a:rPr lang="en-IN" dirty="0"/>
              <a:t># Multi-Branch Retail Inventory Transfer</a:t>
            </a:r>
          </a:p>
          <a:p>
            <a:endParaRPr lang="en-IN" dirty="0"/>
          </a:p>
          <a:p>
            <a:r>
              <a:rPr lang="en-IN" dirty="0"/>
              <a:t>branches = {</a:t>
            </a:r>
          </a:p>
          <a:p>
            <a:r>
              <a:rPr lang="en-IN" dirty="0"/>
              <a:t>    "Branch A": {"Rice": 80, "Oil": 20},</a:t>
            </a:r>
          </a:p>
          <a:p>
            <a:r>
              <a:rPr lang="en-IN" dirty="0"/>
              <a:t>    "Branch B": {"Rice": 25, "Oil": 60},</a:t>
            </a:r>
          </a:p>
          <a:p>
            <a:r>
              <a:rPr lang="en-IN" dirty="0"/>
              <a:t>    "Branch C": {"Rice": 45, "Oil": 30}</a:t>
            </a:r>
          </a:p>
          <a:p>
            <a:r>
              <a:rPr lang="en-IN" dirty="0"/>
              <a:t>}</a:t>
            </a:r>
          </a:p>
          <a:p>
            <a:endParaRPr lang="en-IN" dirty="0"/>
          </a:p>
          <a:p>
            <a:r>
              <a:rPr lang="en-IN" dirty="0"/>
              <a:t>targets = {</a:t>
            </a:r>
          </a:p>
          <a:p>
            <a:r>
              <a:rPr lang="en-IN" dirty="0"/>
              <a:t>    "Rice": 50,</a:t>
            </a:r>
          </a:p>
          <a:p>
            <a:r>
              <a:rPr lang="en-IN" dirty="0"/>
              <a:t>    "Oil": 40</a:t>
            </a:r>
          </a:p>
          <a:p>
            <a:r>
              <a:rPr lang="en-IN" dirty="0"/>
              <a:t>}</a:t>
            </a:r>
          </a:p>
          <a:p>
            <a:endParaRPr lang="en-IN" dirty="0"/>
          </a:p>
          <a:p>
            <a:r>
              <a:rPr lang="en-IN" dirty="0" err="1"/>
              <a:t>max_transfer</a:t>
            </a:r>
            <a:r>
              <a:rPr lang="en-IN" dirty="0"/>
              <a:t> = 15</a:t>
            </a:r>
          </a:p>
          <a:p>
            <a:r>
              <a:rPr lang="en-IN" dirty="0"/>
              <a:t>transfers = []</a:t>
            </a:r>
          </a:p>
          <a:p>
            <a:endParaRPr lang="en-IN" dirty="0"/>
          </a:p>
          <a:p>
            <a:r>
              <a:rPr lang="en-IN" dirty="0"/>
              <a:t># Process each product</a:t>
            </a:r>
          </a:p>
          <a:p>
            <a:r>
              <a:rPr lang="en-IN" dirty="0"/>
              <a:t>for product, target in </a:t>
            </a:r>
            <a:r>
              <a:rPr lang="en-IN" dirty="0" err="1"/>
              <a:t>targets.items</a:t>
            </a:r>
            <a:r>
              <a:rPr lang="en-IN" dirty="0"/>
              <a:t>():</a:t>
            </a:r>
          </a:p>
          <a:p>
            <a:endParaRPr lang="en-IN" dirty="0"/>
          </a:p>
          <a:p>
            <a:r>
              <a:rPr lang="en-IN" dirty="0"/>
              <a:t>    surplus = {}</a:t>
            </a:r>
          </a:p>
          <a:p>
            <a:r>
              <a:rPr lang="en-IN" dirty="0"/>
              <a:t>    shortage = {}</a:t>
            </a:r>
          </a:p>
          <a:p>
            <a:endParaRPr lang="en-IN" dirty="0"/>
          </a:p>
          <a:p>
            <a:r>
              <a:rPr lang="en-IN" dirty="0"/>
              <a:t>    # Calculate surplus and shortage</a:t>
            </a:r>
          </a:p>
          <a:p>
            <a:r>
              <a:rPr lang="en-IN" dirty="0"/>
              <a:t>    for branch, stock in </a:t>
            </a:r>
            <a:r>
              <a:rPr lang="en-IN" dirty="0" err="1"/>
              <a:t>branches.items</a:t>
            </a:r>
            <a:r>
              <a:rPr lang="en-IN" dirty="0"/>
              <a:t>():</a:t>
            </a:r>
          </a:p>
          <a:p>
            <a:r>
              <a:rPr lang="en-IN" dirty="0"/>
              <a:t>        quantity = </a:t>
            </a:r>
            <a:r>
              <a:rPr lang="en-IN" dirty="0" err="1"/>
              <a:t>stock.get</a:t>
            </a:r>
            <a:r>
              <a:rPr lang="en-IN" dirty="0"/>
              <a:t>(product, 0)</a:t>
            </a:r>
          </a:p>
          <a:p>
            <a:endParaRPr lang="en-IN" dirty="0"/>
          </a:p>
          <a:p>
            <a:r>
              <a:rPr lang="en-IN" dirty="0"/>
              <a:t>        if quantity &gt; target:</a:t>
            </a:r>
          </a:p>
          <a:p>
            <a:r>
              <a:rPr lang="en-IN" dirty="0"/>
              <a:t>            surplus[branch] = quantity - target</a:t>
            </a:r>
          </a:p>
          <a:p>
            <a:r>
              <a:rPr lang="en-IN" dirty="0"/>
              <a:t>        </a:t>
            </a:r>
            <a:r>
              <a:rPr lang="en-IN" dirty="0" err="1"/>
              <a:t>elif</a:t>
            </a:r>
            <a:r>
              <a:rPr lang="en-IN" dirty="0"/>
              <a:t> quantity &lt; target:</a:t>
            </a:r>
          </a:p>
          <a:p>
            <a:r>
              <a:rPr lang="en-IN" dirty="0"/>
              <a:t>            shortage[branch] = target - quantity</a:t>
            </a:r>
          </a:p>
          <a:p>
            <a:endParaRPr lang="en-IN" dirty="0"/>
          </a:p>
          <a:p>
            <a:r>
              <a:rPr lang="en-IN" dirty="0"/>
              <a:t>    # Transfer stock between branches</a:t>
            </a:r>
          </a:p>
          <a:p>
            <a:r>
              <a:rPr lang="en-IN" dirty="0"/>
              <a:t>    for donor in list(</a:t>
            </a:r>
            <a:r>
              <a:rPr lang="en-IN" dirty="0" err="1"/>
              <a:t>surplus.keys</a:t>
            </a:r>
            <a:r>
              <a:rPr lang="en-IN" dirty="0"/>
              <a:t>()):</a:t>
            </a:r>
          </a:p>
          <a:p>
            <a:r>
              <a:rPr lang="en-IN" dirty="0"/>
              <a:t>        for receiver in list(</a:t>
            </a:r>
            <a:r>
              <a:rPr lang="en-IN" dirty="0" err="1"/>
              <a:t>shortage.keys</a:t>
            </a:r>
            <a:r>
              <a:rPr lang="en-IN" dirty="0"/>
              <a:t>()):</a:t>
            </a:r>
          </a:p>
          <a:p>
            <a:endParaRPr lang="en-IN" dirty="0"/>
          </a:p>
          <a:p>
            <a:r>
              <a:rPr lang="en-IN" dirty="0"/>
              <a:t>            if surplus[donor] &lt;= 0:</a:t>
            </a:r>
          </a:p>
          <a:p>
            <a:r>
              <a:rPr lang="en-IN" dirty="0"/>
              <a:t>                break</a:t>
            </a:r>
          </a:p>
          <a:p>
            <a:endParaRPr lang="en-IN" dirty="0"/>
          </a:p>
          <a:p>
            <a:r>
              <a:rPr lang="en-IN" dirty="0"/>
              <a:t>            if shortage[receiver] &lt;= 0:</a:t>
            </a:r>
          </a:p>
          <a:p>
            <a:r>
              <a:rPr lang="en-IN" dirty="0"/>
              <a:t>                continue</a:t>
            </a:r>
          </a:p>
          <a:p>
            <a:endParaRPr lang="en-IN" dirty="0"/>
          </a:p>
          <a:p>
            <a:r>
              <a:rPr lang="en-IN" dirty="0"/>
              <a:t>            quantity = min(</a:t>
            </a:r>
          </a:p>
          <a:p>
            <a:r>
              <a:rPr lang="en-IN" dirty="0"/>
              <a:t>                surplus[donor],</a:t>
            </a:r>
          </a:p>
          <a:p>
            <a:r>
              <a:rPr lang="en-IN" dirty="0"/>
              <a:t>                shortage[receiver],</a:t>
            </a:r>
          </a:p>
          <a:p>
            <a:r>
              <a:rPr lang="en-IN" dirty="0"/>
              <a:t>                </a:t>
            </a:r>
            <a:r>
              <a:rPr lang="en-IN" dirty="0" err="1"/>
              <a:t>max_transfer</a:t>
            </a:r>
            <a:endParaRPr lang="en-IN" dirty="0"/>
          </a:p>
          <a:p>
            <a:r>
              <a:rPr lang="en-IN" dirty="0"/>
              <a:t>            )</a:t>
            </a:r>
          </a:p>
          <a:p>
            <a:endParaRPr lang="en-IN" dirty="0"/>
          </a:p>
          <a:p>
            <a:r>
              <a:rPr lang="en-IN" dirty="0"/>
              <a:t>            if quantity &gt; 0:</a:t>
            </a:r>
          </a:p>
          <a:p>
            <a:r>
              <a:rPr lang="en-IN" dirty="0"/>
              <a:t>                # Update inventory</a:t>
            </a:r>
          </a:p>
          <a:p>
            <a:r>
              <a:rPr lang="en-IN" dirty="0"/>
              <a:t>                branches[donor][product] -= quantity</a:t>
            </a:r>
          </a:p>
          <a:p>
            <a:r>
              <a:rPr lang="en-IN" dirty="0"/>
              <a:t>                branches[receiver][product] += quantity</a:t>
            </a:r>
          </a:p>
          <a:p>
            <a:endParaRPr lang="en-IN" dirty="0"/>
          </a:p>
          <a:p>
            <a:r>
              <a:rPr lang="en-IN" dirty="0"/>
              <a:t>                # Record transfer as a tuple</a:t>
            </a:r>
          </a:p>
          <a:p>
            <a:r>
              <a:rPr lang="en-IN" dirty="0"/>
              <a:t>                </a:t>
            </a:r>
            <a:r>
              <a:rPr lang="en-IN" dirty="0" err="1"/>
              <a:t>transfers.append</a:t>
            </a:r>
            <a:r>
              <a:rPr lang="en-IN" dirty="0"/>
              <a:t>(</a:t>
            </a:r>
          </a:p>
          <a:p>
            <a:r>
              <a:rPr lang="en-IN" dirty="0"/>
              <a:t>                    (product, donor, receiver, quantity)</a:t>
            </a:r>
          </a:p>
          <a:p>
            <a:r>
              <a:rPr lang="en-IN" dirty="0"/>
              <a:t>                )</a:t>
            </a:r>
          </a:p>
          <a:p>
            <a:endParaRPr lang="en-IN" dirty="0"/>
          </a:p>
          <a:p>
            <a:r>
              <a:rPr lang="en-IN" dirty="0"/>
              <a:t>                surplus[donor] -= quantity</a:t>
            </a:r>
          </a:p>
          <a:p>
            <a:r>
              <a:rPr lang="en-IN" dirty="0"/>
              <a:t>                shortage[receiver] -= quantity</a:t>
            </a:r>
          </a:p>
          <a:p>
            <a:endParaRPr lang="en-IN" dirty="0"/>
          </a:p>
          <a:p>
            <a:r>
              <a:rPr lang="en-IN" dirty="0"/>
              <a:t># Display transfer report</a:t>
            </a:r>
          </a:p>
          <a:p>
            <a:r>
              <a:rPr lang="en-IN" dirty="0"/>
              <a:t>print("\n--- INVENTORY TRANSFERS ---")</a:t>
            </a:r>
          </a:p>
          <a:p>
            <a:endParaRPr lang="en-IN" dirty="0"/>
          </a:p>
          <a:p>
            <a:r>
              <a:rPr lang="en-IN" dirty="0"/>
              <a:t>if transfers:</a:t>
            </a:r>
          </a:p>
          <a:p>
            <a:r>
              <a:rPr lang="en-IN" dirty="0"/>
              <a:t>    for product, donor, receiver, quantity in transfers:</a:t>
            </a:r>
          </a:p>
          <a:p>
            <a:r>
              <a:rPr lang="en-IN" dirty="0"/>
              <a:t>        print(</a:t>
            </a:r>
          </a:p>
          <a:p>
            <a:r>
              <a:rPr lang="en-IN" dirty="0"/>
              <a:t>            product, ":", donor, "-&gt;", receiver,</a:t>
            </a:r>
          </a:p>
          <a:p>
            <a:r>
              <a:rPr lang="en-IN" dirty="0"/>
              <a:t>            "| Quantity:", quantity</a:t>
            </a:r>
          </a:p>
          <a:p>
            <a:r>
              <a:rPr lang="en-IN" dirty="0"/>
              <a:t>        )</a:t>
            </a:r>
          </a:p>
          <a:p>
            <a:r>
              <a:rPr lang="en-IN" dirty="0"/>
              <a:t>else:</a:t>
            </a:r>
          </a:p>
          <a:p>
            <a:r>
              <a:rPr lang="en-IN" dirty="0"/>
              <a:t>    print("No transfers required.")</a:t>
            </a:r>
          </a:p>
          <a:p>
            <a:endParaRPr lang="en-IN" dirty="0"/>
          </a:p>
          <a:p>
            <a:r>
              <a:rPr lang="en-IN" dirty="0"/>
              <a:t># Display final inventory</a:t>
            </a:r>
          </a:p>
          <a:p>
            <a:r>
              <a:rPr lang="en-IN" dirty="0"/>
              <a:t>print("\n--- FINAL BRANCH INVENTORY ---")</a:t>
            </a:r>
          </a:p>
          <a:p>
            <a:endParaRPr lang="en-IN" dirty="0"/>
          </a:p>
          <a:p>
            <a:r>
              <a:rPr lang="en-IN" dirty="0"/>
              <a:t>for branch, stock in </a:t>
            </a:r>
            <a:r>
              <a:rPr lang="en-IN" dirty="0" err="1"/>
              <a:t>branches.items</a:t>
            </a:r>
            <a:r>
              <a:rPr lang="en-IN" dirty="0"/>
              <a:t>():</a:t>
            </a:r>
          </a:p>
          <a:p>
            <a:r>
              <a:rPr lang="en-IN" dirty="0"/>
              <a:t>    print(branch, ":", stock)</a:t>
            </a:r>
          </a:p>
          <a:p>
            <a:endParaRPr lang="en-IN" dirty="0"/>
          </a:p>
          <a:p>
            <a:r>
              <a:rPr lang="en-IN" dirty="0"/>
              <a:t># Display remaining surplus and shortage</a:t>
            </a:r>
          </a:p>
          <a:p>
            <a:r>
              <a:rPr lang="en-IN" dirty="0"/>
              <a:t>print("\n--- FINAL STOCK STATUS ---")</a:t>
            </a:r>
          </a:p>
          <a:p>
            <a:endParaRPr lang="en-IN" dirty="0"/>
          </a:p>
          <a:p>
            <a:r>
              <a:rPr lang="en-IN" dirty="0"/>
              <a:t>for branch, stock in </a:t>
            </a:r>
            <a:r>
              <a:rPr lang="en-IN" dirty="0" err="1"/>
              <a:t>branches.items</a:t>
            </a:r>
            <a:r>
              <a:rPr lang="en-IN" dirty="0"/>
              <a:t>():</a:t>
            </a:r>
          </a:p>
          <a:p>
            <a:r>
              <a:rPr lang="en-IN" dirty="0"/>
              <a:t>    for product, target in </a:t>
            </a:r>
            <a:r>
              <a:rPr lang="en-IN" dirty="0" err="1"/>
              <a:t>targets.items</a:t>
            </a:r>
            <a:r>
              <a:rPr lang="en-IN" dirty="0"/>
              <a:t>():</a:t>
            </a:r>
          </a:p>
          <a:p>
            <a:r>
              <a:rPr lang="en-IN" dirty="0"/>
              <a:t>        quantity = </a:t>
            </a:r>
            <a:r>
              <a:rPr lang="en-IN" dirty="0" err="1"/>
              <a:t>stock.get</a:t>
            </a:r>
            <a:r>
              <a:rPr lang="en-IN" dirty="0"/>
              <a:t>(product, 0)</a:t>
            </a:r>
          </a:p>
          <a:p>
            <a:endParaRPr lang="en-IN" dirty="0"/>
          </a:p>
          <a:p>
            <a:r>
              <a:rPr lang="en-IN" dirty="0"/>
              <a:t>        if quantity &lt; target:</a:t>
            </a:r>
          </a:p>
          <a:p>
            <a:r>
              <a:rPr lang="en-IN" dirty="0"/>
              <a:t>            print(</a:t>
            </a:r>
          </a:p>
          <a:p>
            <a:r>
              <a:rPr lang="en-IN" dirty="0"/>
              <a:t>                branch, product,</a:t>
            </a:r>
          </a:p>
          <a:p>
            <a:r>
              <a:rPr lang="en-IN" dirty="0"/>
              <a:t>                "Shortage:", target - quantity</a:t>
            </a:r>
          </a:p>
          <a:p>
            <a:r>
              <a:rPr lang="en-IN" dirty="0"/>
              <a:t>            )</a:t>
            </a:r>
          </a:p>
          <a:p>
            <a:r>
              <a:rPr lang="en-IN" dirty="0"/>
              <a:t>        </a:t>
            </a:r>
            <a:r>
              <a:rPr lang="en-IN" dirty="0" err="1"/>
              <a:t>elif</a:t>
            </a:r>
            <a:r>
              <a:rPr lang="en-IN" dirty="0"/>
              <a:t> quantity &gt; target:</a:t>
            </a:r>
          </a:p>
          <a:p>
            <a:r>
              <a:rPr lang="en-IN" dirty="0"/>
              <a:t>            print(</a:t>
            </a:r>
          </a:p>
          <a:p>
            <a:r>
              <a:rPr lang="en-IN" dirty="0"/>
              <a:t>                branch, product,</a:t>
            </a:r>
          </a:p>
          <a:p>
            <a:r>
              <a:rPr lang="en-IN" dirty="0"/>
              <a:t>                "Surplus:", quantity - target</a:t>
            </a:r>
          </a:p>
          <a:p>
            <a:r>
              <a:rPr lang="en-IN" dirty="0"/>
              <a:t>            )</a:t>
            </a:r>
          </a:p>
          <a:p>
            <a:r>
              <a:rPr lang="en-IN" dirty="0"/>
              <a:t>        else:</a:t>
            </a:r>
          </a:p>
          <a:p>
            <a:r>
              <a:rPr lang="en-IN" dirty="0"/>
              <a:t>            print(branch, product, "Stock at target")</a:t>
            </a:r>
          </a:p>
          <a:p>
            <a:endParaRPr lang="en-IN" dirty="0"/>
          </a:p>
          <a:p>
            <a:r>
              <a:rPr lang="en-IN" dirty="0"/>
              <a:t>print("\</a:t>
            </a:r>
            <a:r>
              <a:rPr lang="en-IN" dirty="0" err="1"/>
              <a:t>nInventory</a:t>
            </a:r>
            <a:r>
              <a:rPr lang="en-IN" dirty="0"/>
              <a:t> transfer analysis completed.")</a:t>
            </a:r>
          </a:p>
          <a:p>
            <a:endParaRPr lang="en-IN" dirty="0"/>
          </a:p>
        </p:txBody>
      </p:sp>
    </p:spTree>
    <p:extLst>
      <p:ext uri="{BB962C8B-B14F-4D97-AF65-F5344CB8AC3E}">
        <p14:creationId xmlns:p14="http://schemas.microsoft.com/office/powerpoint/2010/main" val="26016537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6FB16-3D18-4054-539D-9E5ABDB13055}"/>
              </a:ext>
            </a:extLst>
          </p:cNvPr>
          <p:cNvSpPr>
            <a:spLocks noGrp="1"/>
          </p:cNvSpPr>
          <p:nvPr>
            <p:ph type="title"/>
          </p:nvPr>
        </p:nvSpPr>
        <p:spPr/>
        <p:txBody>
          <a:bodyPr/>
          <a:lstStyle/>
          <a:p>
            <a:r>
              <a:rPr lang="en-US" dirty="0"/>
              <a:t>Flowchart</a:t>
            </a:r>
            <a:endParaRPr lang="en-IN" dirty="0"/>
          </a:p>
        </p:txBody>
      </p:sp>
      <p:pic>
        <p:nvPicPr>
          <p:cNvPr id="5" name="Content Placeholder 4">
            <a:extLst>
              <a:ext uri="{FF2B5EF4-FFF2-40B4-BE49-F238E27FC236}">
                <a16:creationId xmlns:a16="http://schemas.microsoft.com/office/drawing/2014/main" id="{69DCD781-DFBC-52DD-4347-B572555089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5145" y="818478"/>
            <a:ext cx="3901302" cy="5851953"/>
          </a:xfrm>
        </p:spPr>
      </p:pic>
    </p:spTree>
    <p:extLst>
      <p:ext uri="{BB962C8B-B14F-4D97-AF65-F5344CB8AC3E}">
        <p14:creationId xmlns:p14="http://schemas.microsoft.com/office/powerpoint/2010/main" val="39803730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000CD-D0E2-7E71-4064-4D10340A95AC}"/>
              </a:ext>
            </a:extLst>
          </p:cNvPr>
          <p:cNvSpPr>
            <a:spLocks noGrp="1"/>
          </p:cNvSpPr>
          <p:nvPr>
            <p:ph type="title"/>
          </p:nvPr>
        </p:nvSpPr>
        <p:spPr/>
        <p:txBody>
          <a:bodyPr/>
          <a:lstStyle/>
          <a:p>
            <a:r>
              <a:rPr lang="en-IN" dirty="0"/>
              <a:t>Test Cases</a:t>
            </a:r>
          </a:p>
        </p:txBody>
      </p:sp>
      <p:graphicFrame>
        <p:nvGraphicFramePr>
          <p:cNvPr id="4" name="Content Placeholder 3">
            <a:extLst>
              <a:ext uri="{FF2B5EF4-FFF2-40B4-BE49-F238E27FC236}">
                <a16:creationId xmlns:a16="http://schemas.microsoft.com/office/drawing/2014/main" id="{E94230F5-35DC-3D19-667A-934FDA0B46FE}"/>
              </a:ext>
            </a:extLst>
          </p:cNvPr>
          <p:cNvGraphicFramePr>
            <a:graphicFrameLocks noGrp="1"/>
          </p:cNvGraphicFramePr>
          <p:nvPr>
            <p:ph idx="1"/>
            <p:extLst>
              <p:ext uri="{D42A27DB-BD31-4B8C-83A1-F6EECF244321}">
                <p14:modId xmlns:p14="http://schemas.microsoft.com/office/powerpoint/2010/main" val="1484284831"/>
              </p:ext>
            </p:extLst>
          </p:nvPr>
        </p:nvGraphicFramePr>
        <p:xfrm>
          <a:off x="175846" y="1336431"/>
          <a:ext cx="11177952" cy="5156442"/>
        </p:xfrm>
        <a:graphic>
          <a:graphicData uri="http://schemas.openxmlformats.org/drawingml/2006/table">
            <a:tbl>
              <a:tblPr/>
              <a:tblGrid>
                <a:gridCol w="3725984">
                  <a:extLst>
                    <a:ext uri="{9D8B030D-6E8A-4147-A177-3AD203B41FA5}">
                      <a16:colId xmlns:a16="http://schemas.microsoft.com/office/drawing/2014/main" val="3299289171"/>
                    </a:ext>
                  </a:extLst>
                </a:gridCol>
                <a:gridCol w="3725984">
                  <a:extLst>
                    <a:ext uri="{9D8B030D-6E8A-4147-A177-3AD203B41FA5}">
                      <a16:colId xmlns:a16="http://schemas.microsoft.com/office/drawing/2014/main" val="3727187230"/>
                    </a:ext>
                  </a:extLst>
                </a:gridCol>
                <a:gridCol w="3725984">
                  <a:extLst>
                    <a:ext uri="{9D8B030D-6E8A-4147-A177-3AD203B41FA5}">
                      <a16:colId xmlns:a16="http://schemas.microsoft.com/office/drawing/2014/main" val="2845869865"/>
                    </a:ext>
                  </a:extLst>
                </a:gridCol>
              </a:tblGrid>
              <a:tr h="606640">
                <a:tc>
                  <a:txBody>
                    <a:bodyPr/>
                    <a:lstStyle/>
                    <a:p>
                      <a:pPr>
                        <a:buNone/>
                      </a:pPr>
                      <a:r>
                        <a:rPr lang="en-IN"/>
                        <a:t>Test case</a:t>
                      </a:r>
                    </a:p>
                  </a:txBody>
                  <a:tcPr anchor="ctr">
                    <a:lnL>
                      <a:noFill/>
                    </a:lnL>
                    <a:lnR>
                      <a:noFill/>
                    </a:lnR>
                    <a:lnT>
                      <a:noFill/>
                    </a:lnT>
                    <a:lnB>
                      <a:noFill/>
                    </a:lnB>
                    <a:noFill/>
                  </a:tcPr>
                </a:tc>
                <a:tc>
                  <a:txBody>
                    <a:bodyPr/>
                    <a:lstStyle/>
                    <a:p>
                      <a:pPr>
                        <a:buNone/>
                      </a:pPr>
                      <a:r>
                        <a:rPr lang="en-IN"/>
                        <a:t>Input condition</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3077951763"/>
                  </a:ext>
                </a:extLst>
              </a:tr>
              <a:tr h="1061621">
                <a:tc>
                  <a:txBody>
                    <a:bodyPr/>
                    <a:lstStyle/>
                    <a:p>
                      <a:pPr>
                        <a:buNone/>
                      </a:pPr>
                      <a:r>
                        <a:rPr lang="en-IN"/>
                        <a:t>1</a:t>
                      </a:r>
                    </a:p>
                  </a:txBody>
                  <a:tcPr anchor="ctr">
                    <a:lnL>
                      <a:noFill/>
                    </a:lnL>
                    <a:lnR>
                      <a:noFill/>
                    </a:lnR>
                    <a:lnT>
                      <a:noFill/>
                    </a:lnT>
                    <a:lnB>
                      <a:noFill/>
                    </a:lnB>
                    <a:noFill/>
                  </a:tcPr>
                </a:tc>
                <a:tc>
                  <a:txBody>
                    <a:bodyPr/>
                    <a:lstStyle/>
                    <a:p>
                      <a:pPr>
                        <a:buNone/>
                      </a:pPr>
                      <a:r>
                        <a:rPr lang="en-US"/>
                        <a:t>One branch has surplus and another has shortage</a:t>
                      </a:r>
                    </a:p>
                  </a:txBody>
                  <a:tcPr anchor="ctr">
                    <a:lnL>
                      <a:noFill/>
                    </a:lnL>
                    <a:lnR>
                      <a:noFill/>
                    </a:lnR>
                    <a:lnT>
                      <a:noFill/>
                    </a:lnT>
                    <a:lnB>
                      <a:noFill/>
                    </a:lnB>
                    <a:noFill/>
                  </a:tcPr>
                </a:tc>
                <a:tc>
                  <a:txBody>
                    <a:bodyPr/>
                    <a:lstStyle/>
                    <a:p>
                      <a:pPr>
                        <a:buNone/>
                      </a:pPr>
                      <a:r>
                        <a:rPr lang="en-IN"/>
                        <a:t>Transfer is generated</a:t>
                      </a:r>
                    </a:p>
                  </a:txBody>
                  <a:tcPr anchor="ctr">
                    <a:lnL>
                      <a:noFill/>
                    </a:lnL>
                    <a:lnR>
                      <a:noFill/>
                    </a:lnR>
                    <a:lnT>
                      <a:noFill/>
                    </a:lnT>
                    <a:lnB>
                      <a:noFill/>
                    </a:lnB>
                    <a:noFill/>
                  </a:tcPr>
                </a:tc>
                <a:extLst>
                  <a:ext uri="{0D108BD9-81ED-4DB2-BD59-A6C34878D82A}">
                    <a16:rowId xmlns:a16="http://schemas.microsoft.com/office/drawing/2014/main" val="2455142933"/>
                  </a:ext>
                </a:extLst>
              </a:tr>
              <a:tr h="1061621">
                <a:tc>
                  <a:txBody>
                    <a:bodyPr/>
                    <a:lstStyle/>
                    <a:p>
                      <a:pPr>
                        <a:buNone/>
                      </a:pPr>
                      <a:r>
                        <a:rPr lang="en-IN"/>
                        <a:t>2</a:t>
                      </a:r>
                    </a:p>
                  </a:txBody>
                  <a:tcPr anchor="ctr">
                    <a:lnL>
                      <a:noFill/>
                    </a:lnL>
                    <a:lnR>
                      <a:noFill/>
                    </a:lnR>
                    <a:lnT>
                      <a:noFill/>
                    </a:lnT>
                    <a:lnB>
                      <a:noFill/>
                    </a:lnB>
                    <a:noFill/>
                  </a:tcPr>
                </a:tc>
                <a:tc>
                  <a:txBody>
                    <a:bodyPr/>
                    <a:lstStyle/>
                    <a:p>
                      <a:pPr>
                        <a:buNone/>
                      </a:pPr>
                      <a:r>
                        <a:rPr lang="en-US"/>
                        <a:t>Surplus exceeds the transfer limit</a:t>
                      </a:r>
                    </a:p>
                  </a:txBody>
                  <a:tcPr anchor="ctr">
                    <a:lnL>
                      <a:noFill/>
                    </a:lnL>
                    <a:lnR>
                      <a:noFill/>
                    </a:lnR>
                    <a:lnT>
                      <a:noFill/>
                    </a:lnT>
                    <a:lnB>
                      <a:noFill/>
                    </a:lnB>
                    <a:noFill/>
                  </a:tcPr>
                </a:tc>
                <a:tc>
                  <a:txBody>
                    <a:bodyPr/>
                    <a:lstStyle/>
                    <a:p>
                      <a:pPr>
                        <a:buNone/>
                      </a:pPr>
                      <a:r>
                        <a:rPr lang="en-US"/>
                        <a:t>Transfer respects the maximum limit</a:t>
                      </a:r>
                    </a:p>
                  </a:txBody>
                  <a:tcPr anchor="ctr">
                    <a:lnL>
                      <a:noFill/>
                    </a:lnL>
                    <a:lnR>
                      <a:noFill/>
                    </a:lnR>
                    <a:lnT>
                      <a:noFill/>
                    </a:lnT>
                    <a:lnB>
                      <a:noFill/>
                    </a:lnB>
                    <a:noFill/>
                  </a:tcPr>
                </a:tc>
                <a:extLst>
                  <a:ext uri="{0D108BD9-81ED-4DB2-BD59-A6C34878D82A}">
                    <a16:rowId xmlns:a16="http://schemas.microsoft.com/office/drawing/2014/main" val="3738877270"/>
                  </a:ext>
                </a:extLst>
              </a:tr>
              <a:tr h="606640">
                <a:tc>
                  <a:txBody>
                    <a:bodyPr/>
                    <a:lstStyle/>
                    <a:p>
                      <a:pPr>
                        <a:buNone/>
                      </a:pPr>
                      <a:r>
                        <a:rPr lang="en-IN"/>
                        <a:t>3</a:t>
                      </a:r>
                    </a:p>
                  </a:txBody>
                  <a:tcPr anchor="ctr">
                    <a:lnL>
                      <a:noFill/>
                    </a:lnL>
                    <a:lnR>
                      <a:noFill/>
                    </a:lnR>
                    <a:lnT>
                      <a:noFill/>
                    </a:lnT>
                    <a:lnB>
                      <a:noFill/>
                    </a:lnB>
                    <a:noFill/>
                  </a:tcPr>
                </a:tc>
                <a:tc>
                  <a:txBody>
                    <a:bodyPr/>
                    <a:lstStyle/>
                    <a:p>
                      <a:pPr>
                        <a:buNone/>
                      </a:pPr>
                      <a:r>
                        <a:rPr lang="en-US"/>
                        <a:t>All branches meet target stock</a:t>
                      </a:r>
                    </a:p>
                  </a:txBody>
                  <a:tcPr anchor="ctr">
                    <a:lnL>
                      <a:noFill/>
                    </a:lnL>
                    <a:lnR>
                      <a:noFill/>
                    </a:lnR>
                    <a:lnT>
                      <a:noFill/>
                    </a:lnT>
                    <a:lnB>
                      <a:noFill/>
                    </a:lnB>
                    <a:noFill/>
                  </a:tcPr>
                </a:tc>
                <a:tc>
                  <a:txBody>
                    <a:bodyPr/>
                    <a:lstStyle/>
                    <a:p>
                      <a:pPr>
                        <a:buNone/>
                      </a:pPr>
                      <a:r>
                        <a:rPr lang="en-IN"/>
                        <a:t>No transfer required</a:t>
                      </a:r>
                    </a:p>
                  </a:txBody>
                  <a:tcPr anchor="ctr">
                    <a:lnL>
                      <a:noFill/>
                    </a:lnL>
                    <a:lnR>
                      <a:noFill/>
                    </a:lnR>
                    <a:lnT>
                      <a:noFill/>
                    </a:lnT>
                    <a:lnB>
                      <a:noFill/>
                    </a:lnB>
                    <a:noFill/>
                  </a:tcPr>
                </a:tc>
                <a:extLst>
                  <a:ext uri="{0D108BD9-81ED-4DB2-BD59-A6C34878D82A}">
                    <a16:rowId xmlns:a16="http://schemas.microsoft.com/office/drawing/2014/main" val="3161768809"/>
                  </a:ext>
                </a:extLst>
              </a:tr>
              <a:tr h="606640">
                <a:tc>
                  <a:txBody>
                    <a:bodyPr/>
                    <a:lstStyle/>
                    <a:p>
                      <a:pPr>
                        <a:buNone/>
                      </a:pPr>
                      <a:r>
                        <a:rPr lang="en-IN"/>
                        <a:t>4</a:t>
                      </a:r>
                    </a:p>
                  </a:txBody>
                  <a:tcPr anchor="ctr">
                    <a:lnL>
                      <a:noFill/>
                    </a:lnL>
                    <a:lnR>
                      <a:noFill/>
                    </a:lnR>
                    <a:lnT>
                      <a:noFill/>
                    </a:lnT>
                    <a:lnB>
                      <a:noFill/>
                    </a:lnB>
                    <a:noFill/>
                  </a:tcPr>
                </a:tc>
                <a:tc>
                  <a:txBody>
                    <a:bodyPr/>
                    <a:lstStyle/>
                    <a:p>
                      <a:pPr>
                        <a:buNone/>
                      </a:pPr>
                      <a:r>
                        <a:rPr lang="en-IN"/>
                        <a:t>Total stock is insufficient</a:t>
                      </a:r>
                    </a:p>
                  </a:txBody>
                  <a:tcPr anchor="ctr">
                    <a:lnL>
                      <a:noFill/>
                    </a:lnL>
                    <a:lnR>
                      <a:noFill/>
                    </a:lnR>
                    <a:lnT>
                      <a:noFill/>
                    </a:lnT>
                    <a:lnB>
                      <a:noFill/>
                    </a:lnB>
                    <a:noFill/>
                  </a:tcPr>
                </a:tc>
                <a:tc>
                  <a:txBody>
                    <a:bodyPr/>
                    <a:lstStyle/>
                    <a:p>
                      <a:pPr>
                        <a:buNone/>
                      </a:pPr>
                      <a:r>
                        <a:rPr lang="en-IN"/>
                        <a:t>Remaining shortages are reported</a:t>
                      </a:r>
                    </a:p>
                  </a:txBody>
                  <a:tcPr anchor="ctr">
                    <a:lnL>
                      <a:noFill/>
                    </a:lnL>
                    <a:lnR>
                      <a:noFill/>
                    </a:lnR>
                    <a:lnT>
                      <a:noFill/>
                    </a:lnT>
                    <a:lnB>
                      <a:noFill/>
                    </a:lnB>
                    <a:noFill/>
                  </a:tcPr>
                </a:tc>
                <a:extLst>
                  <a:ext uri="{0D108BD9-81ED-4DB2-BD59-A6C34878D82A}">
                    <a16:rowId xmlns:a16="http://schemas.microsoft.com/office/drawing/2014/main" val="2689537996"/>
                  </a:ext>
                </a:extLst>
              </a:tr>
              <a:tr h="606640">
                <a:tc>
                  <a:txBody>
                    <a:bodyPr/>
                    <a:lstStyle/>
                    <a:p>
                      <a:pPr>
                        <a:buNone/>
                      </a:pPr>
                      <a:r>
                        <a:rPr lang="en-IN"/>
                        <a:t>5</a:t>
                      </a:r>
                    </a:p>
                  </a:txBody>
                  <a:tcPr anchor="ctr">
                    <a:lnL>
                      <a:noFill/>
                    </a:lnL>
                    <a:lnR>
                      <a:noFill/>
                    </a:lnR>
                    <a:lnT>
                      <a:noFill/>
                    </a:lnT>
                    <a:lnB>
                      <a:noFill/>
                    </a:lnB>
                    <a:noFill/>
                  </a:tcPr>
                </a:tc>
                <a:tc>
                  <a:txBody>
                    <a:bodyPr/>
                    <a:lstStyle/>
                    <a:p>
                      <a:pPr>
                        <a:buNone/>
                      </a:pPr>
                      <a:r>
                        <a:rPr lang="en-US"/>
                        <a:t>Branch stock is below target</a:t>
                      </a:r>
                    </a:p>
                  </a:txBody>
                  <a:tcPr anchor="ctr">
                    <a:lnL>
                      <a:noFill/>
                    </a:lnL>
                    <a:lnR>
                      <a:noFill/>
                    </a:lnR>
                    <a:lnT>
                      <a:noFill/>
                    </a:lnT>
                    <a:lnB>
                      <a:noFill/>
                    </a:lnB>
                    <a:noFill/>
                  </a:tcPr>
                </a:tc>
                <a:tc>
                  <a:txBody>
                    <a:bodyPr/>
                    <a:lstStyle/>
                    <a:p>
                      <a:pPr>
                        <a:buNone/>
                      </a:pPr>
                      <a:r>
                        <a:rPr lang="en-IN"/>
                        <a:t>Shortage is identified</a:t>
                      </a:r>
                    </a:p>
                  </a:txBody>
                  <a:tcPr anchor="ctr">
                    <a:lnL>
                      <a:noFill/>
                    </a:lnL>
                    <a:lnR>
                      <a:noFill/>
                    </a:lnR>
                    <a:lnT>
                      <a:noFill/>
                    </a:lnT>
                    <a:lnB>
                      <a:noFill/>
                    </a:lnB>
                    <a:noFill/>
                  </a:tcPr>
                </a:tc>
                <a:extLst>
                  <a:ext uri="{0D108BD9-81ED-4DB2-BD59-A6C34878D82A}">
                    <a16:rowId xmlns:a16="http://schemas.microsoft.com/office/drawing/2014/main" val="1257024411"/>
                  </a:ext>
                </a:extLst>
              </a:tr>
              <a:tr h="606640">
                <a:tc>
                  <a:txBody>
                    <a:bodyPr/>
                    <a:lstStyle/>
                    <a:p>
                      <a:pPr>
                        <a:buNone/>
                      </a:pPr>
                      <a:r>
                        <a:rPr lang="en-IN"/>
                        <a:t>6</a:t>
                      </a:r>
                    </a:p>
                  </a:txBody>
                  <a:tcPr anchor="ctr">
                    <a:lnL>
                      <a:noFill/>
                    </a:lnL>
                    <a:lnR>
                      <a:noFill/>
                    </a:lnR>
                    <a:lnT>
                      <a:noFill/>
                    </a:lnT>
                    <a:lnB>
                      <a:noFill/>
                    </a:lnB>
                    <a:noFill/>
                  </a:tcPr>
                </a:tc>
                <a:tc>
                  <a:txBody>
                    <a:bodyPr/>
                    <a:lstStyle/>
                    <a:p>
                      <a:pPr>
                        <a:buNone/>
                      </a:pPr>
                      <a:r>
                        <a:rPr lang="en-US"/>
                        <a:t>Branch stock is above target</a:t>
                      </a:r>
                    </a:p>
                  </a:txBody>
                  <a:tcPr anchor="ctr">
                    <a:lnL>
                      <a:noFill/>
                    </a:lnL>
                    <a:lnR>
                      <a:noFill/>
                    </a:lnR>
                    <a:lnT>
                      <a:noFill/>
                    </a:lnT>
                    <a:lnB>
                      <a:noFill/>
                    </a:lnB>
                    <a:noFill/>
                  </a:tcPr>
                </a:tc>
                <a:tc>
                  <a:txBody>
                    <a:bodyPr/>
                    <a:lstStyle/>
                    <a:p>
                      <a:pPr>
                        <a:buNone/>
                      </a:pPr>
                      <a:r>
                        <a:rPr lang="en-IN" dirty="0"/>
                        <a:t>Surplus is identified</a:t>
                      </a:r>
                    </a:p>
                  </a:txBody>
                  <a:tcPr anchor="ctr">
                    <a:lnL>
                      <a:noFill/>
                    </a:lnL>
                    <a:lnR>
                      <a:noFill/>
                    </a:lnR>
                    <a:lnT>
                      <a:noFill/>
                    </a:lnT>
                    <a:lnB>
                      <a:noFill/>
                    </a:lnB>
                    <a:noFill/>
                  </a:tcPr>
                </a:tc>
                <a:extLst>
                  <a:ext uri="{0D108BD9-81ED-4DB2-BD59-A6C34878D82A}">
                    <a16:rowId xmlns:a16="http://schemas.microsoft.com/office/drawing/2014/main" val="3223501954"/>
                  </a:ext>
                </a:extLst>
              </a:tr>
            </a:tbl>
          </a:graphicData>
        </a:graphic>
      </p:graphicFrame>
    </p:spTree>
    <p:extLst>
      <p:ext uri="{BB962C8B-B14F-4D97-AF65-F5344CB8AC3E}">
        <p14:creationId xmlns:p14="http://schemas.microsoft.com/office/powerpoint/2010/main" val="907336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27E8-7473-2F62-DFFC-1AE28CBCAF47}"/>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021C2AED-8DAE-912F-30CC-D4C52ACF3130}"/>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B74C0684-2615-4CB9-7514-EABCA00B70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763814" y="1946031"/>
            <a:ext cx="2704154" cy="4747846"/>
          </a:xfrm>
        </p:spPr>
      </p:pic>
      <p:sp>
        <p:nvSpPr>
          <p:cNvPr id="5" name="Text Placeholder 4">
            <a:extLst>
              <a:ext uri="{FF2B5EF4-FFF2-40B4-BE49-F238E27FC236}">
                <a16:creationId xmlns:a16="http://schemas.microsoft.com/office/drawing/2014/main" id="{71FD3813-9B6F-F9D0-57A0-CEDBF62B93E9}"/>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11DC9895-23AD-8529-C08A-4621C9D4998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671177" y="2405809"/>
            <a:ext cx="5088383" cy="3983268"/>
          </a:xfrm>
        </p:spPr>
      </p:pic>
    </p:spTree>
    <p:extLst>
      <p:ext uri="{BB962C8B-B14F-4D97-AF65-F5344CB8AC3E}">
        <p14:creationId xmlns:p14="http://schemas.microsoft.com/office/powerpoint/2010/main" val="38405416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B1CA-E9F3-A2E6-B1C4-8E86D76B2174}"/>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8CC44E3F-0234-44D8-2AC2-8AD71577F2F8}"/>
              </a:ext>
            </a:extLst>
          </p:cNvPr>
          <p:cNvSpPr>
            <a:spLocks noGrp="1"/>
          </p:cNvSpPr>
          <p:nvPr>
            <p:ph idx="1"/>
          </p:nvPr>
        </p:nvSpPr>
        <p:spPr/>
        <p:txBody>
          <a:bodyPr/>
          <a:lstStyle/>
          <a:p>
            <a:r>
              <a:rPr lang="en-US" dirty="0"/>
              <a:t>The Multi-Branch Retail Inventory Transfer project demonstrates how Python can be used to manage inventory across multiple retail branches. The program calculates surpluses and shortages, generates suitable transfer recommendations, respects transfer quantity constraints, and updates stock balances.</a:t>
            </a:r>
          </a:p>
          <a:p>
            <a:r>
              <a:rPr lang="en-US" dirty="0"/>
              <a:t>This approach helps reduce excess inventory, address stock shortages, and improve inventory utilization. The project demonstrates the practical application of lists, tuples, dictionaries, loops, conditional statements, and built-in functions in Python.</a:t>
            </a:r>
          </a:p>
          <a:p>
            <a:endParaRPr lang="en-IN" dirty="0"/>
          </a:p>
        </p:txBody>
      </p:sp>
    </p:spTree>
    <p:extLst>
      <p:ext uri="{BB962C8B-B14F-4D97-AF65-F5344CB8AC3E}">
        <p14:creationId xmlns:p14="http://schemas.microsoft.com/office/powerpoint/2010/main" val="26432578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F49CF-FA47-2B1B-9F99-D42EBD8A540E}"/>
              </a:ext>
            </a:extLst>
          </p:cNvPr>
          <p:cNvSpPr>
            <a:spLocks noGrp="1"/>
          </p:cNvSpPr>
          <p:nvPr>
            <p:ph type="ctrTitle"/>
          </p:nvPr>
        </p:nvSpPr>
        <p:spPr/>
        <p:txBody>
          <a:bodyPr/>
          <a:lstStyle/>
          <a:p>
            <a:r>
              <a:rPr lang="en-US" dirty="0"/>
              <a:t>CASE-89:University Hostel Room Allocation</a:t>
            </a:r>
            <a:endParaRPr lang="en-IN" dirty="0"/>
          </a:p>
        </p:txBody>
      </p:sp>
      <p:sp>
        <p:nvSpPr>
          <p:cNvPr id="3" name="Subtitle 2">
            <a:extLst>
              <a:ext uri="{FF2B5EF4-FFF2-40B4-BE49-F238E27FC236}">
                <a16:creationId xmlns:a16="http://schemas.microsoft.com/office/drawing/2014/main" id="{2476A1C2-2491-8A4F-9394-B2E8D4AD8949}"/>
              </a:ext>
            </a:extLst>
          </p:cNvPr>
          <p:cNvSpPr>
            <a:spLocks noGrp="1"/>
          </p:cNvSpPr>
          <p:nvPr>
            <p:ph type="subTitle" idx="1"/>
          </p:nvPr>
        </p:nvSpPr>
        <p:spPr>
          <a:xfrm>
            <a:off x="504093" y="3509963"/>
            <a:ext cx="10879016" cy="3348037"/>
          </a:xfrm>
        </p:spPr>
        <p:txBody>
          <a:bodyPr>
            <a:normAutofit/>
          </a:bodyPr>
          <a:lstStyle/>
          <a:p>
            <a:r>
              <a:rPr lang="en-US" b="1" dirty="0"/>
              <a:t>Problem Statement</a:t>
            </a:r>
          </a:p>
          <a:p>
            <a:r>
              <a:rPr lang="en-US" dirty="0"/>
              <a:t>Universities need to allocate students to hostel rooms according to room capacity, eligibility requirements, and grouping constraints. Incorrect allocation can lead to overcrowded rooms, unsuitable assignments, and duplicate room allotments.</a:t>
            </a:r>
          </a:p>
          <a:p>
            <a:r>
              <a:rPr lang="en-US" dirty="0"/>
              <a:t>The objective of this project is to develop a Python program that allocates students to eligible hostel rooms, keeps specified student groups together, detects duplicate assignments, and calculates the number of students who remain unallocated because of limited room availability or eligibility restrictions.</a:t>
            </a:r>
          </a:p>
          <a:p>
            <a:endParaRPr lang="en-IN" dirty="0"/>
          </a:p>
        </p:txBody>
      </p:sp>
    </p:spTree>
    <p:extLst>
      <p:ext uri="{BB962C8B-B14F-4D97-AF65-F5344CB8AC3E}">
        <p14:creationId xmlns:p14="http://schemas.microsoft.com/office/powerpoint/2010/main" val="40112877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9AD88-891D-B408-F71E-69B84B133078}"/>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1C2F8E64-18D9-CF63-F12D-4A392D596D71}"/>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student details and hostel room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Represent student groups and room capacities using Python lists, tuples, and dictionaries.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Allocate students according to room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Check room eligibility before assigning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Keep students in specified groups together.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Detect duplicate student assignments.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Prevent room capacity from being exceeded.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the total number of unallocated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final room allocation report.</a:t>
            </a:r>
          </a:p>
        </p:txBody>
      </p:sp>
    </p:spTree>
    <p:extLst>
      <p:ext uri="{BB962C8B-B14F-4D97-AF65-F5344CB8AC3E}">
        <p14:creationId xmlns:p14="http://schemas.microsoft.com/office/powerpoint/2010/main" val="32719808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0BE5-BFB7-1287-14CF-728A857AE5CE}"/>
              </a:ext>
            </a:extLst>
          </p:cNvPr>
          <p:cNvSpPr>
            <a:spLocks noGrp="1"/>
          </p:cNvSpPr>
          <p:nvPr>
            <p:ph type="title"/>
          </p:nvPr>
        </p:nvSpPr>
        <p:spPr/>
        <p:txBody>
          <a:bodyPr/>
          <a:lstStyle/>
          <a:p>
            <a:r>
              <a:rPr lang="en-IN" dirty="0"/>
              <a:t>Assumptions</a:t>
            </a:r>
            <a:br>
              <a:rPr lang="en-IN" dirty="0"/>
            </a:br>
            <a:endParaRPr lang="en-IN" dirty="0"/>
          </a:p>
        </p:txBody>
      </p:sp>
      <p:sp>
        <p:nvSpPr>
          <p:cNvPr id="4" name="Rectangle 1">
            <a:extLst>
              <a:ext uri="{FF2B5EF4-FFF2-40B4-BE49-F238E27FC236}">
                <a16:creationId xmlns:a16="http://schemas.microsoft.com/office/drawing/2014/main" id="{7937E443-C7A7-39F1-D10E-357520C133CF}"/>
              </a:ext>
            </a:extLst>
          </p:cNvPr>
          <p:cNvSpPr>
            <a:spLocks noGrp="1" noChangeArrowheads="1"/>
          </p:cNvSpPr>
          <p:nvPr>
            <p:ph idx="1"/>
          </p:nvPr>
        </p:nvSpPr>
        <p:spPr bwMode="auto">
          <a:xfrm>
            <a:off x="0" y="2982173"/>
            <a:ext cx="132588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student has a unique student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Each room has a fixed capacity and eligibility criteria.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Students are organized into groups that should stay together.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group is allocated to a room only if the entire group fits.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room must be eligible for the group's 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 student must not be assigned more than once.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Room capacity must never be exceeded.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Students who cannot be assigned to a suitable room are counted as unallocated.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program uses a simple allocation strategy and does not guarantee an optimal solution for every possible arrangement.</a:t>
            </a:r>
          </a:p>
        </p:txBody>
      </p:sp>
    </p:spTree>
    <p:extLst>
      <p:ext uri="{BB962C8B-B14F-4D97-AF65-F5344CB8AC3E}">
        <p14:creationId xmlns:p14="http://schemas.microsoft.com/office/powerpoint/2010/main" val="39663629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5DB802-823E-6668-73C7-39A03209BDE2}"/>
              </a:ext>
            </a:extLst>
          </p:cNvPr>
          <p:cNvSpPr>
            <a:spLocks noGrp="1"/>
          </p:cNvSpPr>
          <p:nvPr>
            <p:ph type="title"/>
          </p:nvPr>
        </p:nvSpPr>
        <p:spPr/>
        <p:txBody>
          <a:bodyPr/>
          <a:lstStyle/>
          <a:p>
            <a:r>
              <a:rPr lang="en-IN" dirty="0"/>
              <a:t>Algorithm</a:t>
            </a:r>
          </a:p>
        </p:txBody>
      </p:sp>
      <p:sp>
        <p:nvSpPr>
          <p:cNvPr id="6" name="Rectangle 2">
            <a:extLst>
              <a:ext uri="{FF2B5EF4-FFF2-40B4-BE49-F238E27FC236}">
                <a16:creationId xmlns:a16="http://schemas.microsoft.com/office/drawing/2014/main" id="{833AD534-3EED-168E-8792-672A7FAAD8AD}"/>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Input student groups, room capacities, and eligibility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Initialize the room allocation list and duplicate-assignment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Select a student group.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Check whether any student ID has already been assigned.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Find a room that satisfies eligibility and capacity constraints.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a suitable room is available, assign the entire group to 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Update the room's occupied capacity.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If no suitable room is available, add the group to the unallocated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Repeat until all groups are processed.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room assignments, duplicate IDs, and unallocated student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26960845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015D8-D557-D56C-C507-12AB71883CB7}"/>
              </a:ext>
            </a:extLst>
          </p:cNvPr>
          <p:cNvSpPr>
            <a:spLocks noGrp="1"/>
          </p:cNvSpPr>
          <p:nvPr>
            <p:ph type="title"/>
          </p:nvPr>
        </p:nvSpPr>
        <p:spPr/>
        <p:txBody>
          <a:bodyPr/>
          <a:lstStyle/>
          <a:p>
            <a:r>
              <a:rPr lang="en-US" dirty="0"/>
              <a:t>Flow chart</a:t>
            </a:r>
            <a:endParaRPr lang="en-IN" dirty="0"/>
          </a:p>
        </p:txBody>
      </p:sp>
      <p:pic>
        <p:nvPicPr>
          <p:cNvPr id="5" name="Content Placeholder 4">
            <a:extLst>
              <a:ext uri="{FF2B5EF4-FFF2-40B4-BE49-F238E27FC236}">
                <a16:creationId xmlns:a16="http://schemas.microsoft.com/office/drawing/2014/main" id="{4775FE16-057E-7054-D933-5ECA80A307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5201" y="853647"/>
            <a:ext cx="4041246" cy="6061870"/>
          </a:xfrm>
        </p:spPr>
      </p:pic>
    </p:spTree>
    <p:extLst>
      <p:ext uri="{BB962C8B-B14F-4D97-AF65-F5344CB8AC3E}">
        <p14:creationId xmlns:p14="http://schemas.microsoft.com/office/powerpoint/2010/main" val="22152472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A339-DCF0-3159-B668-BFD1A10D256C}"/>
              </a:ext>
            </a:extLst>
          </p:cNvPr>
          <p:cNvSpPr>
            <a:spLocks noGrp="1"/>
          </p:cNvSpPr>
          <p:nvPr>
            <p:ph type="title"/>
          </p:nvPr>
        </p:nvSpPr>
        <p:spPr/>
        <p:txBody>
          <a:bodyPr/>
          <a:lstStyle/>
          <a:p>
            <a:r>
              <a:rPr lang="en-US" dirty="0"/>
              <a:t>Python source code</a:t>
            </a:r>
            <a:endParaRPr lang="en-IN" dirty="0"/>
          </a:p>
        </p:txBody>
      </p:sp>
      <p:sp>
        <p:nvSpPr>
          <p:cNvPr id="3" name="Content Placeholder 2">
            <a:extLst>
              <a:ext uri="{FF2B5EF4-FFF2-40B4-BE49-F238E27FC236}">
                <a16:creationId xmlns:a16="http://schemas.microsoft.com/office/drawing/2014/main" id="{93DDC7AE-F52F-6DBD-D677-C21C60E98F8B}"/>
              </a:ext>
            </a:extLst>
          </p:cNvPr>
          <p:cNvSpPr>
            <a:spLocks noGrp="1"/>
          </p:cNvSpPr>
          <p:nvPr>
            <p:ph idx="1"/>
          </p:nvPr>
        </p:nvSpPr>
        <p:spPr/>
        <p:txBody>
          <a:bodyPr>
            <a:normAutofit fontScale="25000" lnSpcReduction="20000"/>
          </a:bodyPr>
          <a:lstStyle/>
          <a:p>
            <a:endParaRPr lang="en-US" dirty="0"/>
          </a:p>
          <a:p>
            <a:r>
              <a:rPr lang="en-US" dirty="0"/>
              <a:t># University Hostel Room Allocation</a:t>
            </a:r>
          </a:p>
          <a:p>
            <a:endParaRPr lang="en-US" dirty="0"/>
          </a:p>
          <a:p>
            <a:r>
              <a:rPr lang="en-US" dirty="0"/>
              <a:t># Student groups: (</a:t>
            </a:r>
            <a:r>
              <a:rPr lang="en-US" dirty="0" err="1"/>
              <a:t>group_id</a:t>
            </a:r>
            <a:r>
              <a:rPr lang="en-US" dirty="0"/>
              <a:t>, </a:t>
            </a:r>
            <a:r>
              <a:rPr lang="en-US" dirty="0" err="1"/>
              <a:t>student_ids</a:t>
            </a:r>
            <a:r>
              <a:rPr lang="en-US" dirty="0"/>
              <a:t>, category)</a:t>
            </a:r>
          </a:p>
          <a:p>
            <a:r>
              <a:rPr lang="en-US" dirty="0"/>
              <a:t>groups = [</a:t>
            </a:r>
          </a:p>
          <a:p>
            <a:r>
              <a:rPr lang="en-US" dirty="0"/>
              <a:t>    ("G1", ["S101", "S102"], "UG"),</a:t>
            </a:r>
          </a:p>
          <a:p>
            <a:r>
              <a:rPr lang="en-US" dirty="0"/>
              <a:t>    ("G2", ["S103", "S104", "S105"], "UG"),</a:t>
            </a:r>
          </a:p>
          <a:p>
            <a:r>
              <a:rPr lang="en-US" dirty="0"/>
              <a:t>    ("G3", ["S106", "S107"], "PG"),</a:t>
            </a:r>
          </a:p>
          <a:p>
            <a:r>
              <a:rPr lang="en-US" dirty="0"/>
              <a:t>    ("G4", ["S108", "S109", "S110"], "PG"),</a:t>
            </a:r>
          </a:p>
          <a:p>
            <a:r>
              <a:rPr lang="en-US" dirty="0"/>
              <a:t>    ("G5", ["S102", "S111"], "UG")</a:t>
            </a:r>
          </a:p>
          <a:p>
            <a:r>
              <a:rPr lang="en-US" dirty="0"/>
              <a:t>]</a:t>
            </a:r>
          </a:p>
          <a:p>
            <a:endParaRPr lang="en-US" dirty="0"/>
          </a:p>
          <a:p>
            <a:r>
              <a:rPr lang="en-US" dirty="0"/>
              <a:t># Room details: capacity and eligible categories</a:t>
            </a:r>
          </a:p>
          <a:p>
            <a:r>
              <a:rPr lang="en-US" dirty="0"/>
              <a:t>rooms = {</a:t>
            </a:r>
          </a:p>
          <a:p>
            <a:r>
              <a:rPr lang="en-US" dirty="0"/>
              <a:t>    "Room A": {"capacity": 3, "eligible": ["UG"]},</a:t>
            </a:r>
          </a:p>
          <a:p>
            <a:r>
              <a:rPr lang="en-US" dirty="0"/>
              <a:t>    "Room B": {"capacity": 2, "eligible": ["PG"]},</a:t>
            </a:r>
          </a:p>
          <a:p>
            <a:r>
              <a:rPr lang="en-US" dirty="0"/>
              <a:t>    "Room C": {"capacity": 4, "eligible": ["UG", "PG"]}</a:t>
            </a:r>
          </a:p>
          <a:p>
            <a:r>
              <a:rPr lang="en-US" dirty="0"/>
              <a:t>}</a:t>
            </a:r>
          </a:p>
          <a:p>
            <a:endParaRPr lang="en-US" dirty="0"/>
          </a:p>
          <a:p>
            <a:r>
              <a:rPr lang="en-US" dirty="0"/>
              <a:t># Initialize allocation records</a:t>
            </a:r>
          </a:p>
          <a:p>
            <a:r>
              <a:rPr lang="en-US" dirty="0"/>
              <a:t>occupancy = {room: [] for room in rooms}</a:t>
            </a:r>
          </a:p>
          <a:p>
            <a:r>
              <a:rPr lang="en-US" dirty="0"/>
              <a:t>allocations = []</a:t>
            </a:r>
          </a:p>
          <a:p>
            <a:r>
              <a:rPr lang="en-US" dirty="0" err="1"/>
              <a:t>seen_students</a:t>
            </a:r>
            <a:r>
              <a:rPr lang="en-US" dirty="0"/>
              <a:t> = set()</a:t>
            </a:r>
          </a:p>
          <a:p>
            <a:r>
              <a:rPr lang="en-US" dirty="0" err="1"/>
              <a:t>assigned_students</a:t>
            </a:r>
            <a:r>
              <a:rPr lang="en-US" dirty="0"/>
              <a:t> = set()</a:t>
            </a:r>
          </a:p>
          <a:p>
            <a:r>
              <a:rPr lang="en-US" dirty="0" err="1"/>
              <a:t>duplicate_ids</a:t>
            </a:r>
            <a:r>
              <a:rPr lang="en-US" dirty="0"/>
              <a:t> = set()</a:t>
            </a:r>
          </a:p>
          <a:p>
            <a:endParaRPr lang="en-US" dirty="0"/>
          </a:p>
          <a:p>
            <a:r>
              <a:rPr lang="en-US" dirty="0"/>
              <a:t># Allocate each group</a:t>
            </a:r>
          </a:p>
          <a:p>
            <a:r>
              <a:rPr lang="en-US" dirty="0"/>
              <a:t>for </a:t>
            </a:r>
            <a:r>
              <a:rPr lang="en-US" dirty="0" err="1"/>
              <a:t>group_id</a:t>
            </a:r>
            <a:r>
              <a:rPr lang="en-US" dirty="0"/>
              <a:t>, students, category in groups:</a:t>
            </a:r>
          </a:p>
          <a:p>
            <a:endParaRPr lang="en-US" dirty="0"/>
          </a:p>
          <a:p>
            <a:r>
              <a:rPr lang="en-US" dirty="0"/>
              <a:t>    # Detect duplicate student IDs across groups</a:t>
            </a:r>
          </a:p>
          <a:p>
            <a:r>
              <a:rPr lang="en-US" dirty="0"/>
              <a:t>    duplicates = [</a:t>
            </a:r>
          </a:p>
          <a:p>
            <a:r>
              <a:rPr lang="en-US" dirty="0"/>
              <a:t>        student for student in students</a:t>
            </a:r>
          </a:p>
          <a:p>
            <a:r>
              <a:rPr lang="en-US" dirty="0"/>
              <a:t>        if student in </a:t>
            </a:r>
            <a:r>
              <a:rPr lang="en-US" dirty="0" err="1"/>
              <a:t>seen_students</a:t>
            </a:r>
            <a:endParaRPr lang="en-US" dirty="0"/>
          </a:p>
          <a:p>
            <a:r>
              <a:rPr lang="en-US" dirty="0"/>
              <a:t>    ]</a:t>
            </a:r>
          </a:p>
          <a:p>
            <a:endParaRPr lang="en-US" dirty="0"/>
          </a:p>
          <a:p>
            <a:r>
              <a:rPr lang="en-US" dirty="0"/>
              <a:t>    if duplicates:</a:t>
            </a:r>
          </a:p>
          <a:p>
            <a:r>
              <a:rPr lang="en-US" dirty="0"/>
              <a:t>        </a:t>
            </a:r>
            <a:r>
              <a:rPr lang="en-US" dirty="0" err="1"/>
              <a:t>duplicate_ids.update</a:t>
            </a:r>
            <a:r>
              <a:rPr lang="en-US" dirty="0"/>
              <a:t>(duplicates)</a:t>
            </a:r>
          </a:p>
          <a:p>
            <a:r>
              <a:rPr lang="en-US" dirty="0"/>
              <a:t>        print("Duplicate assignment detected:",</a:t>
            </a:r>
          </a:p>
          <a:p>
            <a:r>
              <a:rPr lang="en-US" dirty="0"/>
              <a:t>              </a:t>
            </a:r>
            <a:r>
              <a:rPr lang="en-US" dirty="0" err="1"/>
              <a:t>group_id</a:t>
            </a:r>
            <a:r>
              <a:rPr lang="en-US" dirty="0"/>
              <a:t>, duplicates)</a:t>
            </a:r>
          </a:p>
          <a:p>
            <a:r>
              <a:rPr lang="en-US" dirty="0"/>
              <a:t>        continue</a:t>
            </a:r>
          </a:p>
          <a:p>
            <a:endParaRPr lang="en-US" dirty="0"/>
          </a:p>
          <a:p>
            <a:r>
              <a:rPr lang="en-US" dirty="0"/>
              <a:t>    </a:t>
            </a:r>
            <a:r>
              <a:rPr lang="en-US" dirty="0" err="1"/>
              <a:t>seen_students.update</a:t>
            </a:r>
            <a:r>
              <a:rPr lang="en-US" dirty="0"/>
              <a:t>(students)</a:t>
            </a:r>
          </a:p>
          <a:p>
            <a:r>
              <a:rPr lang="en-US" dirty="0"/>
              <a:t>    allocated = False</a:t>
            </a:r>
          </a:p>
          <a:p>
            <a:endParaRPr lang="en-US" dirty="0"/>
          </a:p>
          <a:p>
            <a:r>
              <a:rPr lang="en-US" dirty="0"/>
              <a:t>    # Find a room satisfying eligibility and capacity</a:t>
            </a:r>
          </a:p>
          <a:p>
            <a:r>
              <a:rPr lang="en-US" dirty="0"/>
              <a:t>    for room, details in </a:t>
            </a:r>
            <a:r>
              <a:rPr lang="en-US" dirty="0" err="1"/>
              <a:t>rooms.items</a:t>
            </a:r>
            <a:r>
              <a:rPr lang="en-US" dirty="0"/>
              <a:t>():</a:t>
            </a:r>
          </a:p>
          <a:p>
            <a:r>
              <a:rPr lang="en-US" dirty="0"/>
              <a:t>        available = (</a:t>
            </a:r>
          </a:p>
          <a:p>
            <a:r>
              <a:rPr lang="en-US" dirty="0"/>
              <a:t>            details["capacity"] - </a:t>
            </a:r>
            <a:r>
              <a:rPr lang="en-US" dirty="0" err="1"/>
              <a:t>len</a:t>
            </a:r>
            <a:r>
              <a:rPr lang="en-US" dirty="0"/>
              <a:t>(occupancy[room])</a:t>
            </a:r>
          </a:p>
          <a:p>
            <a:r>
              <a:rPr lang="en-US" dirty="0"/>
              <a:t>        )</a:t>
            </a:r>
          </a:p>
          <a:p>
            <a:endParaRPr lang="en-US" dirty="0"/>
          </a:p>
          <a:p>
            <a:r>
              <a:rPr lang="en-US" dirty="0"/>
              <a:t>        if (category in details["eligible"]</a:t>
            </a:r>
          </a:p>
          <a:p>
            <a:r>
              <a:rPr lang="en-US" dirty="0"/>
              <a:t>                and </a:t>
            </a:r>
            <a:r>
              <a:rPr lang="en-US" dirty="0" err="1"/>
              <a:t>len</a:t>
            </a:r>
            <a:r>
              <a:rPr lang="en-US" dirty="0"/>
              <a:t>(students) &lt;= available):</a:t>
            </a:r>
          </a:p>
          <a:p>
            <a:endParaRPr lang="en-US" dirty="0"/>
          </a:p>
          <a:p>
            <a:r>
              <a:rPr lang="en-US" dirty="0"/>
              <a:t>            occupancy[room].extend(students)</a:t>
            </a:r>
          </a:p>
          <a:p>
            <a:r>
              <a:rPr lang="en-US" dirty="0"/>
              <a:t>            </a:t>
            </a:r>
            <a:r>
              <a:rPr lang="en-US" dirty="0" err="1"/>
              <a:t>assigned_students.update</a:t>
            </a:r>
            <a:r>
              <a:rPr lang="en-US" dirty="0"/>
              <a:t>(students)</a:t>
            </a:r>
          </a:p>
          <a:p>
            <a:endParaRPr lang="en-US" dirty="0"/>
          </a:p>
          <a:p>
            <a:r>
              <a:rPr lang="en-US" dirty="0"/>
              <a:t>            </a:t>
            </a:r>
            <a:r>
              <a:rPr lang="en-US" dirty="0" err="1"/>
              <a:t>allocations.append</a:t>
            </a:r>
            <a:r>
              <a:rPr lang="en-US" dirty="0"/>
              <a:t>(</a:t>
            </a:r>
          </a:p>
          <a:p>
            <a:r>
              <a:rPr lang="en-US" dirty="0"/>
              <a:t>                (</a:t>
            </a:r>
            <a:r>
              <a:rPr lang="en-US" dirty="0" err="1"/>
              <a:t>group_id</a:t>
            </a:r>
            <a:r>
              <a:rPr lang="en-US" dirty="0"/>
              <a:t>, room, students)</a:t>
            </a:r>
          </a:p>
          <a:p>
            <a:r>
              <a:rPr lang="en-US" dirty="0"/>
              <a:t>            )</a:t>
            </a:r>
          </a:p>
          <a:p>
            <a:endParaRPr lang="en-US" dirty="0"/>
          </a:p>
          <a:p>
            <a:r>
              <a:rPr lang="en-US" dirty="0"/>
              <a:t>            print(</a:t>
            </a:r>
            <a:r>
              <a:rPr lang="en-US" dirty="0" err="1"/>
              <a:t>group_id</a:t>
            </a:r>
            <a:r>
              <a:rPr lang="en-US" dirty="0"/>
              <a:t>, "allocated to", room)</a:t>
            </a:r>
          </a:p>
          <a:p>
            <a:r>
              <a:rPr lang="en-US" dirty="0"/>
              <a:t>            allocated = True</a:t>
            </a:r>
          </a:p>
          <a:p>
            <a:r>
              <a:rPr lang="en-US" dirty="0"/>
              <a:t>            break</a:t>
            </a:r>
          </a:p>
          <a:p>
            <a:endParaRPr lang="en-US" dirty="0"/>
          </a:p>
          <a:p>
            <a:r>
              <a:rPr lang="en-US" dirty="0"/>
              <a:t>    if not allocated:</a:t>
            </a:r>
          </a:p>
          <a:p>
            <a:r>
              <a:rPr lang="en-US" dirty="0"/>
              <a:t>        print(</a:t>
            </a:r>
            <a:r>
              <a:rPr lang="en-US" dirty="0" err="1"/>
              <a:t>group_id</a:t>
            </a:r>
            <a:r>
              <a:rPr lang="en-US" dirty="0"/>
              <a:t>, "could not be allocated")</a:t>
            </a:r>
          </a:p>
          <a:p>
            <a:endParaRPr lang="en-US" dirty="0"/>
          </a:p>
          <a:p>
            <a:r>
              <a:rPr lang="en-US" dirty="0"/>
              <a:t># Display final room allocations</a:t>
            </a:r>
          </a:p>
          <a:p>
            <a:r>
              <a:rPr lang="en-US" dirty="0"/>
              <a:t>print("\n--- FINAL ROOM ALLOCATION ---")</a:t>
            </a:r>
          </a:p>
          <a:p>
            <a:endParaRPr lang="en-US" dirty="0"/>
          </a:p>
          <a:p>
            <a:r>
              <a:rPr lang="en-US" dirty="0"/>
              <a:t>for room, students in </a:t>
            </a:r>
            <a:r>
              <a:rPr lang="en-US" dirty="0" err="1"/>
              <a:t>occupancy.items</a:t>
            </a:r>
            <a:r>
              <a:rPr lang="en-US" dirty="0"/>
              <a:t>():</a:t>
            </a:r>
          </a:p>
          <a:p>
            <a:r>
              <a:rPr lang="en-US" dirty="0"/>
              <a:t>    print(room, ":", students)</a:t>
            </a:r>
          </a:p>
          <a:p>
            <a:r>
              <a:rPr lang="en-US" dirty="0"/>
              <a:t>    print("Occupied:", </a:t>
            </a:r>
            <a:r>
              <a:rPr lang="en-US" dirty="0" err="1"/>
              <a:t>len</a:t>
            </a:r>
            <a:r>
              <a:rPr lang="en-US" dirty="0"/>
              <a:t>(students),</a:t>
            </a:r>
          </a:p>
          <a:p>
            <a:r>
              <a:rPr lang="en-US" dirty="0"/>
              <a:t>          "/", rooms[room]["capacity"])</a:t>
            </a:r>
          </a:p>
          <a:p>
            <a:endParaRPr lang="en-US" dirty="0"/>
          </a:p>
          <a:p>
            <a:r>
              <a:rPr lang="en-US" dirty="0"/>
              <a:t># Display duplicate IDs</a:t>
            </a:r>
          </a:p>
          <a:p>
            <a:r>
              <a:rPr lang="en-US" dirty="0"/>
              <a:t>print("\n--- DUPLICATE ASSIGNMENTS ---")</a:t>
            </a:r>
          </a:p>
          <a:p>
            <a:endParaRPr lang="en-US" dirty="0"/>
          </a:p>
          <a:p>
            <a:r>
              <a:rPr lang="en-US" dirty="0"/>
              <a:t>if </a:t>
            </a:r>
            <a:r>
              <a:rPr lang="en-US" dirty="0" err="1"/>
              <a:t>duplicate_ids</a:t>
            </a:r>
            <a:r>
              <a:rPr lang="en-US" dirty="0"/>
              <a:t>:</a:t>
            </a:r>
          </a:p>
          <a:p>
            <a:r>
              <a:rPr lang="en-US" dirty="0"/>
              <a:t>    for student in sorted(</a:t>
            </a:r>
            <a:r>
              <a:rPr lang="en-US" dirty="0" err="1"/>
              <a:t>duplicate_ids</a:t>
            </a:r>
            <a:r>
              <a:rPr lang="en-US" dirty="0"/>
              <a:t>):</a:t>
            </a:r>
          </a:p>
          <a:p>
            <a:r>
              <a:rPr lang="en-US" dirty="0"/>
              <a:t>        print("Duplicate student ID:", student)</a:t>
            </a:r>
          </a:p>
          <a:p>
            <a:r>
              <a:rPr lang="en-US" dirty="0"/>
              <a:t>else:</a:t>
            </a:r>
          </a:p>
          <a:p>
            <a:r>
              <a:rPr lang="en-US" dirty="0"/>
              <a:t>    print("No duplicates detected.")</a:t>
            </a:r>
          </a:p>
          <a:p>
            <a:endParaRPr lang="en-US" dirty="0"/>
          </a:p>
          <a:p>
            <a:r>
              <a:rPr lang="en-US" dirty="0"/>
              <a:t># Calculate unallocated demand using unique student IDs</a:t>
            </a:r>
          </a:p>
          <a:p>
            <a:r>
              <a:rPr lang="en-US" dirty="0" err="1"/>
              <a:t>all_students</a:t>
            </a:r>
            <a:r>
              <a:rPr lang="en-US" dirty="0"/>
              <a:t> = {</a:t>
            </a:r>
          </a:p>
          <a:p>
            <a:r>
              <a:rPr lang="en-US" dirty="0"/>
              <a:t>    student</a:t>
            </a:r>
          </a:p>
          <a:p>
            <a:r>
              <a:rPr lang="en-US" dirty="0"/>
              <a:t>    for </a:t>
            </a:r>
            <a:r>
              <a:rPr lang="en-US" dirty="0" err="1"/>
              <a:t>group_id</a:t>
            </a:r>
            <a:r>
              <a:rPr lang="en-US" dirty="0"/>
              <a:t>, students, category in groups</a:t>
            </a:r>
          </a:p>
          <a:p>
            <a:r>
              <a:rPr lang="en-US" dirty="0"/>
              <a:t>    for student in students</a:t>
            </a:r>
          </a:p>
          <a:p>
            <a:r>
              <a:rPr lang="en-US" dirty="0"/>
              <a:t>}</a:t>
            </a:r>
          </a:p>
          <a:p>
            <a:endParaRPr lang="en-US" dirty="0"/>
          </a:p>
          <a:p>
            <a:r>
              <a:rPr lang="en-US" dirty="0"/>
              <a:t>unallocated = </a:t>
            </a:r>
            <a:r>
              <a:rPr lang="en-US" dirty="0" err="1"/>
              <a:t>all_students</a:t>
            </a:r>
            <a:r>
              <a:rPr lang="en-US" dirty="0"/>
              <a:t> - </a:t>
            </a:r>
            <a:r>
              <a:rPr lang="en-US" dirty="0" err="1"/>
              <a:t>assigned_students</a:t>
            </a:r>
            <a:endParaRPr lang="en-US" dirty="0"/>
          </a:p>
          <a:p>
            <a:endParaRPr lang="en-US" dirty="0"/>
          </a:p>
          <a:p>
            <a:r>
              <a:rPr lang="en-US" dirty="0"/>
              <a:t>print("\n--- UNALLOCATED STUDENTS ---")</a:t>
            </a:r>
          </a:p>
          <a:p>
            <a:r>
              <a:rPr lang="en-US" dirty="0"/>
              <a:t>print(sorted(unallocated))</a:t>
            </a:r>
          </a:p>
          <a:p>
            <a:r>
              <a:rPr lang="en-US" dirty="0"/>
              <a:t>print("Unallocated demand:", </a:t>
            </a:r>
            <a:r>
              <a:rPr lang="en-US" dirty="0" err="1"/>
              <a:t>len</a:t>
            </a:r>
            <a:r>
              <a:rPr lang="en-US" dirty="0"/>
              <a:t>(unallocated))</a:t>
            </a:r>
          </a:p>
          <a:p>
            <a:r>
              <a:rPr lang="en-US" dirty="0"/>
              <a:t>print("Allocated students:", </a:t>
            </a:r>
            <a:r>
              <a:rPr lang="en-US" dirty="0" err="1"/>
              <a:t>len</a:t>
            </a:r>
            <a:r>
              <a:rPr lang="en-US" dirty="0"/>
              <a:t>(</a:t>
            </a:r>
            <a:r>
              <a:rPr lang="en-US" dirty="0" err="1"/>
              <a:t>assigned_students</a:t>
            </a:r>
            <a:r>
              <a:rPr lang="en-US" dirty="0"/>
              <a:t>))</a:t>
            </a:r>
          </a:p>
          <a:p>
            <a:r>
              <a:rPr lang="en-US" dirty="0"/>
              <a:t>print("Total unique students:", </a:t>
            </a:r>
            <a:r>
              <a:rPr lang="en-US" dirty="0" err="1"/>
              <a:t>len</a:t>
            </a:r>
            <a:r>
              <a:rPr lang="en-US" dirty="0"/>
              <a:t>(</a:t>
            </a:r>
            <a:r>
              <a:rPr lang="en-US" dirty="0" err="1"/>
              <a:t>all_students</a:t>
            </a:r>
            <a:r>
              <a:rPr lang="en-US" dirty="0"/>
              <a:t>))</a:t>
            </a:r>
          </a:p>
          <a:p>
            <a:endParaRPr lang="en-US" dirty="0"/>
          </a:p>
          <a:p>
            <a:r>
              <a:rPr lang="en-US" dirty="0"/>
              <a:t>print("\</a:t>
            </a:r>
            <a:r>
              <a:rPr lang="en-US" dirty="0" err="1"/>
              <a:t>nHostel</a:t>
            </a:r>
            <a:r>
              <a:rPr lang="en-US" dirty="0"/>
              <a:t> allocation analysis completed.")</a:t>
            </a:r>
          </a:p>
          <a:p>
            <a:endParaRPr lang="en-IN" dirty="0"/>
          </a:p>
        </p:txBody>
      </p:sp>
    </p:spTree>
    <p:extLst>
      <p:ext uri="{BB962C8B-B14F-4D97-AF65-F5344CB8AC3E}">
        <p14:creationId xmlns:p14="http://schemas.microsoft.com/office/powerpoint/2010/main" val="4538234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3B345-EEDF-F96A-AD86-30644DA0F2B8}"/>
              </a:ext>
            </a:extLst>
          </p:cNvPr>
          <p:cNvSpPr>
            <a:spLocks noGrp="1"/>
          </p:cNvSpPr>
          <p:nvPr>
            <p:ph type="title"/>
          </p:nvPr>
        </p:nvSpPr>
        <p:spPr/>
        <p:txBody>
          <a:bodyPr/>
          <a:lstStyle/>
          <a:p>
            <a:r>
              <a:rPr lang="en-IN" dirty="0"/>
              <a:t>Test Cases</a:t>
            </a:r>
          </a:p>
        </p:txBody>
      </p:sp>
      <p:graphicFrame>
        <p:nvGraphicFramePr>
          <p:cNvPr id="4" name="Content Placeholder 3">
            <a:extLst>
              <a:ext uri="{FF2B5EF4-FFF2-40B4-BE49-F238E27FC236}">
                <a16:creationId xmlns:a16="http://schemas.microsoft.com/office/drawing/2014/main" id="{1B9C6D80-B065-37B2-D2CF-60D56E91CC06}"/>
              </a:ext>
            </a:extLst>
          </p:cNvPr>
          <p:cNvGraphicFramePr>
            <a:graphicFrameLocks noGrp="1"/>
          </p:cNvGraphicFramePr>
          <p:nvPr>
            <p:ph idx="1"/>
            <p:extLst>
              <p:ext uri="{D42A27DB-BD31-4B8C-83A1-F6EECF244321}">
                <p14:modId xmlns:p14="http://schemas.microsoft.com/office/powerpoint/2010/main" val="4185560109"/>
              </p:ext>
            </p:extLst>
          </p:nvPr>
        </p:nvGraphicFramePr>
        <p:xfrm>
          <a:off x="211015" y="1441938"/>
          <a:ext cx="11142786" cy="5205049"/>
        </p:xfrm>
        <a:graphic>
          <a:graphicData uri="http://schemas.openxmlformats.org/drawingml/2006/table">
            <a:tbl>
              <a:tblPr/>
              <a:tblGrid>
                <a:gridCol w="3714262">
                  <a:extLst>
                    <a:ext uri="{9D8B030D-6E8A-4147-A177-3AD203B41FA5}">
                      <a16:colId xmlns:a16="http://schemas.microsoft.com/office/drawing/2014/main" val="534444090"/>
                    </a:ext>
                  </a:extLst>
                </a:gridCol>
                <a:gridCol w="3714262">
                  <a:extLst>
                    <a:ext uri="{9D8B030D-6E8A-4147-A177-3AD203B41FA5}">
                      <a16:colId xmlns:a16="http://schemas.microsoft.com/office/drawing/2014/main" val="2651012845"/>
                    </a:ext>
                  </a:extLst>
                </a:gridCol>
                <a:gridCol w="3714262">
                  <a:extLst>
                    <a:ext uri="{9D8B030D-6E8A-4147-A177-3AD203B41FA5}">
                      <a16:colId xmlns:a16="http://schemas.microsoft.com/office/drawing/2014/main" val="4151451942"/>
                    </a:ext>
                  </a:extLst>
                </a:gridCol>
              </a:tblGrid>
              <a:tr h="612359">
                <a:tc>
                  <a:txBody>
                    <a:bodyPr/>
                    <a:lstStyle/>
                    <a:p>
                      <a:pPr>
                        <a:buNone/>
                      </a:pPr>
                      <a:r>
                        <a:rPr lang="en-IN"/>
                        <a:t>Test case</a:t>
                      </a:r>
                    </a:p>
                  </a:txBody>
                  <a:tcPr anchor="ctr">
                    <a:lnL>
                      <a:noFill/>
                    </a:lnL>
                    <a:lnR>
                      <a:noFill/>
                    </a:lnR>
                    <a:lnT>
                      <a:noFill/>
                    </a:lnT>
                    <a:lnB>
                      <a:noFill/>
                    </a:lnB>
                    <a:noFill/>
                  </a:tcPr>
                </a:tc>
                <a:tc>
                  <a:txBody>
                    <a:bodyPr/>
                    <a:lstStyle/>
                    <a:p>
                      <a:pPr>
                        <a:buNone/>
                      </a:pPr>
                      <a:r>
                        <a:rPr lang="en-IN"/>
                        <a:t>Input condition</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2498148063"/>
                  </a:ext>
                </a:extLst>
              </a:tr>
              <a:tr h="612359">
                <a:tc>
                  <a:txBody>
                    <a:bodyPr/>
                    <a:lstStyle/>
                    <a:p>
                      <a:pPr>
                        <a:buNone/>
                      </a:pPr>
                      <a:r>
                        <a:rPr lang="en-IN"/>
                        <a:t>1</a:t>
                      </a:r>
                    </a:p>
                  </a:txBody>
                  <a:tcPr anchor="ctr">
                    <a:lnL>
                      <a:noFill/>
                    </a:lnL>
                    <a:lnR>
                      <a:noFill/>
                    </a:lnR>
                    <a:lnT>
                      <a:noFill/>
                    </a:lnT>
                    <a:lnB>
                      <a:noFill/>
                    </a:lnB>
                    <a:noFill/>
                  </a:tcPr>
                </a:tc>
                <a:tc>
                  <a:txBody>
                    <a:bodyPr/>
                    <a:lstStyle/>
                    <a:p>
                      <a:pPr>
                        <a:buNone/>
                      </a:pPr>
                      <a:r>
                        <a:rPr lang="en-US"/>
                        <a:t>Group fits in an eligible room</a:t>
                      </a:r>
                    </a:p>
                  </a:txBody>
                  <a:tcPr anchor="ctr">
                    <a:lnL>
                      <a:noFill/>
                    </a:lnL>
                    <a:lnR>
                      <a:noFill/>
                    </a:lnR>
                    <a:lnT>
                      <a:noFill/>
                    </a:lnT>
                    <a:lnB>
                      <a:noFill/>
                    </a:lnB>
                    <a:noFill/>
                  </a:tcPr>
                </a:tc>
                <a:tc>
                  <a:txBody>
                    <a:bodyPr/>
                    <a:lstStyle/>
                    <a:p>
                      <a:pPr>
                        <a:buNone/>
                      </a:pPr>
                      <a:r>
                        <a:rPr lang="en-IN"/>
                        <a:t>Group allocated successfully</a:t>
                      </a:r>
                    </a:p>
                  </a:txBody>
                  <a:tcPr anchor="ctr">
                    <a:lnL>
                      <a:noFill/>
                    </a:lnL>
                    <a:lnR>
                      <a:noFill/>
                    </a:lnR>
                    <a:lnT>
                      <a:noFill/>
                    </a:lnT>
                    <a:lnB>
                      <a:noFill/>
                    </a:lnB>
                    <a:noFill/>
                  </a:tcPr>
                </a:tc>
                <a:extLst>
                  <a:ext uri="{0D108BD9-81ED-4DB2-BD59-A6C34878D82A}">
                    <a16:rowId xmlns:a16="http://schemas.microsoft.com/office/drawing/2014/main" val="198520417"/>
                  </a:ext>
                </a:extLst>
              </a:tr>
              <a:tr h="1071627">
                <a:tc>
                  <a:txBody>
                    <a:bodyPr/>
                    <a:lstStyle/>
                    <a:p>
                      <a:pPr>
                        <a:buNone/>
                      </a:pPr>
                      <a:r>
                        <a:rPr lang="en-IN"/>
                        <a:t>2</a:t>
                      </a:r>
                    </a:p>
                  </a:txBody>
                  <a:tcPr anchor="ctr">
                    <a:lnL>
                      <a:noFill/>
                    </a:lnL>
                    <a:lnR>
                      <a:noFill/>
                    </a:lnR>
                    <a:lnT>
                      <a:noFill/>
                    </a:lnT>
                    <a:lnB>
                      <a:noFill/>
                    </a:lnB>
                    <a:noFill/>
                  </a:tcPr>
                </a:tc>
                <a:tc>
                  <a:txBody>
                    <a:bodyPr/>
                    <a:lstStyle/>
                    <a:p>
                      <a:pPr>
                        <a:buNone/>
                      </a:pPr>
                      <a:r>
                        <a:rPr lang="en-US"/>
                        <a:t>Group exceeds available room capacity</a:t>
                      </a:r>
                    </a:p>
                  </a:txBody>
                  <a:tcPr anchor="ctr">
                    <a:lnL>
                      <a:noFill/>
                    </a:lnL>
                    <a:lnR>
                      <a:noFill/>
                    </a:lnR>
                    <a:lnT>
                      <a:noFill/>
                    </a:lnT>
                    <a:lnB>
                      <a:noFill/>
                    </a:lnB>
                    <a:noFill/>
                  </a:tcPr>
                </a:tc>
                <a:tc>
                  <a:txBody>
                    <a:bodyPr/>
                    <a:lstStyle/>
                    <a:p>
                      <a:pPr>
                        <a:buNone/>
                      </a:pPr>
                      <a:r>
                        <a:rPr lang="en-IN"/>
                        <a:t>Group remains unallocated</a:t>
                      </a:r>
                    </a:p>
                  </a:txBody>
                  <a:tcPr anchor="ctr">
                    <a:lnL>
                      <a:noFill/>
                    </a:lnL>
                    <a:lnR>
                      <a:noFill/>
                    </a:lnR>
                    <a:lnT>
                      <a:noFill/>
                    </a:lnT>
                    <a:lnB>
                      <a:noFill/>
                    </a:lnB>
                    <a:noFill/>
                  </a:tcPr>
                </a:tc>
                <a:extLst>
                  <a:ext uri="{0D108BD9-81ED-4DB2-BD59-A6C34878D82A}">
                    <a16:rowId xmlns:a16="http://schemas.microsoft.com/office/drawing/2014/main" val="3237839194"/>
                  </a:ext>
                </a:extLst>
              </a:tr>
              <a:tr h="612359">
                <a:tc>
                  <a:txBody>
                    <a:bodyPr/>
                    <a:lstStyle/>
                    <a:p>
                      <a:pPr>
                        <a:buNone/>
                      </a:pPr>
                      <a:r>
                        <a:rPr lang="en-IN"/>
                        <a:t>3</a:t>
                      </a:r>
                    </a:p>
                  </a:txBody>
                  <a:tcPr anchor="ctr">
                    <a:lnL>
                      <a:noFill/>
                    </a:lnL>
                    <a:lnR>
                      <a:noFill/>
                    </a:lnR>
                    <a:lnT>
                      <a:noFill/>
                    </a:lnT>
                    <a:lnB>
                      <a:noFill/>
                    </a:lnB>
                    <a:noFill/>
                  </a:tcPr>
                </a:tc>
                <a:tc>
                  <a:txBody>
                    <a:bodyPr/>
                    <a:lstStyle/>
                    <a:p>
                      <a:pPr>
                        <a:buNone/>
                      </a:pPr>
                      <a:r>
                        <a:rPr lang="en-US"/>
                        <a:t>Room is not eligible for the group</a:t>
                      </a:r>
                    </a:p>
                  </a:txBody>
                  <a:tcPr anchor="ctr">
                    <a:lnL>
                      <a:noFill/>
                    </a:lnL>
                    <a:lnR>
                      <a:noFill/>
                    </a:lnR>
                    <a:lnT>
                      <a:noFill/>
                    </a:lnT>
                    <a:lnB>
                      <a:noFill/>
                    </a:lnB>
                    <a:noFill/>
                  </a:tcPr>
                </a:tc>
                <a:tc>
                  <a:txBody>
                    <a:bodyPr/>
                    <a:lstStyle/>
                    <a:p>
                      <a:pPr>
                        <a:buNone/>
                      </a:pPr>
                      <a:r>
                        <a:rPr lang="en-IN"/>
                        <a:t>Room is not selected</a:t>
                      </a:r>
                    </a:p>
                  </a:txBody>
                  <a:tcPr anchor="ctr">
                    <a:lnL>
                      <a:noFill/>
                    </a:lnL>
                    <a:lnR>
                      <a:noFill/>
                    </a:lnR>
                    <a:lnT>
                      <a:noFill/>
                    </a:lnT>
                    <a:lnB>
                      <a:noFill/>
                    </a:lnB>
                    <a:noFill/>
                  </a:tcPr>
                </a:tc>
                <a:extLst>
                  <a:ext uri="{0D108BD9-81ED-4DB2-BD59-A6C34878D82A}">
                    <a16:rowId xmlns:a16="http://schemas.microsoft.com/office/drawing/2014/main" val="1066168872"/>
                  </a:ext>
                </a:extLst>
              </a:tr>
              <a:tr h="1071627">
                <a:tc>
                  <a:txBody>
                    <a:bodyPr/>
                    <a:lstStyle/>
                    <a:p>
                      <a:pPr>
                        <a:buNone/>
                      </a:pPr>
                      <a:r>
                        <a:rPr lang="en-IN"/>
                        <a:t>4</a:t>
                      </a:r>
                    </a:p>
                  </a:txBody>
                  <a:tcPr anchor="ctr">
                    <a:lnL>
                      <a:noFill/>
                    </a:lnL>
                    <a:lnR>
                      <a:noFill/>
                    </a:lnR>
                    <a:lnT>
                      <a:noFill/>
                    </a:lnT>
                    <a:lnB>
                      <a:noFill/>
                    </a:lnB>
                    <a:noFill/>
                  </a:tcPr>
                </a:tc>
                <a:tc>
                  <a:txBody>
                    <a:bodyPr/>
                    <a:lstStyle/>
                    <a:p>
                      <a:pPr>
                        <a:buNone/>
                      </a:pPr>
                      <a:r>
                        <a:rPr lang="en-US"/>
                        <a:t>Student ID appears in multiple groups</a:t>
                      </a:r>
                    </a:p>
                  </a:txBody>
                  <a:tcPr anchor="ctr">
                    <a:lnL>
                      <a:noFill/>
                    </a:lnL>
                    <a:lnR>
                      <a:noFill/>
                    </a:lnR>
                    <a:lnT>
                      <a:noFill/>
                    </a:lnT>
                    <a:lnB>
                      <a:noFill/>
                    </a:lnB>
                    <a:noFill/>
                  </a:tcPr>
                </a:tc>
                <a:tc>
                  <a:txBody>
                    <a:bodyPr/>
                    <a:lstStyle/>
                    <a:p>
                      <a:pPr>
                        <a:buNone/>
                      </a:pPr>
                      <a:r>
                        <a:rPr lang="en-IN"/>
                        <a:t>Duplicate assignment detected</a:t>
                      </a:r>
                    </a:p>
                  </a:txBody>
                  <a:tcPr anchor="ctr">
                    <a:lnL>
                      <a:noFill/>
                    </a:lnL>
                    <a:lnR>
                      <a:noFill/>
                    </a:lnR>
                    <a:lnT>
                      <a:noFill/>
                    </a:lnT>
                    <a:lnB>
                      <a:noFill/>
                    </a:lnB>
                    <a:noFill/>
                  </a:tcPr>
                </a:tc>
                <a:extLst>
                  <a:ext uri="{0D108BD9-81ED-4DB2-BD59-A6C34878D82A}">
                    <a16:rowId xmlns:a16="http://schemas.microsoft.com/office/drawing/2014/main" val="946542045"/>
                  </a:ext>
                </a:extLst>
              </a:tr>
              <a:tr h="612359">
                <a:tc>
                  <a:txBody>
                    <a:bodyPr/>
                    <a:lstStyle/>
                    <a:p>
                      <a:pPr>
                        <a:buNone/>
                      </a:pPr>
                      <a:r>
                        <a:rPr lang="en-IN"/>
                        <a:t>5</a:t>
                      </a:r>
                    </a:p>
                  </a:txBody>
                  <a:tcPr anchor="ctr">
                    <a:lnL>
                      <a:noFill/>
                    </a:lnL>
                    <a:lnR>
                      <a:noFill/>
                    </a:lnR>
                    <a:lnT>
                      <a:noFill/>
                    </a:lnT>
                    <a:lnB>
                      <a:noFill/>
                    </a:lnB>
                    <a:noFill/>
                  </a:tcPr>
                </a:tc>
                <a:tc>
                  <a:txBody>
                    <a:bodyPr/>
                    <a:lstStyle/>
                    <a:p>
                      <a:pPr>
                        <a:buNone/>
                      </a:pPr>
                      <a:r>
                        <a:rPr lang="en-IN"/>
                        <a:t>All rooms are full</a:t>
                      </a:r>
                    </a:p>
                  </a:txBody>
                  <a:tcPr anchor="ctr">
                    <a:lnL>
                      <a:noFill/>
                    </a:lnL>
                    <a:lnR>
                      <a:noFill/>
                    </a:lnR>
                    <a:lnT>
                      <a:noFill/>
                    </a:lnT>
                    <a:lnB>
                      <a:noFill/>
                    </a:lnB>
                    <a:noFill/>
                  </a:tcPr>
                </a:tc>
                <a:tc>
                  <a:txBody>
                    <a:bodyPr/>
                    <a:lstStyle/>
                    <a:p>
                      <a:pPr>
                        <a:buNone/>
                      </a:pPr>
                      <a:r>
                        <a:rPr lang="en-IN"/>
                        <a:t>Remaining demand is reported</a:t>
                      </a:r>
                    </a:p>
                  </a:txBody>
                  <a:tcPr anchor="ctr">
                    <a:lnL>
                      <a:noFill/>
                    </a:lnL>
                    <a:lnR>
                      <a:noFill/>
                    </a:lnR>
                    <a:lnT>
                      <a:noFill/>
                    </a:lnT>
                    <a:lnB>
                      <a:noFill/>
                    </a:lnB>
                    <a:noFill/>
                  </a:tcPr>
                </a:tc>
                <a:extLst>
                  <a:ext uri="{0D108BD9-81ED-4DB2-BD59-A6C34878D82A}">
                    <a16:rowId xmlns:a16="http://schemas.microsoft.com/office/drawing/2014/main" val="2760780271"/>
                  </a:ext>
                </a:extLst>
              </a:tr>
              <a:tr h="612359">
                <a:tc>
                  <a:txBody>
                    <a:bodyPr/>
                    <a:lstStyle/>
                    <a:p>
                      <a:pPr>
                        <a:buNone/>
                      </a:pPr>
                      <a:r>
                        <a:rPr lang="en-IN"/>
                        <a:t>6</a:t>
                      </a:r>
                    </a:p>
                  </a:txBody>
                  <a:tcPr anchor="ctr">
                    <a:lnL>
                      <a:noFill/>
                    </a:lnL>
                    <a:lnR>
                      <a:noFill/>
                    </a:lnR>
                    <a:lnT>
                      <a:noFill/>
                    </a:lnT>
                    <a:lnB>
                      <a:noFill/>
                    </a:lnB>
                    <a:noFill/>
                  </a:tcPr>
                </a:tc>
                <a:tc>
                  <a:txBody>
                    <a:bodyPr/>
                    <a:lstStyle/>
                    <a:p>
                      <a:pPr>
                        <a:buNone/>
                      </a:pPr>
                      <a:r>
                        <a:rPr lang="en-US"/>
                        <a:t>All groups fit eligible rooms</a:t>
                      </a:r>
                    </a:p>
                  </a:txBody>
                  <a:tcPr anchor="ctr">
                    <a:lnL>
                      <a:noFill/>
                    </a:lnL>
                    <a:lnR>
                      <a:noFill/>
                    </a:lnR>
                    <a:lnT>
                      <a:noFill/>
                    </a:lnT>
                    <a:lnB>
                      <a:noFill/>
                    </a:lnB>
                    <a:noFill/>
                  </a:tcPr>
                </a:tc>
                <a:tc>
                  <a:txBody>
                    <a:bodyPr/>
                    <a:lstStyle/>
                    <a:p>
                      <a:pPr>
                        <a:buNone/>
                      </a:pPr>
                      <a:r>
                        <a:rPr lang="en-IN" dirty="0"/>
                        <a:t>All students are allocated</a:t>
                      </a:r>
                    </a:p>
                  </a:txBody>
                  <a:tcPr anchor="ctr">
                    <a:lnL>
                      <a:noFill/>
                    </a:lnL>
                    <a:lnR>
                      <a:noFill/>
                    </a:lnR>
                    <a:lnT>
                      <a:noFill/>
                    </a:lnT>
                    <a:lnB>
                      <a:noFill/>
                    </a:lnB>
                    <a:noFill/>
                  </a:tcPr>
                </a:tc>
                <a:extLst>
                  <a:ext uri="{0D108BD9-81ED-4DB2-BD59-A6C34878D82A}">
                    <a16:rowId xmlns:a16="http://schemas.microsoft.com/office/drawing/2014/main" val="2258366299"/>
                  </a:ext>
                </a:extLst>
              </a:tr>
            </a:tbl>
          </a:graphicData>
        </a:graphic>
      </p:graphicFrame>
    </p:spTree>
    <p:extLst>
      <p:ext uri="{BB962C8B-B14F-4D97-AF65-F5344CB8AC3E}">
        <p14:creationId xmlns:p14="http://schemas.microsoft.com/office/powerpoint/2010/main" val="4641582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FB65-CAB7-0DCD-240C-CFEA3F2F9521}"/>
              </a:ext>
            </a:extLst>
          </p:cNvPr>
          <p:cNvSpPr>
            <a:spLocks noGrp="1"/>
          </p:cNvSpPr>
          <p:nvPr>
            <p:ph type="title"/>
          </p:nvPr>
        </p:nvSpPr>
        <p:spPr/>
        <p:txBody>
          <a:bodyPr/>
          <a:lstStyle/>
          <a:p>
            <a:r>
              <a:rPr lang="en-US" dirty="0"/>
              <a:t>Screenshots of code and output</a:t>
            </a:r>
            <a:endParaRPr lang="en-IN" dirty="0"/>
          </a:p>
        </p:txBody>
      </p:sp>
      <p:sp>
        <p:nvSpPr>
          <p:cNvPr id="3" name="Text Placeholder 2">
            <a:extLst>
              <a:ext uri="{FF2B5EF4-FFF2-40B4-BE49-F238E27FC236}">
                <a16:creationId xmlns:a16="http://schemas.microsoft.com/office/drawing/2014/main" id="{0733C100-97BD-DD4F-4B87-EA5D5152DF7F}"/>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CBC23D7E-1918-7C7D-54FA-67FB6B647F4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793631" y="2039814"/>
            <a:ext cx="2767799" cy="4462135"/>
          </a:xfrm>
        </p:spPr>
      </p:pic>
      <p:sp>
        <p:nvSpPr>
          <p:cNvPr id="5" name="Text Placeholder 4">
            <a:extLst>
              <a:ext uri="{FF2B5EF4-FFF2-40B4-BE49-F238E27FC236}">
                <a16:creationId xmlns:a16="http://schemas.microsoft.com/office/drawing/2014/main" id="{37073B57-7C22-7F81-533A-B2150E2EC2EC}"/>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8DFE84A6-0E37-599B-745C-860BB0B5F49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746269" y="2505075"/>
            <a:ext cx="4035049" cy="3684588"/>
          </a:xfrm>
        </p:spPr>
      </p:pic>
    </p:spTree>
    <p:extLst>
      <p:ext uri="{BB962C8B-B14F-4D97-AF65-F5344CB8AC3E}">
        <p14:creationId xmlns:p14="http://schemas.microsoft.com/office/powerpoint/2010/main" val="12084692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70DD-4014-EAA1-F94F-309666D1AFBB}"/>
              </a:ext>
            </a:extLst>
          </p:cNvPr>
          <p:cNvSpPr>
            <a:spLocks noGrp="1"/>
          </p:cNvSpPr>
          <p:nvPr>
            <p:ph type="title"/>
          </p:nvPr>
        </p:nvSpPr>
        <p:spPr/>
        <p:txBody>
          <a:bodyPr/>
          <a:lstStyle/>
          <a:p>
            <a:r>
              <a:rPr lang="en-IN" dirty="0"/>
              <a:t>Conclusion</a:t>
            </a:r>
          </a:p>
        </p:txBody>
      </p:sp>
      <p:sp>
        <p:nvSpPr>
          <p:cNvPr id="5" name="Content Placeholder 4">
            <a:extLst>
              <a:ext uri="{FF2B5EF4-FFF2-40B4-BE49-F238E27FC236}">
                <a16:creationId xmlns:a16="http://schemas.microsoft.com/office/drawing/2014/main" id="{A8208F5C-923F-89FB-31F2-6A154CFF8F7A}"/>
              </a:ext>
            </a:extLst>
          </p:cNvPr>
          <p:cNvSpPr>
            <a:spLocks noGrp="1"/>
          </p:cNvSpPr>
          <p:nvPr>
            <p:ph idx="1"/>
          </p:nvPr>
        </p:nvSpPr>
        <p:spPr/>
        <p:txBody>
          <a:bodyPr/>
          <a:lstStyle/>
          <a:p>
            <a:endParaRPr lang="en-IN"/>
          </a:p>
        </p:txBody>
      </p:sp>
      <p:sp>
        <p:nvSpPr>
          <p:cNvPr id="7" name="TextBox 6">
            <a:extLst>
              <a:ext uri="{FF2B5EF4-FFF2-40B4-BE49-F238E27FC236}">
                <a16:creationId xmlns:a16="http://schemas.microsoft.com/office/drawing/2014/main" id="{35E41197-CA6C-29C2-8E76-DDABC2153825}"/>
              </a:ext>
            </a:extLst>
          </p:cNvPr>
          <p:cNvSpPr txBox="1"/>
          <p:nvPr/>
        </p:nvSpPr>
        <p:spPr>
          <a:xfrm>
            <a:off x="926123" y="2523965"/>
            <a:ext cx="10427677" cy="1477328"/>
          </a:xfrm>
          <a:prstGeom prst="rect">
            <a:avLst/>
          </a:prstGeom>
          <a:noFill/>
        </p:spPr>
        <p:txBody>
          <a:bodyPr wrap="square">
            <a:spAutoFit/>
          </a:bodyPr>
          <a:lstStyle/>
          <a:p>
            <a:pPr>
              <a:buNone/>
            </a:pPr>
            <a:r>
              <a:rPr lang="en-US" dirty="0"/>
              <a:t>The University Hostel Room Allocation project demonstrates how Python can be used to allocate students to hostel rooms while satisfying capacity, eligibility, and grouping constraints.</a:t>
            </a:r>
          </a:p>
          <a:p>
            <a:pPr>
              <a:buNone/>
            </a:pPr>
            <a:r>
              <a:rPr lang="en-US" dirty="0"/>
              <a:t>The program detects duplicate student IDs, prevents room overcapacity, and calculates unallocated student demand. It demonstrates the practical application of lists, tuples, dictionaries, sets, loops, and conditional statements in solving real-world allocation problems.</a:t>
            </a:r>
          </a:p>
        </p:txBody>
      </p:sp>
    </p:spTree>
    <p:extLst>
      <p:ext uri="{BB962C8B-B14F-4D97-AF65-F5344CB8AC3E}">
        <p14:creationId xmlns:p14="http://schemas.microsoft.com/office/powerpoint/2010/main" val="667337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9193-52BB-FF99-8739-DC9CB395F906}"/>
              </a:ext>
            </a:extLst>
          </p:cNvPr>
          <p:cNvSpPr>
            <a:spLocks noGrp="1"/>
          </p:cNvSpPr>
          <p:nvPr>
            <p:ph type="ctrTitle"/>
          </p:nvPr>
        </p:nvSpPr>
        <p:spPr/>
        <p:txBody>
          <a:bodyPr/>
          <a:lstStyle/>
          <a:p>
            <a:r>
              <a:rPr lang="en-US" dirty="0"/>
              <a:t>CASE-90: Integrated Campus Energy and Water Audit</a:t>
            </a:r>
            <a:endParaRPr lang="en-IN" dirty="0"/>
          </a:p>
        </p:txBody>
      </p:sp>
      <p:sp>
        <p:nvSpPr>
          <p:cNvPr id="3" name="Subtitle 2">
            <a:extLst>
              <a:ext uri="{FF2B5EF4-FFF2-40B4-BE49-F238E27FC236}">
                <a16:creationId xmlns:a16="http://schemas.microsoft.com/office/drawing/2014/main" id="{D8733CA7-E88F-02CA-A6EE-8151FA96C238}"/>
              </a:ext>
            </a:extLst>
          </p:cNvPr>
          <p:cNvSpPr>
            <a:spLocks noGrp="1"/>
          </p:cNvSpPr>
          <p:nvPr>
            <p:ph type="subTitle" idx="1"/>
          </p:nvPr>
        </p:nvSpPr>
        <p:spPr>
          <a:xfrm>
            <a:off x="1524000" y="3602038"/>
            <a:ext cx="9554308" cy="3255962"/>
          </a:xfrm>
        </p:spPr>
        <p:txBody>
          <a:bodyPr>
            <a:normAutofit fontScale="92500" lnSpcReduction="10000"/>
          </a:bodyPr>
          <a:lstStyle/>
          <a:p>
            <a:r>
              <a:rPr lang="en-US" b="1" dirty="0"/>
              <a:t>Problem Statement</a:t>
            </a:r>
          </a:p>
          <a:p>
            <a:r>
              <a:rPr lang="en-US" dirty="0"/>
              <a:t>Educational campuses consume electricity and water across multiple buildings and over several days. Excessive consumption can increase operating costs and indicate wastage of resources.</a:t>
            </a:r>
          </a:p>
          <a:p>
            <a:r>
              <a:rPr lang="en-US" dirty="0"/>
              <a:t>The objective of this project is to develop a Python program that analyses daily electricity and water consumption across campus buildings, calculates consumption costs and percentage changes, identifies buildings with excessive consumption, and ranks buildings using a specified scoring method. The analysis helps campus administrators identify opportunities to improve resource efficiency and reduce expenses.</a:t>
            </a:r>
          </a:p>
          <a:p>
            <a:endParaRPr lang="en-IN" dirty="0"/>
          </a:p>
        </p:txBody>
      </p:sp>
    </p:spTree>
    <p:extLst>
      <p:ext uri="{BB962C8B-B14F-4D97-AF65-F5344CB8AC3E}">
        <p14:creationId xmlns:p14="http://schemas.microsoft.com/office/powerpoint/2010/main" val="5088491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E6084-AD85-0E70-1970-672154560CC8}"/>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3067F6E8-1CC3-B539-8CE4-29254919A5C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Store daily electricity and water consumption data for multiple buildings.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total and average consumption for each building.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electricity and water costs using supplied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Determine percentage changes in consumption between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buildings that exceed specified consumption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a performance score for each building.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Rank buildings according to the specified scoring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Generate a consolidated campus energy and water audit report.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buildings that may require conservation measures.</a:t>
            </a:r>
          </a:p>
        </p:txBody>
      </p:sp>
    </p:spTree>
    <p:extLst>
      <p:ext uri="{BB962C8B-B14F-4D97-AF65-F5344CB8AC3E}">
        <p14:creationId xmlns:p14="http://schemas.microsoft.com/office/powerpoint/2010/main" val="16301389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3960-69CB-8E7B-4072-A1B9FB24C7D8}"/>
              </a:ext>
            </a:extLst>
          </p:cNvPr>
          <p:cNvSpPr>
            <a:spLocks noGrp="1"/>
          </p:cNvSpPr>
          <p:nvPr>
            <p:ph type="title"/>
          </p:nvPr>
        </p:nvSpPr>
        <p:spPr/>
        <p:txBody>
          <a:bodyPr/>
          <a:lstStyle/>
          <a:p>
            <a:r>
              <a:rPr lang="en-IN" dirty="0"/>
              <a:t>Assumptions</a:t>
            </a:r>
          </a:p>
        </p:txBody>
      </p:sp>
      <p:sp>
        <p:nvSpPr>
          <p:cNvPr id="3" name="Content Placeholder 2">
            <a:extLst>
              <a:ext uri="{FF2B5EF4-FFF2-40B4-BE49-F238E27FC236}">
                <a16:creationId xmlns:a16="http://schemas.microsoft.com/office/drawing/2014/main" id="{61B81454-E18D-208D-2898-9C9EDACADA09}"/>
              </a:ext>
            </a:extLst>
          </p:cNvPr>
          <p:cNvSpPr>
            <a:spLocks noGrp="1"/>
          </p:cNvSpPr>
          <p:nvPr>
            <p:ph idx="1"/>
          </p:nvPr>
        </p:nvSpPr>
        <p:spPr/>
        <p:txBody>
          <a:bodyPr>
            <a:normAutofit fontScale="85000" lnSpcReduction="20000"/>
          </a:bodyPr>
          <a:lstStyle/>
          <a:p>
            <a:r>
              <a:rPr lang="en-US" dirty="0"/>
              <a:t>Consumption data is available for each building over multiple days.</a:t>
            </a:r>
          </a:p>
          <a:p>
            <a:r>
              <a:rPr lang="en-US" dirty="0"/>
              <a:t>Electricity consumption is measured in kilowatt-hours (kWh).</a:t>
            </a:r>
          </a:p>
          <a:p>
            <a:r>
              <a:rPr lang="en-US" dirty="0"/>
              <a:t>Water consumption is measured in </a:t>
            </a:r>
            <a:r>
              <a:rPr lang="en-US" dirty="0" err="1"/>
              <a:t>kilolitres</a:t>
            </a:r>
            <a:r>
              <a:rPr lang="en-US" dirty="0"/>
              <a:t> (</a:t>
            </a:r>
            <a:r>
              <a:rPr lang="en-US" dirty="0" err="1"/>
              <a:t>kL</a:t>
            </a:r>
            <a:r>
              <a:rPr lang="en-US" dirty="0"/>
              <a:t>).</a:t>
            </a:r>
          </a:p>
          <a:p>
            <a:r>
              <a:rPr lang="en-US" dirty="0"/>
              <a:t>Electricity and water rates are supplied as input values.</a:t>
            </a:r>
          </a:p>
          <a:p>
            <a:r>
              <a:rPr lang="en-US" dirty="0"/>
              <a:t>Percentage change is calculated by comparing consecutive days.</a:t>
            </a:r>
          </a:p>
          <a:p>
            <a:r>
              <a:rPr lang="en-US" dirty="0"/>
              <a:t>A building is flagged if its average daily consumption exceeds a predefined threshold.</a:t>
            </a:r>
          </a:p>
          <a:p>
            <a:r>
              <a:rPr lang="en-US" dirty="0"/>
              <a:t>The scoring method uses normalized electricity and water consumption relative to their respective thresholds.</a:t>
            </a:r>
          </a:p>
          <a:p>
            <a:r>
              <a:rPr lang="en-US" dirty="0"/>
              <a:t>Lower scores indicate better resource efficiency.</a:t>
            </a:r>
          </a:p>
          <a:p>
            <a:r>
              <a:rPr lang="en-US" dirty="0"/>
              <a:t>The program uses sample data for demonstration; actual campus data can be substituted.</a:t>
            </a:r>
          </a:p>
          <a:p>
            <a:endParaRPr lang="en-IN" dirty="0"/>
          </a:p>
        </p:txBody>
      </p:sp>
    </p:spTree>
    <p:extLst>
      <p:ext uri="{BB962C8B-B14F-4D97-AF65-F5344CB8AC3E}">
        <p14:creationId xmlns:p14="http://schemas.microsoft.com/office/powerpoint/2010/main" val="26842763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01A1-B20F-FE40-18BA-FE0C1CFC2895}"/>
              </a:ext>
            </a:extLst>
          </p:cNvPr>
          <p:cNvSpPr>
            <a:spLocks noGrp="1"/>
          </p:cNvSpPr>
          <p:nvPr>
            <p:ph type="title"/>
          </p:nvPr>
        </p:nvSpPr>
        <p:spPr/>
        <p:txBody>
          <a:bodyPr/>
          <a:lstStyle/>
          <a:p>
            <a:r>
              <a:rPr lang="en-IN" dirty="0"/>
              <a:t>Algorithm</a:t>
            </a:r>
          </a:p>
        </p:txBody>
      </p:sp>
      <p:sp>
        <p:nvSpPr>
          <p:cNvPr id="4" name="Rectangle 1">
            <a:extLst>
              <a:ext uri="{FF2B5EF4-FFF2-40B4-BE49-F238E27FC236}">
                <a16:creationId xmlns:a16="http://schemas.microsoft.com/office/drawing/2014/main" id="{AB5FA188-AAD6-B51A-131B-EF0D05AB9628}"/>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Start the program.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Input electricity and water consumption data for each building and 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Input electricity rates, water rates, and consumption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total and average consumption for each building.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electricity costs, water costs, and combined costs.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percentage changes between consecutive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Compare average consumption with the specified thresholds.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Flag buildings with excessive electricity or water consumption.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Calculate a weighted resource-consumption score for each building.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Rank buildings from the lowest score to the highest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Display the audit report, costs, percentage changes, and ranking.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Stop the program.</a:t>
            </a:r>
          </a:p>
        </p:txBody>
      </p:sp>
    </p:spTree>
    <p:extLst>
      <p:ext uri="{BB962C8B-B14F-4D97-AF65-F5344CB8AC3E}">
        <p14:creationId xmlns:p14="http://schemas.microsoft.com/office/powerpoint/2010/main" val="30365461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B2047-614B-AAD4-7FE5-17B98F2A4C36}"/>
              </a:ext>
            </a:extLst>
          </p:cNvPr>
          <p:cNvSpPr>
            <a:spLocks noGrp="1"/>
          </p:cNvSpPr>
          <p:nvPr>
            <p:ph type="title"/>
          </p:nvPr>
        </p:nvSpPr>
        <p:spPr/>
        <p:txBody>
          <a:bodyPr/>
          <a:lstStyle/>
          <a:p>
            <a:r>
              <a:rPr lang="en-US" dirty="0"/>
              <a:t>Flow chart</a:t>
            </a:r>
            <a:endParaRPr lang="en-IN" dirty="0"/>
          </a:p>
        </p:txBody>
      </p:sp>
      <p:pic>
        <p:nvPicPr>
          <p:cNvPr id="5" name="Content Placeholder 4">
            <a:extLst>
              <a:ext uri="{FF2B5EF4-FFF2-40B4-BE49-F238E27FC236}">
                <a16:creationId xmlns:a16="http://schemas.microsoft.com/office/drawing/2014/main" id="{C68A9F84-D280-AFDD-31C8-6F6C1DA271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6400" y="1383322"/>
            <a:ext cx="7683104" cy="5122069"/>
          </a:xfrm>
        </p:spPr>
      </p:pic>
    </p:spTree>
    <p:extLst>
      <p:ext uri="{BB962C8B-B14F-4D97-AF65-F5344CB8AC3E}">
        <p14:creationId xmlns:p14="http://schemas.microsoft.com/office/powerpoint/2010/main" val="31983010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7795-2123-0AC2-DD97-4912BC0D4C0B}"/>
              </a:ext>
            </a:extLst>
          </p:cNvPr>
          <p:cNvSpPr>
            <a:spLocks noGrp="1"/>
          </p:cNvSpPr>
          <p:nvPr>
            <p:ph type="title"/>
          </p:nvPr>
        </p:nvSpPr>
        <p:spPr/>
        <p:txBody>
          <a:bodyPr/>
          <a:lstStyle/>
          <a:p>
            <a:r>
              <a:rPr lang="en-US" dirty="0"/>
              <a:t>Python source code</a:t>
            </a:r>
            <a:endParaRPr lang="en-IN" dirty="0"/>
          </a:p>
        </p:txBody>
      </p:sp>
      <p:sp>
        <p:nvSpPr>
          <p:cNvPr id="3" name="Content Placeholder 2">
            <a:extLst>
              <a:ext uri="{FF2B5EF4-FFF2-40B4-BE49-F238E27FC236}">
                <a16:creationId xmlns:a16="http://schemas.microsoft.com/office/drawing/2014/main" id="{641A7436-3E2D-423E-67FF-B2ADF3465DE6}"/>
              </a:ext>
            </a:extLst>
          </p:cNvPr>
          <p:cNvSpPr>
            <a:spLocks noGrp="1"/>
          </p:cNvSpPr>
          <p:nvPr>
            <p:ph idx="1"/>
          </p:nvPr>
        </p:nvSpPr>
        <p:spPr/>
        <p:txBody>
          <a:bodyPr>
            <a:normAutofit fontScale="25000" lnSpcReduction="20000"/>
          </a:bodyPr>
          <a:lstStyle/>
          <a:p>
            <a:endParaRPr lang="en-US" dirty="0"/>
          </a:p>
          <a:p>
            <a:r>
              <a:rPr lang="en-US" dirty="0"/>
              <a:t># Integrated Campus Energy and Water Audit</a:t>
            </a:r>
          </a:p>
          <a:p>
            <a:endParaRPr lang="en-US" dirty="0"/>
          </a:p>
          <a:p>
            <a:r>
              <a:rPr lang="en-US" dirty="0"/>
              <a:t>buildings = {</a:t>
            </a:r>
          </a:p>
          <a:p>
            <a:r>
              <a:rPr lang="en-US" dirty="0"/>
              <a:t>    "Academic Block": {</a:t>
            </a:r>
          </a:p>
          <a:p>
            <a:r>
              <a:rPr lang="en-US" dirty="0"/>
              <a:t>        "electricity": [120, 135, 150],</a:t>
            </a:r>
          </a:p>
          <a:p>
            <a:r>
              <a:rPr lang="en-US" dirty="0"/>
              <a:t>        "water": [18, 20, 24]</a:t>
            </a:r>
          </a:p>
          <a:p>
            <a:r>
              <a:rPr lang="en-US" dirty="0"/>
              <a:t>    },</a:t>
            </a:r>
          </a:p>
          <a:p>
            <a:r>
              <a:rPr lang="en-US" dirty="0"/>
              <a:t>    "Library": {</a:t>
            </a:r>
          </a:p>
          <a:p>
            <a:r>
              <a:rPr lang="en-US" dirty="0"/>
              <a:t>        "electricity": [80, 78, 90],</a:t>
            </a:r>
          </a:p>
          <a:p>
            <a:r>
              <a:rPr lang="en-US" dirty="0"/>
              <a:t>        "water": [12, 11, 13]</a:t>
            </a:r>
          </a:p>
          <a:p>
            <a:r>
              <a:rPr lang="en-US" dirty="0"/>
              <a:t>    },</a:t>
            </a:r>
          </a:p>
          <a:p>
            <a:r>
              <a:rPr lang="en-US" dirty="0"/>
              <a:t>    "Hostel": {</a:t>
            </a:r>
          </a:p>
          <a:p>
            <a:r>
              <a:rPr lang="en-US" dirty="0"/>
              <a:t>        "electricity": [200, 220, 250],</a:t>
            </a:r>
          </a:p>
          <a:p>
            <a:r>
              <a:rPr lang="en-US" dirty="0"/>
              <a:t>        "water": [35, 40, 45]</a:t>
            </a:r>
          </a:p>
          <a:p>
            <a:r>
              <a:rPr lang="en-US" dirty="0"/>
              <a:t>    }</a:t>
            </a:r>
          </a:p>
          <a:p>
            <a:r>
              <a:rPr lang="en-US" dirty="0"/>
              <a:t>}</a:t>
            </a:r>
          </a:p>
          <a:p>
            <a:endParaRPr lang="en-US" dirty="0"/>
          </a:p>
          <a:p>
            <a:r>
              <a:rPr lang="en-US" dirty="0"/>
              <a:t># Rates and daily consumption thresholds</a:t>
            </a:r>
          </a:p>
          <a:p>
            <a:r>
              <a:rPr lang="en-US" dirty="0" err="1"/>
              <a:t>electricity_rate</a:t>
            </a:r>
            <a:r>
              <a:rPr lang="en-US" dirty="0"/>
              <a:t> = 8</a:t>
            </a:r>
          </a:p>
          <a:p>
            <a:r>
              <a:rPr lang="en-US" dirty="0" err="1"/>
              <a:t>water_rate</a:t>
            </a:r>
            <a:r>
              <a:rPr lang="en-US" dirty="0"/>
              <a:t> = 30</a:t>
            </a:r>
          </a:p>
          <a:p>
            <a:r>
              <a:rPr lang="en-US" dirty="0" err="1"/>
              <a:t>electricity_limit</a:t>
            </a:r>
            <a:r>
              <a:rPr lang="en-US" dirty="0"/>
              <a:t> = 140</a:t>
            </a:r>
          </a:p>
          <a:p>
            <a:r>
              <a:rPr lang="en-US" dirty="0" err="1"/>
              <a:t>water_limit</a:t>
            </a:r>
            <a:r>
              <a:rPr lang="en-US" dirty="0"/>
              <a:t> = 25</a:t>
            </a:r>
          </a:p>
          <a:p>
            <a:endParaRPr lang="en-US" dirty="0"/>
          </a:p>
          <a:p>
            <a:r>
              <a:rPr lang="en-US" dirty="0"/>
              <a:t>results = []</a:t>
            </a:r>
          </a:p>
          <a:p>
            <a:endParaRPr lang="en-US" dirty="0"/>
          </a:p>
          <a:p>
            <a:r>
              <a:rPr lang="en-US" dirty="0"/>
              <a:t>for name, data in </a:t>
            </a:r>
            <a:r>
              <a:rPr lang="en-US" dirty="0" err="1"/>
              <a:t>buildings.items</a:t>
            </a:r>
            <a:r>
              <a:rPr lang="en-US" dirty="0"/>
              <a:t>():</a:t>
            </a:r>
          </a:p>
          <a:p>
            <a:r>
              <a:rPr lang="en-US" dirty="0"/>
              <a:t>    electricity = data["electricity"]</a:t>
            </a:r>
          </a:p>
          <a:p>
            <a:r>
              <a:rPr lang="en-US" dirty="0"/>
              <a:t>    water = data["water"]</a:t>
            </a:r>
          </a:p>
          <a:p>
            <a:endParaRPr lang="en-US" dirty="0"/>
          </a:p>
          <a:p>
            <a:r>
              <a:rPr lang="en-US" dirty="0"/>
              <a:t>    </a:t>
            </a:r>
            <a:r>
              <a:rPr lang="en-US" dirty="0" err="1"/>
              <a:t>total_e</a:t>
            </a:r>
            <a:r>
              <a:rPr lang="en-US" dirty="0"/>
              <a:t> = sum(electricity)</a:t>
            </a:r>
          </a:p>
          <a:p>
            <a:r>
              <a:rPr lang="en-US" dirty="0"/>
              <a:t>    </a:t>
            </a:r>
            <a:r>
              <a:rPr lang="en-US" dirty="0" err="1"/>
              <a:t>total_w</a:t>
            </a:r>
            <a:r>
              <a:rPr lang="en-US" dirty="0"/>
              <a:t> = sum(water)</a:t>
            </a:r>
          </a:p>
          <a:p>
            <a:endParaRPr lang="en-US" dirty="0"/>
          </a:p>
          <a:p>
            <a:r>
              <a:rPr lang="en-US" dirty="0"/>
              <a:t>    </a:t>
            </a:r>
            <a:r>
              <a:rPr lang="en-US" dirty="0" err="1"/>
              <a:t>avg_e</a:t>
            </a:r>
            <a:r>
              <a:rPr lang="en-US" dirty="0"/>
              <a:t> = </a:t>
            </a:r>
            <a:r>
              <a:rPr lang="en-US" dirty="0" err="1"/>
              <a:t>total_e</a:t>
            </a:r>
            <a:r>
              <a:rPr lang="en-US" dirty="0"/>
              <a:t> / </a:t>
            </a:r>
            <a:r>
              <a:rPr lang="en-US" dirty="0" err="1"/>
              <a:t>len</a:t>
            </a:r>
            <a:r>
              <a:rPr lang="en-US" dirty="0"/>
              <a:t>(electricity)</a:t>
            </a:r>
          </a:p>
          <a:p>
            <a:r>
              <a:rPr lang="en-US" dirty="0"/>
              <a:t>    </a:t>
            </a:r>
            <a:r>
              <a:rPr lang="en-US" dirty="0" err="1"/>
              <a:t>avg_w</a:t>
            </a:r>
            <a:r>
              <a:rPr lang="en-US" dirty="0"/>
              <a:t> = </a:t>
            </a:r>
            <a:r>
              <a:rPr lang="en-US" dirty="0" err="1"/>
              <a:t>total_w</a:t>
            </a:r>
            <a:r>
              <a:rPr lang="en-US" dirty="0"/>
              <a:t> / </a:t>
            </a:r>
            <a:r>
              <a:rPr lang="en-US" dirty="0" err="1"/>
              <a:t>len</a:t>
            </a:r>
            <a:r>
              <a:rPr lang="en-US" dirty="0"/>
              <a:t>(water)</a:t>
            </a:r>
          </a:p>
          <a:p>
            <a:endParaRPr lang="en-US" dirty="0"/>
          </a:p>
          <a:p>
            <a:r>
              <a:rPr lang="en-US" dirty="0"/>
              <a:t>    </a:t>
            </a:r>
            <a:r>
              <a:rPr lang="en-US" dirty="0" err="1"/>
              <a:t>cost_e</a:t>
            </a:r>
            <a:r>
              <a:rPr lang="en-US" dirty="0"/>
              <a:t> = </a:t>
            </a:r>
            <a:r>
              <a:rPr lang="en-US" dirty="0" err="1"/>
              <a:t>total_e</a:t>
            </a:r>
            <a:r>
              <a:rPr lang="en-US" dirty="0"/>
              <a:t> * </a:t>
            </a:r>
            <a:r>
              <a:rPr lang="en-US" dirty="0" err="1"/>
              <a:t>electricity_rate</a:t>
            </a:r>
            <a:endParaRPr lang="en-US" dirty="0"/>
          </a:p>
          <a:p>
            <a:r>
              <a:rPr lang="en-US" dirty="0"/>
              <a:t>    </a:t>
            </a:r>
            <a:r>
              <a:rPr lang="en-US" dirty="0" err="1"/>
              <a:t>cost_w</a:t>
            </a:r>
            <a:r>
              <a:rPr lang="en-US" dirty="0"/>
              <a:t> = </a:t>
            </a:r>
            <a:r>
              <a:rPr lang="en-US" dirty="0" err="1"/>
              <a:t>total_w</a:t>
            </a:r>
            <a:r>
              <a:rPr lang="en-US" dirty="0"/>
              <a:t> * </a:t>
            </a:r>
            <a:r>
              <a:rPr lang="en-US" dirty="0" err="1"/>
              <a:t>water_rate</a:t>
            </a:r>
            <a:endParaRPr lang="en-US" dirty="0"/>
          </a:p>
          <a:p>
            <a:r>
              <a:rPr lang="en-US" dirty="0"/>
              <a:t>    </a:t>
            </a:r>
            <a:r>
              <a:rPr lang="en-US" dirty="0" err="1"/>
              <a:t>total_cost</a:t>
            </a:r>
            <a:r>
              <a:rPr lang="en-US" dirty="0"/>
              <a:t> = </a:t>
            </a:r>
            <a:r>
              <a:rPr lang="en-US" dirty="0" err="1"/>
              <a:t>cost_e</a:t>
            </a:r>
            <a:r>
              <a:rPr lang="en-US" dirty="0"/>
              <a:t> + </a:t>
            </a:r>
            <a:r>
              <a:rPr lang="en-US" dirty="0" err="1"/>
              <a:t>cost_w</a:t>
            </a:r>
            <a:endParaRPr lang="en-US" dirty="0"/>
          </a:p>
          <a:p>
            <a:endParaRPr lang="en-US" dirty="0"/>
          </a:p>
          <a:p>
            <a:r>
              <a:rPr lang="en-US" dirty="0"/>
              <a:t>    print("\n---", name, "---")</a:t>
            </a:r>
          </a:p>
          <a:p>
            <a:r>
              <a:rPr lang="en-US" dirty="0"/>
              <a:t>    print("Total electricity:", </a:t>
            </a:r>
            <a:r>
              <a:rPr lang="en-US" dirty="0" err="1"/>
              <a:t>total_e</a:t>
            </a:r>
            <a:r>
              <a:rPr lang="en-US" dirty="0"/>
              <a:t>, "kWh")</a:t>
            </a:r>
          </a:p>
          <a:p>
            <a:r>
              <a:rPr lang="en-US" dirty="0"/>
              <a:t>    print("Total water:", </a:t>
            </a:r>
            <a:r>
              <a:rPr lang="en-US" dirty="0" err="1"/>
              <a:t>total_w</a:t>
            </a:r>
            <a:r>
              <a:rPr lang="en-US" dirty="0"/>
              <a:t>, "</a:t>
            </a:r>
            <a:r>
              <a:rPr lang="en-US" dirty="0" err="1"/>
              <a:t>kL</a:t>
            </a:r>
            <a:r>
              <a:rPr lang="en-US" dirty="0"/>
              <a:t>")</a:t>
            </a:r>
          </a:p>
          <a:p>
            <a:r>
              <a:rPr lang="en-US" dirty="0"/>
              <a:t>    print("Average electricity:", round(</a:t>
            </a:r>
            <a:r>
              <a:rPr lang="en-US" dirty="0" err="1"/>
              <a:t>avg_e</a:t>
            </a:r>
            <a:r>
              <a:rPr lang="en-US" dirty="0"/>
              <a:t>, 2))</a:t>
            </a:r>
          </a:p>
          <a:p>
            <a:r>
              <a:rPr lang="en-US" dirty="0"/>
              <a:t>    print("Average water:", round(</a:t>
            </a:r>
            <a:r>
              <a:rPr lang="en-US" dirty="0" err="1"/>
              <a:t>avg_w</a:t>
            </a:r>
            <a:r>
              <a:rPr lang="en-US" dirty="0"/>
              <a:t>, 2))</a:t>
            </a:r>
          </a:p>
          <a:p>
            <a:r>
              <a:rPr lang="en-US" dirty="0"/>
              <a:t>    print("Electricity cost: Rs.", </a:t>
            </a:r>
            <a:r>
              <a:rPr lang="en-US" dirty="0" err="1"/>
              <a:t>cost_e</a:t>
            </a:r>
            <a:r>
              <a:rPr lang="en-US" dirty="0"/>
              <a:t>)</a:t>
            </a:r>
          </a:p>
          <a:p>
            <a:r>
              <a:rPr lang="en-US" dirty="0"/>
              <a:t>    print("Water cost: Rs.", </a:t>
            </a:r>
            <a:r>
              <a:rPr lang="en-US" dirty="0" err="1"/>
              <a:t>cost_w</a:t>
            </a:r>
            <a:r>
              <a:rPr lang="en-US" dirty="0"/>
              <a:t>)</a:t>
            </a:r>
          </a:p>
          <a:p>
            <a:r>
              <a:rPr lang="en-US" dirty="0"/>
              <a:t>    print("Total cost: Rs.", </a:t>
            </a:r>
            <a:r>
              <a:rPr lang="en-US" dirty="0" err="1"/>
              <a:t>total_cost</a:t>
            </a:r>
            <a:r>
              <a:rPr lang="en-US" dirty="0"/>
              <a:t>)</a:t>
            </a:r>
          </a:p>
          <a:p>
            <a:endParaRPr lang="en-US" dirty="0"/>
          </a:p>
          <a:p>
            <a:r>
              <a:rPr lang="en-US" dirty="0"/>
              <a:t>    # Calculate daily percentage changes</a:t>
            </a:r>
          </a:p>
          <a:p>
            <a:r>
              <a:rPr lang="en-US" dirty="0"/>
              <a:t>    for label, readings in [</a:t>
            </a:r>
          </a:p>
          <a:p>
            <a:r>
              <a:rPr lang="en-US" dirty="0"/>
              <a:t>        ("Electricity", electricity),</a:t>
            </a:r>
          </a:p>
          <a:p>
            <a:r>
              <a:rPr lang="en-US" dirty="0"/>
              <a:t>        ("Water", water)</a:t>
            </a:r>
          </a:p>
          <a:p>
            <a:r>
              <a:rPr lang="en-US" dirty="0"/>
              <a:t>    ]:</a:t>
            </a:r>
          </a:p>
          <a:p>
            <a:r>
              <a:rPr lang="en-US" dirty="0"/>
              <a:t>        print(label, "percentage changes:")</a:t>
            </a:r>
          </a:p>
          <a:p>
            <a:endParaRPr lang="en-US" dirty="0"/>
          </a:p>
          <a:p>
            <a:r>
              <a:rPr lang="en-US" dirty="0"/>
              <a:t>        for </a:t>
            </a:r>
            <a:r>
              <a:rPr lang="en-US" dirty="0" err="1"/>
              <a:t>i</a:t>
            </a:r>
            <a:r>
              <a:rPr lang="en-US" dirty="0"/>
              <a:t> in range(1, </a:t>
            </a:r>
            <a:r>
              <a:rPr lang="en-US" dirty="0" err="1"/>
              <a:t>len</a:t>
            </a:r>
            <a:r>
              <a:rPr lang="en-US" dirty="0"/>
              <a:t>(readings)):</a:t>
            </a:r>
          </a:p>
          <a:p>
            <a:r>
              <a:rPr lang="en-US" dirty="0"/>
              <a:t>            previous = readings[</a:t>
            </a:r>
            <a:r>
              <a:rPr lang="en-US" dirty="0" err="1"/>
              <a:t>i</a:t>
            </a:r>
            <a:r>
              <a:rPr lang="en-US" dirty="0"/>
              <a:t> - 1]</a:t>
            </a:r>
          </a:p>
          <a:p>
            <a:r>
              <a:rPr lang="en-US" dirty="0"/>
              <a:t>            current = readings[</a:t>
            </a:r>
            <a:r>
              <a:rPr lang="en-US" dirty="0" err="1"/>
              <a:t>i</a:t>
            </a:r>
            <a:r>
              <a:rPr lang="en-US" dirty="0"/>
              <a:t>]</a:t>
            </a:r>
          </a:p>
          <a:p>
            <a:endParaRPr lang="en-US" dirty="0"/>
          </a:p>
          <a:p>
            <a:r>
              <a:rPr lang="en-US" dirty="0"/>
              <a:t>            if previous == 0:</a:t>
            </a:r>
          </a:p>
          <a:p>
            <a:r>
              <a:rPr lang="en-US" dirty="0"/>
              <a:t>                print("Day", </a:t>
            </a:r>
            <a:r>
              <a:rPr lang="en-US" dirty="0" err="1"/>
              <a:t>i</a:t>
            </a:r>
            <a:r>
              <a:rPr lang="en-US" dirty="0"/>
              <a:t>, "to", </a:t>
            </a:r>
            <a:r>
              <a:rPr lang="en-US" dirty="0" err="1"/>
              <a:t>i</a:t>
            </a:r>
            <a:r>
              <a:rPr lang="en-US" dirty="0"/>
              <a:t> + 1,</a:t>
            </a:r>
          </a:p>
          <a:p>
            <a:r>
              <a:rPr lang="en-US" dirty="0"/>
              <a:t>                      ": Undefined")</a:t>
            </a:r>
          </a:p>
          <a:p>
            <a:r>
              <a:rPr lang="en-US" dirty="0"/>
              <a:t>            else:</a:t>
            </a:r>
          </a:p>
          <a:p>
            <a:r>
              <a:rPr lang="en-US" dirty="0"/>
              <a:t>                change = (</a:t>
            </a:r>
          </a:p>
          <a:p>
            <a:r>
              <a:rPr lang="en-US" dirty="0"/>
              <a:t>                    (current - previous) / previous</a:t>
            </a:r>
          </a:p>
          <a:p>
            <a:r>
              <a:rPr lang="en-US" dirty="0"/>
              <a:t>                ) * 100</a:t>
            </a:r>
          </a:p>
          <a:p>
            <a:endParaRPr lang="en-US" dirty="0"/>
          </a:p>
          <a:p>
            <a:r>
              <a:rPr lang="en-US" dirty="0"/>
              <a:t>                print(</a:t>
            </a:r>
          </a:p>
          <a:p>
            <a:r>
              <a:rPr lang="en-US" dirty="0"/>
              <a:t>                    "Day", </a:t>
            </a:r>
            <a:r>
              <a:rPr lang="en-US" dirty="0" err="1"/>
              <a:t>i</a:t>
            </a:r>
            <a:r>
              <a:rPr lang="en-US" dirty="0"/>
              <a:t>, "to", </a:t>
            </a:r>
            <a:r>
              <a:rPr lang="en-US" dirty="0" err="1"/>
              <a:t>i</a:t>
            </a:r>
            <a:r>
              <a:rPr lang="en-US" dirty="0"/>
              <a:t> + 1,</a:t>
            </a:r>
          </a:p>
          <a:p>
            <a:r>
              <a:rPr lang="en-US" dirty="0"/>
              <a:t>                    ":", round(change, 2), "%"</a:t>
            </a:r>
          </a:p>
          <a:p>
            <a:r>
              <a:rPr lang="en-US" dirty="0"/>
              <a:t>                )</a:t>
            </a:r>
          </a:p>
          <a:p>
            <a:endParaRPr lang="en-US" dirty="0"/>
          </a:p>
          <a:p>
            <a:r>
              <a:rPr lang="en-US" dirty="0"/>
              <a:t>    # Identify excessive consumption</a:t>
            </a:r>
          </a:p>
          <a:p>
            <a:r>
              <a:rPr lang="en-US" dirty="0"/>
              <a:t>    alerts = []</a:t>
            </a:r>
          </a:p>
          <a:p>
            <a:endParaRPr lang="en-US" dirty="0"/>
          </a:p>
          <a:p>
            <a:r>
              <a:rPr lang="en-US" dirty="0"/>
              <a:t>    if </a:t>
            </a:r>
            <a:r>
              <a:rPr lang="en-US" dirty="0" err="1"/>
              <a:t>avg_e</a:t>
            </a:r>
            <a:r>
              <a:rPr lang="en-US" dirty="0"/>
              <a:t> &gt; </a:t>
            </a:r>
            <a:r>
              <a:rPr lang="en-US" dirty="0" err="1"/>
              <a:t>electricity_limit</a:t>
            </a:r>
            <a:r>
              <a:rPr lang="en-US" dirty="0"/>
              <a:t>:</a:t>
            </a:r>
          </a:p>
          <a:p>
            <a:r>
              <a:rPr lang="en-US" dirty="0"/>
              <a:t>        </a:t>
            </a:r>
            <a:r>
              <a:rPr lang="en-US" dirty="0" err="1"/>
              <a:t>alerts.append</a:t>
            </a:r>
            <a:r>
              <a:rPr lang="en-US" dirty="0"/>
              <a:t>("Excessive electricity")</a:t>
            </a:r>
          </a:p>
          <a:p>
            <a:endParaRPr lang="en-US" dirty="0"/>
          </a:p>
          <a:p>
            <a:r>
              <a:rPr lang="en-US" dirty="0"/>
              <a:t>    if </a:t>
            </a:r>
            <a:r>
              <a:rPr lang="en-US" dirty="0" err="1"/>
              <a:t>avg_w</a:t>
            </a:r>
            <a:r>
              <a:rPr lang="en-US" dirty="0"/>
              <a:t> &gt; </a:t>
            </a:r>
            <a:r>
              <a:rPr lang="en-US" dirty="0" err="1"/>
              <a:t>water_limit</a:t>
            </a:r>
            <a:r>
              <a:rPr lang="en-US" dirty="0"/>
              <a:t>:</a:t>
            </a:r>
          </a:p>
          <a:p>
            <a:r>
              <a:rPr lang="en-US" dirty="0"/>
              <a:t>        </a:t>
            </a:r>
            <a:r>
              <a:rPr lang="en-US" dirty="0" err="1"/>
              <a:t>alerts.append</a:t>
            </a:r>
            <a:r>
              <a:rPr lang="en-US" dirty="0"/>
              <a:t>("Excessive water")</a:t>
            </a:r>
          </a:p>
          <a:p>
            <a:endParaRPr lang="en-US" dirty="0"/>
          </a:p>
          <a:p>
            <a:r>
              <a:rPr lang="en-US" dirty="0"/>
              <a:t>    if not alerts:</a:t>
            </a:r>
          </a:p>
          <a:p>
            <a:r>
              <a:rPr lang="en-US" dirty="0"/>
              <a:t>        </a:t>
            </a:r>
            <a:r>
              <a:rPr lang="en-US" dirty="0" err="1"/>
              <a:t>alerts.append</a:t>
            </a:r>
            <a:r>
              <a:rPr lang="en-US" dirty="0"/>
              <a:t>("Within thresholds")</a:t>
            </a:r>
          </a:p>
          <a:p>
            <a:endParaRPr lang="en-US" dirty="0"/>
          </a:p>
          <a:p>
            <a:r>
              <a:rPr lang="en-US" dirty="0"/>
              <a:t>    # Calculate weighted performance score</a:t>
            </a:r>
          </a:p>
          <a:p>
            <a:r>
              <a:rPr lang="en-US" dirty="0"/>
              <a:t>    score = (</a:t>
            </a:r>
          </a:p>
          <a:p>
            <a:r>
              <a:rPr lang="en-US" dirty="0"/>
              <a:t>        50 * </a:t>
            </a:r>
            <a:r>
              <a:rPr lang="en-US" dirty="0" err="1"/>
              <a:t>avg_e</a:t>
            </a:r>
            <a:r>
              <a:rPr lang="en-US" dirty="0"/>
              <a:t> / </a:t>
            </a:r>
            <a:r>
              <a:rPr lang="en-US" dirty="0" err="1"/>
              <a:t>electricity_limit</a:t>
            </a:r>
            <a:endParaRPr lang="en-US" dirty="0"/>
          </a:p>
          <a:p>
            <a:r>
              <a:rPr lang="en-US" dirty="0"/>
              <a:t>        + 50 * </a:t>
            </a:r>
            <a:r>
              <a:rPr lang="en-US" dirty="0" err="1"/>
              <a:t>avg_w</a:t>
            </a:r>
            <a:r>
              <a:rPr lang="en-US" dirty="0"/>
              <a:t> / </a:t>
            </a:r>
            <a:r>
              <a:rPr lang="en-US" dirty="0" err="1"/>
              <a:t>water_limit</a:t>
            </a:r>
            <a:endParaRPr lang="en-US" dirty="0"/>
          </a:p>
          <a:p>
            <a:r>
              <a:rPr lang="en-US" dirty="0"/>
              <a:t>    )</a:t>
            </a:r>
          </a:p>
          <a:p>
            <a:endParaRPr lang="en-US" dirty="0"/>
          </a:p>
          <a:p>
            <a:r>
              <a:rPr lang="en-US" dirty="0"/>
              <a:t>    </a:t>
            </a:r>
            <a:r>
              <a:rPr lang="en-US" dirty="0" err="1"/>
              <a:t>results.append</a:t>
            </a:r>
            <a:r>
              <a:rPr lang="en-US" dirty="0"/>
              <a:t>({</a:t>
            </a:r>
          </a:p>
          <a:p>
            <a:r>
              <a:rPr lang="en-US" dirty="0"/>
              <a:t>        "name": name,</a:t>
            </a:r>
          </a:p>
          <a:p>
            <a:r>
              <a:rPr lang="en-US" dirty="0"/>
              <a:t>        "cost": </a:t>
            </a:r>
            <a:r>
              <a:rPr lang="en-US" dirty="0" err="1"/>
              <a:t>total_cost</a:t>
            </a:r>
            <a:r>
              <a:rPr lang="en-US" dirty="0"/>
              <a:t>,</a:t>
            </a:r>
          </a:p>
          <a:p>
            <a:r>
              <a:rPr lang="en-US" dirty="0"/>
              <a:t>        "score": score,</a:t>
            </a:r>
          </a:p>
          <a:p>
            <a:r>
              <a:rPr lang="en-US" dirty="0"/>
              <a:t>        "alerts": alerts</a:t>
            </a:r>
          </a:p>
          <a:p>
            <a:r>
              <a:rPr lang="en-US" dirty="0"/>
              <a:t>    })</a:t>
            </a:r>
          </a:p>
          <a:p>
            <a:endParaRPr lang="en-US" dirty="0"/>
          </a:p>
          <a:p>
            <a:r>
              <a:rPr lang="en-US" dirty="0"/>
              <a:t># Rank buildings by score</a:t>
            </a:r>
          </a:p>
          <a:p>
            <a:r>
              <a:rPr lang="en-US" dirty="0" err="1"/>
              <a:t>results.sort</a:t>
            </a:r>
            <a:r>
              <a:rPr lang="en-US" dirty="0"/>
              <a:t>(key=lambda item: item["score"])</a:t>
            </a:r>
          </a:p>
          <a:p>
            <a:endParaRPr lang="en-US" dirty="0"/>
          </a:p>
          <a:p>
            <a:r>
              <a:rPr lang="en-US" dirty="0"/>
              <a:t>print("\n===== CAMPUS AUDIT SUMMARY =====")</a:t>
            </a:r>
          </a:p>
          <a:p>
            <a:r>
              <a:rPr lang="en-US" dirty="0"/>
              <a:t>print("Rank | Building | Total Cost | Score | Status")</a:t>
            </a:r>
          </a:p>
          <a:p>
            <a:endParaRPr lang="en-US" dirty="0"/>
          </a:p>
          <a:p>
            <a:r>
              <a:rPr lang="en-US" dirty="0"/>
              <a:t>for rank, item in enumerate(results, start=1):</a:t>
            </a:r>
          </a:p>
          <a:p>
            <a:r>
              <a:rPr lang="en-US" dirty="0"/>
              <a:t>    print(</a:t>
            </a:r>
          </a:p>
          <a:p>
            <a:r>
              <a:rPr lang="en-US" dirty="0"/>
              <a:t>        rank, "|",</a:t>
            </a:r>
          </a:p>
          <a:p>
            <a:r>
              <a:rPr lang="en-US" dirty="0"/>
              <a:t>        item["name"], "|",</a:t>
            </a:r>
          </a:p>
          <a:p>
            <a:r>
              <a:rPr lang="en-US" dirty="0"/>
              <a:t>        "Rs.", round(item["cost"], 2), "|",</a:t>
            </a:r>
          </a:p>
          <a:p>
            <a:r>
              <a:rPr lang="en-US" dirty="0"/>
              <a:t>        round(item["score"], 2), "|",</a:t>
            </a:r>
          </a:p>
          <a:p>
            <a:r>
              <a:rPr lang="en-US" dirty="0"/>
              <a:t>        ", ".join(item["alerts"])</a:t>
            </a:r>
          </a:p>
          <a:p>
            <a:r>
              <a:rPr lang="en-US" dirty="0"/>
              <a:t>    )</a:t>
            </a:r>
          </a:p>
          <a:p>
            <a:endParaRPr lang="en-US" dirty="0"/>
          </a:p>
          <a:p>
            <a:r>
              <a:rPr lang="en-US" dirty="0"/>
              <a:t>print("\</a:t>
            </a:r>
            <a:r>
              <a:rPr lang="en-US" dirty="0" err="1"/>
              <a:t>nAudit</a:t>
            </a:r>
            <a:r>
              <a:rPr lang="en-US" dirty="0"/>
              <a:t> completed.")</a:t>
            </a:r>
          </a:p>
          <a:p>
            <a:endParaRPr lang="en-IN" dirty="0"/>
          </a:p>
        </p:txBody>
      </p:sp>
    </p:spTree>
    <p:extLst>
      <p:ext uri="{BB962C8B-B14F-4D97-AF65-F5344CB8AC3E}">
        <p14:creationId xmlns:p14="http://schemas.microsoft.com/office/powerpoint/2010/main" val="16379823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B5B2-EF07-8534-78DE-70BF8F19F0C6}"/>
              </a:ext>
            </a:extLst>
          </p:cNvPr>
          <p:cNvSpPr>
            <a:spLocks noGrp="1"/>
          </p:cNvSpPr>
          <p:nvPr>
            <p:ph type="title"/>
          </p:nvPr>
        </p:nvSpPr>
        <p:spPr/>
        <p:txBody>
          <a:bodyPr/>
          <a:lstStyle/>
          <a:p>
            <a:r>
              <a:rPr lang="en-US" dirty="0"/>
              <a:t>Test cases</a:t>
            </a:r>
            <a:endParaRPr lang="en-IN" dirty="0"/>
          </a:p>
        </p:txBody>
      </p:sp>
      <p:graphicFrame>
        <p:nvGraphicFramePr>
          <p:cNvPr id="4" name="Content Placeholder 3">
            <a:extLst>
              <a:ext uri="{FF2B5EF4-FFF2-40B4-BE49-F238E27FC236}">
                <a16:creationId xmlns:a16="http://schemas.microsoft.com/office/drawing/2014/main" id="{2CEE0579-883B-17E6-6E3A-463D4E8DA6A0}"/>
              </a:ext>
            </a:extLst>
          </p:cNvPr>
          <p:cNvGraphicFramePr>
            <a:graphicFrameLocks noGrp="1"/>
          </p:cNvGraphicFramePr>
          <p:nvPr>
            <p:ph idx="1"/>
            <p:extLst>
              <p:ext uri="{D42A27DB-BD31-4B8C-83A1-F6EECF244321}">
                <p14:modId xmlns:p14="http://schemas.microsoft.com/office/powerpoint/2010/main" val="480119607"/>
              </p:ext>
            </p:extLst>
          </p:nvPr>
        </p:nvGraphicFramePr>
        <p:xfrm>
          <a:off x="128954" y="1195754"/>
          <a:ext cx="11224845" cy="5662244"/>
        </p:xfrm>
        <a:graphic>
          <a:graphicData uri="http://schemas.openxmlformats.org/drawingml/2006/table">
            <a:tbl>
              <a:tblPr/>
              <a:tblGrid>
                <a:gridCol w="3741615">
                  <a:extLst>
                    <a:ext uri="{9D8B030D-6E8A-4147-A177-3AD203B41FA5}">
                      <a16:colId xmlns:a16="http://schemas.microsoft.com/office/drawing/2014/main" val="3923459437"/>
                    </a:ext>
                  </a:extLst>
                </a:gridCol>
                <a:gridCol w="3741615">
                  <a:extLst>
                    <a:ext uri="{9D8B030D-6E8A-4147-A177-3AD203B41FA5}">
                      <a16:colId xmlns:a16="http://schemas.microsoft.com/office/drawing/2014/main" val="3781752635"/>
                    </a:ext>
                  </a:extLst>
                </a:gridCol>
                <a:gridCol w="3741615">
                  <a:extLst>
                    <a:ext uri="{9D8B030D-6E8A-4147-A177-3AD203B41FA5}">
                      <a16:colId xmlns:a16="http://schemas.microsoft.com/office/drawing/2014/main" val="1533506479"/>
                    </a:ext>
                  </a:extLst>
                </a:gridCol>
              </a:tblGrid>
              <a:tr h="481893">
                <a:tc>
                  <a:txBody>
                    <a:bodyPr/>
                    <a:lstStyle/>
                    <a:p>
                      <a:pPr>
                        <a:buNone/>
                      </a:pPr>
                      <a:r>
                        <a:rPr lang="en-IN"/>
                        <a:t>Test case</a:t>
                      </a:r>
                    </a:p>
                  </a:txBody>
                  <a:tcPr anchor="ctr">
                    <a:lnL>
                      <a:noFill/>
                    </a:lnL>
                    <a:lnR>
                      <a:noFill/>
                    </a:lnR>
                    <a:lnT>
                      <a:noFill/>
                    </a:lnT>
                    <a:lnB>
                      <a:noFill/>
                    </a:lnB>
                    <a:noFill/>
                  </a:tcPr>
                </a:tc>
                <a:tc>
                  <a:txBody>
                    <a:bodyPr/>
                    <a:lstStyle/>
                    <a:p>
                      <a:pPr>
                        <a:buNone/>
                      </a:pPr>
                      <a:r>
                        <a:rPr lang="en-IN"/>
                        <a:t>Input condition</a:t>
                      </a:r>
                    </a:p>
                  </a:txBody>
                  <a:tcPr anchor="ctr">
                    <a:lnL>
                      <a:noFill/>
                    </a:lnL>
                    <a:lnR>
                      <a:noFill/>
                    </a:lnR>
                    <a:lnT>
                      <a:noFill/>
                    </a:lnT>
                    <a:lnB>
                      <a:noFill/>
                    </a:lnB>
                    <a:noFill/>
                  </a:tcPr>
                </a:tc>
                <a:tc>
                  <a:txBody>
                    <a:bodyPr/>
                    <a:lstStyle/>
                    <a:p>
                      <a:pPr>
                        <a:buNone/>
                      </a:pPr>
                      <a:r>
                        <a:rPr lang="en-IN"/>
                        <a:t>Expected result</a:t>
                      </a:r>
                    </a:p>
                  </a:txBody>
                  <a:tcPr anchor="ctr">
                    <a:lnL>
                      <a:noFill/>
                    </a:lnL>
                    <a:lnR>
                      <a:noFill/>
                    </a:lnR>
                    <a:lnT>
                      <a:noFill/>
                    </a:lnT>
                    <a:lnB>
                      <a:noFill/>
                    </a:lnB>
                    <a:noFill/>
                  </a:tcPr>
                </a:tc>
                <a:extLst>
                  <a:ext uri="{0D108BD9-81ED-4DB2-BD59-A6C34878D82A}">
                    <a16:rowId xmlns:a16="http://schemas.microsoft.com/office/drawing/2014/main" val="2290095799"/>
                  </a:ext>
                </a:extLst>
              </a:tr>
              <a:tr h="843313">
                <a:tc>
                  <a:txBody>
                    <a:bodyPr/>
                    <a:lstStyle/>
                    <a:p>
                      <a:pPr>
                        <a:buNone/>
                      </a:pPr>
                      <a:r>
                        <a:rPr lang="en-IN"/>
                        <a:t>1</a:t>
                      </a:r>
                    </a:p>
                  </a:txBody>
                  <a:tcPr anchor="ctr">
                    <a:lnL>
                      <a:noFill/>
                    </a:lnL>
                    <a:lnR>
                      <a:noFill/>
                    </a:lnR>
                    <a:lnT>
                      <a:noFill/>
                    </a:lnT>
                    <a:lnB>
                      <a:noFill/>
                    </a:lnB>
                    <a:noFill/>
                  </a:tcPr>
                </a:tc>
                <a:tc>
                  <a:txBody>
                    <a:bodyPr/>
                    <a:lstStyle/>
                    <a:p>
                      <a:pPr>
                        <a:buNone/>
                      </a:pPr>
                      <a:r>
                        <a:rPr lang="en-US"/>
                        <a:t>Consumption is below both thresholds</a:t>
                      </a:r>
                    </a:p>
                  </a:txBody>
                  <a:tcPr anchor="ctr">
                    <a:lnL>
                      <a:noFill/>
                    </a:lnL>
                    <a:lnR>
                      <a:noFill/>
                    </a:lnR>
                    <a:lnT>
                      <a:noFill/>
                    </a:lnT>
                    <a:lnB>
                      <a:noFill/>
                    </a:lnB>
                    <a:noFill/>
                  </a:tcPr>
                </a:tc>
                <a:tc>
                  <a:txBody>
                    <a:bodyPr/>
                    <a:lstStyle/>
                    <a:p>
                      <a:pPr>
                        <a:buNone/>
                      </a:pPr>
                      <a:r>
                        <a:rPr lang="en-US"/>
                        <a:t>Building is marked within thresholds</a:t>
                      </a:r>
                    </a:p>
                  </a:txBody>
                  <a:tcPr anchor="ctr">
                    <a:lnL>
                      <a:noFill/>
                    </a:lnL>
                    <a:lnR>
                      <a:noFill/>
                    </a:lnR>
                    <a:lnT>
                      <a:noFill/>
                    </a:lnT>
                    <a:lnB>
                      <a:noFill/>
                    </a:lnB>
                    <a:noFill/>
                  </a:tcPr>
                </a:tc>
                <a:extLst>
                  <a:ext uri="{0D108BD9-81ED-4DB2-BD59-A6C34878D82A}">
                    <a16:rowId xmlns:a16="http://schemas.microsoft.com/office/drawing/2014/main" val="2833026325"/>
                  </a:ext>
                </a:extLst>
              </a:tr>
              <a:tr h="481893">
                <a:tc>
                  <a:txBody>
                    <a:bodyPr/>
                    <a:lstStyle/>
                    <a:p>
                      <a:pPr>
                        <a:buNone/>
                      </a:pPr>
                      <a:r>
                        <a:rPr lang="en-IN"/>
                        <a:t>2</a:t>
                      </a:r>
                    </a:p>
                  </a:txBody>
                  <a:tcPr anchor="ctr">
                    <a:lnL>
                      <a:noFill/>
                    </a:lnL>
                    <a:lnR>
                      <a:noFill/>
                    </a:lnR>
                    <a:lnT>
                      <a:noFill/>
                    </a:lnT>
                    <a:lnB>
                      <a:noFill/>
                    </a:lnB>
                    <a:noFill/>
                  </a:tcPr>
                </a:tc>
                <a:tc>
                  <a:txBody>
                    <a:bodyPr/>
                    <a:lstStyle/>
                    <a:p>
                      <a:pPr>
                        <a:buNone/>
                      </a:pPr>
                      <a:r>
                        <a:rPr lang="en-IN"/>
                        <a:t>Electricity exceeds its threshold</a:t>
                      </a:r>
                    </a:p>
                  </a:txBody>
                  <a:tcPr anchor="ctr">
                    <a:lnL>
                      <a:noFill/>
                    </a:lnL>
                    <a:lnR>
                      <a:noFill/>
                    </a:lnR>
                    <a:lnT>
                      <a:noFill/>
                    </a:lnT>
                    <a:lnB>
                      <a:noFill/>
                    </a:lnB>
                    <a:noFill/>
                  </a:tcPr>
                </a:tc>
                <a:tc>
                  <a:txBody>
                    <a:bodyPr/>
                    <a:lstStyle/>
                    <a:p>
                      <a:pPr>
                        <a:buNone/>
                      </a:pPr>
                      <a:r>
                        <a:rPr lang="en-IN"/>
                        <a:t>Electricity alert is generated</a:t>
                      </a:r>
                    </a:p>
                  </a:txBody>
                  <a:tcPr anchor="ctr">
                    <a:lnL>
                      <a:noFill/>
                    </a:lnL>
                    <a:lnR>
                      <a:noFill/>
                    </a:lnR>
                    <a:lnT>
                      <a:noFill/>
                    </a:lnT>
                    <a:lnB>
                      <a:noFill/>
                    </a:lnB>
                    <a:noFill/>
                  </a:tcPr>
                </a:tc>
                <a:extLst>
                  <a:ext uri="{0D108BD9-81ED-4DB2-BD59-A6C34878D82A}">
                    <a16:rowId xmlns:a16="http://schemas.microsoft.com/office/drawing/2014/main" val="3908066603"/>
                  </a:ext>
                </a:extLst>
              </a:tr>
              <a:tr h="481893">
                <a:tc>
                  <a:txBody>
                    <a:bodyPr/>
                    <a:lstStyle/>
                    <a:p>
                      <a:pPr>
                        <a:buNone/>
                      </a:pPr>
                      <a:r>
                        <a:rPr lang="en-IN"/>
                        <a:t>3</a:t>
                      </a:r>
                    </a:p>
                  </a:txBody>
                  <a:tcPr anchor="ctr">
                    <a:lnL>
                      <a:noFill/>
                    </a:lnL>
                    <a:lnR>
                      <a:noFill/>
                    </a:lnR>
                    <a:lnT>
                      <a:noFill/>
                    </a:lnT>
                    <a:lnB>
                      <a:noFill/>
                    </a:lnB>
                    <a:noFill/>
                  </a:tcPr>
                </a:tc>
                <a:tc>
                  <a:txBody>
                    <a:bodyPr/>
                    <a:lstStyle/>
                    <a:p>
                      <a:pPr>
                        <a:buNone/>
                      </a:pPr>
                      <a:r>
                        <a:rPr lang="en-IN"/>
                        <a:t>Water exceeds its threshold</a:t>
                      </a:r>
                    </a:p>
                  </a:txBody>
                  <a:tcPr anchor="ctr">
                    <a:lnL>
                      <a:noFill/>
                    </a:lnL>
                    <a:lnR>
                      <a:noFill/>
                    </a:lnR>
                    <a:lnT>
                      <a:noFill/>
                    </a:lnT>
                    <a:lnB>
                      <a:noFill/>
                    </a:lnB>
                    <a:noFill/>
                  </a:tcPr>
                </a:tc>
                <a:tc>
                  <a:txBody>
                    <a:bodyPr/>
                    <a:lstStyle/>
                    <a:p>
                      <a:pPr>
                        <a:buNone/>
                      </a:pPr>
                      <a:r>
                        <a:rPr lang="en-IN"/>
                        <a:t>Water alert is generated</a:t>
                      </a:r>
                    </a:p>
                  </a:txBody>
                  <a:tcPr anchor="ctr">
                    <a:lnL>
                      <a:noFill/>
                    </a:lnL>
                    <a:lnR>
                      <a:noFill/>
                    </a:lnR>
                    <a:lnT>
                      <a:noFill/>
                    </a:lnT>
                    <a:lnB>
                      <a:noFill/>
                    </a:lnB>
                    <a:noFill/>
                  </a:tcPr>
                </a:tc>
                <a:extLst>
                  <a:ext uri="{0D108BD9-81ED-4DB2-BD59-A6C34878D82A}">
                    <a16:rowId xmlns:a16="http://schemas.microsoft.com/office/drawing/2014/main" val="4070206179"/>
                  </a:ext>
                </a:extLst>
              </a:tr>
              <a:tr h="843313">
                <a:tc>
                  <a:txBody>
                    <a:bodyPr/>
                    <a:lstStyle/>
                    <a:p>
                      <a:pPr>
                        <a:buNone/>
                      </a:pPr>
                      <a:r>
                        <a:rPr lang="en-IN"/>
                        <a:t>4</a:t>
                      </a:r>
                    </a:p>
                  </a:txBody>
                  <a:tcPr anchor="ctr">
                    <a:lnL>
                      <a:noFill/>
                    </a:lnL>
                    <a:lnR>
                      <a:noFill/>
                    </a:lnR>
                    <a:lnT>
                      <a:noFill/>
                    </a:lnT>
                    <a:lnB>
                      <a:noFill/>
                    </a:lnB>
                    <a:noFill/>
                  </a:tcPr>
                </a:tc>
                <a:tc>
                  <a:txBody>
                    <a:bodyPr/>
                    <a:lstStyle/>
                    <a:p>
                      <a:pPr>
                        <a:buNone/>
                      </a:pPr>
                      <a:r>
                        <a:rPr lang="en-IN"/>
                        <a:t>Consumption increases between days</a:t>
                      </a:r>
                    </a:p>
                  </a:txBody>
                  <a:tcPr anchor="ctr">
                    <a:lnL>
                      <a:noFill/>
                    </a:lnL>
                    <a:lnR>
                      <a:noFill/>
                    </a:lnR>
                    <a:lnT>
                      <a:noFill/>
                    </a:lnT>
                    <a:lnB>
                      <a:noFill/>
                    </a:lnB>
                    <a:noFill/>
                  </a:tcPr>
                </a:tc>
                <a:tc>
                  <a:txBody>
                    <a:bodyPr/>
                    <a:lstStyle/>
                    <a:p>
                      <a:pPr>
                        <a:buNone/>
                      </a:pPr>
                      <a:r>
                        <a:rPr lang="en-IN"/>
                        <a:t>Positive percentage change is calculated</a:t>
                      </a:r>
                    </a:p>
                  </a:txBody>
                  <a:tcPr anchor="ctr">
                    <a:lnL>
                      <a:noFill/>
                    </a:lnL>
                    <a:lnR>
                      <a:noFill/>
                    </a:lnR>
                    <a:lnT>
                      <a:noFill/>
                    </a:lnT>
                    <a:lnB>
                      <a:noFill/>
                    </a:lnB>
                    <a:noFill/>
                  </a:tcPr>
                </a:tc>
                <a:extLst>
                  <a:ext uri="{0D108BD9-81ED-4DB2-BD59-A6C34878D82A}">
                    <a16:rowId xmlns:a16="http://schemas.microsoft.com/office/drawing/2014/main" val="3358847792"/>
                  </a:ext>
                </a:extLst>
              </a:tr>
              <a:tr h="843313">
                <a:tc>
                  <a:txBody>
                    <a:bodyPr/>
                    <a:lstStyle/>
                    <a:p>
                      <a:pPr>
                        <a:buNone/>
                      </a:pPr>
                      <a:r>
                        <a:rPr lang="en-IN"/>
                        <a:t>5</a:t>
                      </a:r>
                    </a:p>
                  </a:txBody>
                  <a:tcPr anchor="ctr">
                    <a:lnL>
                      <a:noFill/>
                    </a:lnL>
                    <a:lnR>
                      <a:noFill/>
                    </a:lnR>
                    <a:lnT>
                      <a:noFill/>
                    </a:lnT>
                    <a:lnB>
                      <a:noFill/>
                    </a:lnB>
                    <a:noFill/>
                  </a:tcPr>
                </a:tc>
                <a:tc>
                  <a:txBody>
                    <a:bodyPr/>
                    <a:lstStyle/>
                    <a:p>
                      <a:pPr>
                        <a:buNone/>
                      </a:pPr>
                      <a:r>
                        <a:rPr lang="en-IN"/>
                        <a:t>Consumption decreases between days</a:t>
                      </a:r>
                    </a:p>
                  </a:txBody>
                  <a:tcPr anchor="ctr">
                    <a:lnL>
                      <a:noFill/>
                    </a:lnL>
                    <a:lnR>
                      <a:noFill/>
                    </a:lnR>
                    <a:lnT>
                      <a:noFill/>
                    </a:lnT>
                    <a:lnB>
                      <a:noFill/>
                    </a:lnB>
                    <a:noFill/>
                  </a:tcPr>
                </a:tc>
                <a:tc>
                  <a:txBody>
                    <a:bodyPr/>
                    <a:lstStyle/>
                    <a:p>
                      <a:pPr>
                        <a:buNone/>
                      </a:pPr>
                      <a:r>
                        <a:rPr lang="en-US"/>
                        <a:t>Negative percentage change is calculated</a:t>
                      </a:r>
                    </a:p>
                  </a:txBody>
                  <a:tcPr anchor="ctr">
                    <a:lnL>
                      <a:noFill/>
                    </a:lnL>
                    <a:lnR>
                      <a:noFill/>
                    </a:lnR>
                    <a:lnT>
                      <a:noFill/>
                    </a:lnT>
                    <a:lnB>
                      <a:noFill/>
                    </a:lnB>
                    <a:noFill/>
                  </a:tcPr>
                </a:tc>
                <a:extLst>
                  <a:ext uri="{0D108BD9-81ED-4DB2-BD59-A6C34878D82A}">
                    <a16:rowId xmlns:a16="http://schemas.microsoft.com/office/drawing/2014/main" val="160683963"/>
                  </a:ext>
                </a:extLst>
              </a:tr>
              <a:tr h="843313">
                <a:tc>
                  <a:txBody>
                    <a:bodyPr/>
                    <a:lstStyle/>
                    <a:p>
                      <a:pPr>
                        <a:buNone/>
                      </a:pPr>
                      <a:r>
                        <a:rPr lang="en-IN"/>
                        <a:t>6</a:t>
                      </a:r>
                    </a:p>
                  </a:txBody>
                  <a:tcPr anchor="ctr">
                    <a:lnL>
                      <a:noFill/>
                    </a:lnL>
                    <a:lnR>
                      <a:noFill/>
                    </a:lnR>
                    <a:lnT>
                      <a:noFill/>
                    </a:lnT>
                    <a:lnB>
                      <a:noFill/>
                    </a:lnB>
                    <a:noFill/>
                  </a:tcPr>
                </a:tc>
                <a:tc>
                  <a:txBody>
                    <a:bodyPr/>
                    <a:lstStyle/>
                    <a:p>
                      <a:pPr>
                        <a:buNone/>
                      </a:pPr>
                      <a:r>
                        <a:rPr lang="en-US"/>
                        <a:t>Previous day's consumption is zero</a:t>
                      </a:r>
                    </a:p>
                  </a:txBody>
                  <a:tcPr anchor="ctr">
                    <a:lnL>
                      <a:noFill/>
                    </a:lnL>
                    <a:lnR>
                      <a:noFill/>
                    </a:lnR>
                    <a:lnT>
                      <a:noFill/>
                    </a:lnT>
                    <a:lnB>
                      <a:noFill/>
                    </a:lnB>
                    <a:noFill/>
                  </a:tcPr>
                </a:tc>
                <a:tc>
                  <a:txBody>
                    <a:bodyPr/>
                    <a:lstStyle/>
                    <a:p>
                      <a:pPr>
                        <a:buNone/>
                      </a:pPr>
                      <a:r>
                        <a:rPr lang="en-US"/>
                        <a:t>Percentage change is reported as undefined</a:t>
                      </a:r>
                    </a:p>
                  </a:txBody>
                  <a:tcPr anchor="ctr">
                    <a:lnL>
                      <a:noFill/>
                    </a:lnL>
                    <a:lnR>
                      <a:noFill/>
                    </a:lnR>
                    <a:lnT>
                      <a:noFill/>
                    </a:lnT>
                    <a:lnB>
                      <a:noFill/>
                    </a:lnB>
                    <a:noFill/>
                  </a:tcPr>
                </a:tc>
                <a:extLst>
                  <a:ext uri="{0D108BD9-81ED-4DB2-BD59-A6C34878D82A}">
                    <a16:rowId xmlns:a16="http://schemas.microsoft.com/office/drawing/2014/main" val="1316240268"/>
                  </a:ext>
                </a:extLst>
              </a:tr>
              <a:tr h="843313">
                <a:tc>
                  <a:txBody>
                    <a:bodyPr/>
                    <a:lstStyle/>
                    <a:p>
                      <a:pPr>
                        <a:buNone/>
                      </a:pPr>
                      <a:r>
                        <a:rPr lang="en-IN"/>
                        <a:t>7</a:t>
                      </a:r>
                    </a:p>
                  </a:txBody>
                  <a:tcPr anchor="ctr">
                    <a:lnL>
                      <a:noFill/>
                    </a:lnL>
                    <a:lnR>
                      <a:noFill/>
                    </a:lnR>
                    <a:lnT>
                      <a:noFill/>
                    </a:lnT>
                    <a:lnB>
                      <a:noFill/>
                    </a:lnB>
                    <a:noFill/>
                  </a:tcPr>
                </a:tc>
                <a:tc>
                  <a:txBody>
                    <a:bodyPr/>
                    <a:lstStyle/>
                    <a:p>
                      <a:pPr>
                        <a:buNone/>
                      </a:pPr>
                      <a:r>
                        <a:rPr lang="en-US"/>
                        <a:t>Multiple buildings have different scores</a:t>
                      </a:r>
                    </a:p>
                  </a:txBody>
                  <a:tcPr anchor="ctr">
                    <a:lnL>
                      <a:noFill/>
                    </a:lnL>
                    <a:lnR>
                      <a:noFill/>
                    </a:lnR>
                    <a:lnT>
                      <a:noFill/>
                    </a:lnT>
                    <a:lnB>
                      <a:noFill/>
                    </a:lnB>
                    <a:noFill/>
                  </a:tcPr>
                </a:tc>
                <a:tc>
                  <a:txBody>
                    <a:bodyPr/>
                    <a:lstStyle/>
                    <a:p>
                      <a:pPr>
                        <a:buNone/>
                      </a:pPr>
                      <a:r>
                        <a:rPr lang="en-US" dirty="0"/>
                        <a:t>Buildings are ranked from lowest to highest score</a:t>
                      </a:r>
                    </a:p>
                  </a:txBody>
                  <a:tcPr anchor="ctr">
                    <a:lnL>
                      <a:noFill/>
                    </a:lnL>
                    <a:lnR>
                      <a:noFill/>
                    </a:lnR>
                    <a:lnT>
                      <a:noFill/>
                    </a:lnT>
                    <a:lnB>
                      <a:noFill/>
                    </a:lnB>
                    <a:noFill/>
                  </a:tcPr>
                </a:tc>
                <a:extLst>
                  <a:ext uri="{0D108BD9-81ED-4DB2-BD59-A6C34878D82A}">
                    <a16:rowId xmlns:a16="http://schemas.microsoft.com/office/drawing/2014/main" val="720909906"/>
                  </a:ext>
                </a:extLst>
              </a:tr>
            </a:tbl>
          </a:graphicData>
        </a:graphic>
      </p:graphicFrame>
    </p:spTree>
    <p:extLst>
      <p:ext uri="{BB962C8B-B14F-4D97-AF65-F5344CB8AC3E}">
        <p14:creationId xmlns:p14="http://schemas.microsoft.com/office/powerpoint/2010/main" val="290836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4994-3226-2C87-FF9E-C8A0261BB358}"/>
              </a:ext>
            </a:extLst>
          </p:cNvPr>
          <p:cNvSpPr>
            <a:spLocks noGrp="1"/>
          </p:cNvSpPr>
          <p:nvPr>
            <p:ph type="title"/>
          </p:nvPr>
        </p:nvSpPr>
        <p:spPr/>
        <p:txBody>
          <a:bodyPr/>
          <a:lstStyle/>
          <a:p>
            <a:r>
              <a:rPr lang="en-US" dirty="0"/>
              <a:t>Screenshot of code and output</a:t>
            </a:r>
            <a:endParaRPr lang="en-IN" dirty="0"/>
          </a:p>
        </p:txBody>
      </p:sp>
      <p:sp>
        <p:nvSpPr>
          <p:cNvPr id="3" name="Text Placeholder 2">
            <a:extLst>
              <a:ext uri="{FF2B5EF4-FFF2-40B4-BE49-F238E27FC236}">
                <a16:creationId xmlns:a16="http://schemas.microsoft.com/office/drawing/2014/main" id="{356C3888-A17D-B298-6756-0229B2D3B164}"/>
              </a:ext>
            </a:extLst>
          </p:cNvPr>
          <p:cNvSpPr>
            <a:spLocks noGrp="1"/>
          </p:cNvSpPr>
          <p:nvPr>
            <p:ph type="body" idx="1"/>
          </p:nvPr>
        </p:nvSpPr>
        <p:spPr/>
        <p:txBody>
          <a:bodyPr/>
          <a:lstStyle/>
          <a:p>
            <a:r>
              <a:rPr lang="en-US" dirty="0"/>
              <a:t>CODE</a:t>
            </a:r>
            <a:endParaRPr lang="en-IN" dirty="0"/>
          </a:p>
        </p:txBody>
      </p:sp>
      <p:pic>
        <p:nvPicPr>
          <p:cNvPr id="8" name="Content Placeholder 7">
            <a:extLst>
              <a:ext uri="{FF2B5EF4-FFF2-40B4-BE49-F238E27FC236}">
                <a16:creationId xmlns:a16="http://schemas.microsoft.com/office/drawing/2014/main" id="{60E26882-127F-3F08-4D52-478F5FCD00A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133600" y="2085625"/>
            <a:ext cx="2331839" cy="4104038"/>
          </a:xfrm>
        </p:spPr>
      </p:pic>
      <p:sp>
        <p:nvSpPr>
          <p:cNvPr id="5" name="Text Placeholder 4">
            <a:extLst>
              <a:ext uri="{FF2B5EF4-FFF2-40B4-BE49-F238E27FC236}">
                <a16:creationId xmlns:a16="http://schemas.microsoft.com/office/drawing/2014/main" id="{CDBD5684-AA30-7A74-57EF-072A14760477}"/>
              </a:ext>
            </a:extLst>
          </p:cNvPr>
          <p:cNvSpPr>
            <a:spLocks noGrp="1"/>
          </p:cNvSpPr>
          <p:nvPr>
            <p:ph type="body" sz="quarter" idx="3"/>
          </p:nvPr>
        </p:nvSpPr>
        <p:spPr/>
        <p:txBody>
          <a:bodyPr/>
          <a:lstStyle/>
          <a:p>
            <a:r>
              <a:rPr lang="en-US" dirty="0"/>
              <a:t>OUTPUT</a:t>
            </a:r>
            <a:endParaRPr lang="en-IN" dirty="0"/>
          </a:p>
        </p:txBody>
      </p:sp>
      <p:pic>
        <p:nvPicPr>
          <p:cNvPr id="10" name="Content Placeholder 9">
            <a:extLst>
              <a:ext uri="{FF2B5EF4-FFF2-40B4-BE49-F238E27FC236}">
                <a16:creationId xmlns:a16="http://schemas.microsoft.com/office/drawing/2014/main" id="{391D7C66-025B-66CA-A8F0-096A6F1D191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378059" y="2505075"/>
            <a:ext cx="2771470" cy="3684588"/>
          </a:xfrm>
        </p:spPr>
      </p:pic>
    </p:spTree>
    <p:extLst>
      <p:ext uri="{BB962C8B-B14F-4D97-AF65-F5344CB8AC3E}">
        <p14:creationId xmlns:p14="http://schemas.microsoft.com/office/powerpoint/2010/main" val="16754792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BC575-E7FE-7DF4-9C3E-BF9064FAE71A}"/>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A292F1F7-C5A7-6096-8F4F-50F82D085713}"/>
              </a:ext>
            </a:extLst>
          </p:cNvPr>
          <p:cNvSpPr>
            <a:spLocks noGrp="1"/>
          </p:cNvSpPr>
          <p:nvPr>
            <p:ph idx="1"/>
          </p:nvPr>
        </p:nvSpPr>
        <p:spPr/>
        <p:txBody>
          <a:bodyPr>
            <a:normAutofit fontScale="92500" lnSpcReduction="10000"/>
          </a:bodyPr>
          <a:lstStyle/>
          <a:p>
            <a:r>
              <a:rPr lang="en-US" dirty="0"/>
              <a:t>The Integrated Campus Energy and Water Audit project demonstrates how Python can </a:t>
            </a:r>
            <a:r>
              <a:rPr lang="en-US" dirty="0" err="1"/>
              <a:t>analyse</a:t>
            </a:r>
            <a:r>
              <a:rPr lang="en-US" dirty="0"/>
              <a:t> electricity and water consumption across multiple campus buildings and days. The program calculates total and average consumption, estimates operating costs, determines percentage changes, and identifies excessive resource usage.</a:t>
            </a:r>
          </a:p>
          <a:p>
            <a:r>
              <a:rPr lang="en-US" dirty="0"/>
              <a:t>By applying a weighted scoring method, the program ranks buildings according to their consumption relative to defined thresholds. This analysis helps campus administrators identify buildings that may need conservation measures, improve resource management, and reduce operating expenses.</a:t>
            </a:r>
          </a:p>
          <a:p>
            <a:r>
              <a:rPr lang="en-US"/>
              <a:t>The project demonstrates the practical application of lists, dictionaries, loops, conditional statements, arithmetic operations, and sorting in Python.</a:t>
            </a:r>
          </a:p>
          <a:p>
            <a:endParaRPr lang="en-IN"/>
          </a:p>
        </p:txBody>
      </p:sp>
    </p:spTree>
    <p:extLst>
      <p:ext uri="{BB962C8B-B14F-4D97-AF65-F5344CB8AC3E}">
        <p14:creationId xmlns:p14="http://schemas.microsoft.com/office/powerpoint/2010/main" val="2108842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993</TotalTime>
  <Words>10023</Words>
  <Application>Microsoft Office PowerPoint</Application>
  <PresentationFormat>Widescreen</PresentationFormat>
  <Paragraphs>1535</Paragraphs>
  <Slides>90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90</vt:i4>
      </vt:variant>
    </vt:vector>
  </HeadingPairs>
  <TitlesOfParts>
    <vt:vector size="94" baseType="lpstr">
      <vt:lpstr>Arial</vt:lpstr>
      <vt:lpstr>Calibri</vt:lpstr>
      <vt:lpstr>Calibri Light</vt:lpstr>
      <vt:lpstr>Office Theme</vt:lpstr>
      <vt:lpstr>PYTHON ACTIVITY 1 CASE STUDIES 81-90</vt:lpstr>
      <vt:lpstr>Caes-81:Campus Event Seating and Entry Validation</vt:lpstr>
      <vt:lpstr>Objectives</vt:lpstr>
      <vt:lpstr>Assumptions</vt:lpstr>
      <vt:lpstr>Algorithms</vt:lpstr>
      <vt:lpstr>Flow Chart</vt:lpstr>
      <vt:lpstr>Python Source Code</vt:lpstr>
      <vt:lpstr>Test Cases</vt:lpstr>
      <vt:lpstr>Code And Output</vt:lpstr>
      <vt:lpstr>Conclusion</vt:lpstr>
      <vt:lpstr>CASE-82:Multi-Criteria Internship Candidate Ranking</vt:lpstr>
      <vt:lpstr>Objectives</vt:lpstr>
      <vt:lpstr>Assumptions</vt:lpstr>
      <vt:lpstr>Algorithm</vt:lpstr>
      <vt:lpstr>Flowchart:</vt:lpstr>
      <vt:lpstr>Python Source Code</vt:lpstr>
      <vt:lpstr>Test Cases</vt:lpstr>
      <vt:lpstr>CODE and Output</vt:lpstr>
      <vt:lpstr>Conclusion</vt:lpstr>
      <vt:lpstr>CASE-83:Food Supply Chain Stock Reconciliation</vt:lpstr>
      <vt:lpstr>Objectives</vt:lpstr>
      <vt:lpstr>Assumptions</vt:lpstr>
      <vt:lpstr>Algorithm</vt:lpstr>
      <vt:lpstr>Flow Chart</vt:lpstr>
      <vt:lpstr>Python Source Code</vt:lpstr>
      <vt:lpstr>Test Cases</vt:lpstr>
      <vt:lpstr>Screenshot of code and output</vt:lpstr>
      <vt:lpstr>Conclusion</vt:lpstr>
      <vt:lpstr>CASE-84:Environmental Monitoring Data Analyzer</vt:lpstr>
      <vt:lpstr>Objectives </vt:lpstr>
      <vt:lpstr>Assumptions</vt:lpstr>
      <vt:lpstr>Algorithm</vt:lpstr>
      <vt:lpstr>Python Source Code</vt:lpstr>
      <vt:lpstr>Test Cases</vt:lpstr>
      <vt:lpstr>Screenshot of Code and Output</vt:lpstr>
      <vt:lpstr>Conclusion</vt:lpstr>
      <vt:lpstr>CASE-84: Smart Classroom Timetable Allocation</vt:lpstr>
      <vt:lpstr>Ojectives</vt:lpstr>
      <vt:lpstr>Assumptions</vt:lpstr>
      <vt:lpstr>Algorithm</vt:lpstr>
      <vt:lpstr>Flowchart</vt:lpstr>
      <vt:lpstr>Python Source Code</vt:lpstr>
      <vt:lpstr>Test Cases</vt:lpstr>
      <vt:lpstr>Screenshot of code and output</vt:lpstr>
      <vt:lpstr>Conclusion</vt:lpstr>
      <vt:lpstr>CASE-86: Multi-Stage ATM Transaction Audit</vt:lpstr>
      <vt:lpstr>Objectives</vt:lpstr>
      <vt:lpstr>Assumptions</vt:lpstr>
      <vt:lpstr>Algorithm</vt:lpstr>
      <vt:lpstr>Flow chart</vt:lpstr>
      <vt:lpstr>Python source code</vt:lpstr>
      <vt:lpstr>Test Cases</vt:lpstr>
      <vt:lpstr>Screenshot of code and output</vt:lpstr>
      <vt:lpstr>Conclusion</vt:lpstr>
      <vt:lpstr>CASE-87:Examination Question Difficulty and Performance Analysis</vt:lpstr>
      <vt:lpstr>Objectives</vt:lpstr>
      <vt:lpstr>Assumptions</vt:lpstr>
      <vt:lpstr>Algorithm</vt:lpstr>
      <vt:lpstr>Flowchart</vt:lpstr>
      <vt:lpstr>Python code</vt:lpstr>
      <vt:lpstr>Test cases</vt:lpstr>
      <vt:lpstr>Screenshot of Code and Output</vt:lpstr>
      <vt:lpstr>Conclusion</vt:lpstr>
      <vt:lpstr>CASE-88:Multi-Branch Retail Inventory Transfer</vt:lpstr>
      <vt:lpstr>Objectives</vt:lpstr>
      <vt:lpstr>Assumptions</vt:lpstr>
      <vt:lpstr>Algorithm</vt:lpstr>
      <vt:lpstr>Python code</vt:lpstr>
      <vt:lpstr>Flowchart</vt:lpstr>
      <vt:lpstr>Test Cases</vt:lpstr>
      <vt:lpstr>Screenshot of code and output</vt:lpstr>
      <vt:lpstr>Conclusion</vt:lpstr>
      <vt:lpstr>CASE-89:University Hostel Room Allocation</vt:lpstr>
      <vt:lpstr>Objectives</vt:lpstr>
      <vt:lpstr>Assumptions </vt:lpstr>
      <vt:lpstr>Algorithm</vt:lpstr>
      <vt:lpstr>Flow chart</vt:lpstr>
      <vt:lpstr>Python source code</vt:lpstr>
      <vt:lpstr>Test Cases</vt:lpstr>
      <vt:lpstr>Screenshots of code and output</vt:lpstr>
      <vt:lpstr>Conclusion</vt:lpstr>
      <vt:lpstr>CASE-90: Integrated Campus Energy and Water Audit</vt:lpstr>
      <vt:lpstr>Objectives</vt:lpstr>
      <vt:lpstr>Assumptions</vt:lpstr>
      <vt:lpstr>Algorithm</vt:lpstr>
      <vt:lpstr>Flow chart</vt:lpstr>
      <vt:lpstr>Python source code</vt:lpstr>
      <vt:lpstr>Test cases</vt:lpstr>
      <vt:lpstr>Screenshot of code and 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Tatineni Rajesh</dc:creator>
  <cp:lastModifiedBy>Tatineni Rajesh</cp:lastModifiedBy>
  <cp:revision>1</cp:revision>
  <dcterms:created xsi:type="dcterms:W3CDTF">2026-10-25T14:47:59Z</dcterms:created>
  <dcterms:modified xsi:type="dcterms:W3CDTF">2026-10-26T07:21:32Z</dcterms:modified>
</cp:coreProperties>
</file>